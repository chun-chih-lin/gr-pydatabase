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IdLst>
    <p:sldId id="256" r:id="rId2"/>
    <p:sldId id="257" r:id="rId3"/>
    <p:sldId id="259" r:id="rId4"/>
    <p:sldId id="264" r:id="rId5"/>
    <p:sldId id="258" r:id="rId6"/>
    <p:sldId id="265" r:id="rId7"/>
    <p:sldId id="266" r:id="rId8"/>
    <p:sldId id="260" r:id="rId9"/>
    <p:sldId id="261" r:id="rId10"/>
    <p:sldId id="262" r:id="rId11"/>
    <p:sldId id="263" r:id="rId12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2853" autoAdjust="0"/>
    <p:restoredTop sz="94660"/>
  </p:normalViewPr>
  <p:slideViewPr>
    <p:cSldViewPr snapToGrid="0">
      <p:cViewPr varScale="1">
        <p:scale>
          <a:sx n="119" d="100"/>
          <a:sy n="119" d="100"/>
        </p:scale>
        <p:origin x="396" y="10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9A6EA25-717A-4C0C-8F5F-C01DB16302E8}" type="datetimeFigureOut">
              <a:rPr lang="en-US" smtClean="0"/>
              <a:t>2/14/2023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9C1CFA-C6B0-4BCA-83B6-0057C70F4E4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16607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9A6EA25-717A-4C0C-8F5F-C01DB16302E8}" type="datetimeFigureOut">
              <a:rPr lang="en-US" smtClean="0"/>
              <a:t>2/14/2023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9C1CFA-C6B0-4BCA-83B6-0057C70F4E4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4169564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9A6EA25-717A-4C0C-8F5F-C01DB16302E8}" type="datetimeFigureOut">
              <a:rPr lang="en-US" smtClean="0"/>
              <a:t>2/14/2023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9C1CFA-C6B0-4BCA-83B6-0057C70F4E4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897329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9A6EA25-717A-4C0C-8F5F-C01DB16302E8}" type="datetimeFigureOut">
              <a:rPr lang="en-US" smtClean="0"/>
              <a:t>2/14/2023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9C1CFA-C6B0-4BCA-83B6-0057C70F4E4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5981083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9A6EA25-717A-4C0C-8F5F-C01DB16302E8}" type="datetimeFigureOut">
              <a:rPr lang="en-US" smtClean="0"/>
              <a:t>2/14/2023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9C1CFA-C6B0-4BCA-83B6-0057C70F4E4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4813938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9A6EA25-717A-4C0C-8F5F-C01DB16302E8}" type="datetimeFigureOut">
              <a:rPr lang="en-US" smtClean="0"/>
              <a:t>2/14/2023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9C1CFA-C6B0-4BCA-83B6-0057C70F4E4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0803949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9A6EA25-717A-4C0C-8F5F-C01DB16302E8}" type="datetimeFigureOut">
              <a:rPr lang="en-US" smtClean="0"/>
              <a:t>2/14/2023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9C1CFA-C6B0-4BCA-83B6-0057C70F4E4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7463818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9A6EA25-717A-4C0C-8F5F-C01DB16302E8}" type="datetimeFigureOut">
              <a:rPr lang="en-US" smtClean="0"/>
              <a:t>2/14/2023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9C1CFA-C6B0-4BCA-83B6-0057C70F4E4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511134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9A6EA25-717A-4C0C-8F5F-C01DB16302E8}" type="datetimeFigureOut">
              <a:rPr lang="en-US" smtClean="0"/>
              <a:t>2/14/2023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9C1CFA-C6B0-4BCA-83B6-0057C70F4E4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8387436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9A6EA25-717A-4C0C-8F5F-C01DB16302E8}" type="datetimeFigureOut">
              <a:rPr lang="en-US" smtClean="0"/>
              <a:t>2/14/2023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9C1CFA-C6B0-4BCA-83B6-0057C70F4E4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6200075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9A6EA25-717A-4C0C-8F5F-C01DB16302E8}" type="datetimeFigureOut">
              <a:rPr lang="en-US" smtClean="0"/>
              <a:t>2/14/2023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9C1CFA-C6B0-4BCA-83B6-0057C70F4E4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5480048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9A6EA25-717A-4C0C-8F5F-C01DB16302E8}" type="datetimeFigureOut">
              <a:rPr lang="en-US" smtClean="0"/>
              <a:t>2/14/2023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D9C1CFA-C6B0-4BCA-83B6-0057C70F4E4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8323159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2" name="Group 101">
            <a:extLst>
              <a:ext uri="{FF2B5EF4-FFF2-40B4-BE49-F238E27FC236}">
                <a16:creationId xmlns:a16="http://schemas.microsoft.com/office/drawing/2014/main" id="{CEA4D782-D38C-FC82-1317-BD3DEB6BDED0}"/>
              </a:ext>
            </a:extLst>
          </p:cNvPr>
          <p:cNvGrpSpPr/>
          <p:nvPr/>
        </p:nvGrpSpPr>
        <p:grpSpPr>
          <a:xfrm>
            <a:off x="330080" y="724728"/>
            <a:ext cx="7378343" cy="5448308"/>
            <a:chOff x="330080" y="724728"/>
            <a:chExt cx="7378343" cy="5448308"/>
          </a:xfrm>
        </p:grpSpPr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5C582F64-E18F-0A98-6BE0-0EC3CA8FC618}"/>
                </a:ext>
              </a:extLst>
            </p:cNvPr>
            <p:cNvSpPr txBox="1"/>
            <p:nvPr/>
          </p:nvSpPr>
          <p:spPr>
            <a:xfrm>
              <a:off x="5810805" y="3531235"/>
              <a:ext cx="1698406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400">
                  <a:solidFill>
                    <a:schemeClr val="tx1"/>
                  </a:solidFill>
                </a:rPr>
                <a:t>Is it timeout?</a:t>
              </a:r>
            </a:p>
          </p:txBody>
        </p:sp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3BC02D73-BB89-3F9C-5631-4BCCA7FFED25}"/>
                </a:ext>
              </a:extLst>
            </p:cNvPr>
            <p:cNvSpPr/>
            <p:nvPr/>
          </p:nvSpPr>
          <p:spPr>
            <a:xfrm>
              <a:off x="496200" y="1679402"/>
              <a:ext cx="2163538" cy="661308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600">
                  <a:solidFill>
                    <a:schemeClr val="tx1"/>
                  </a:solidFill>
                </a:rPr>
                <a:t>Subscribe to TRANSMISSION</a:t>
              </a:r>
            </a:p>
          </p:txBody>
        </p:sp>
        <p:grpSp>
          <p:nvGrpSpPr>
            <p:cNvPr id="23" name="Group 22">
              <a:extLst>
                <a:ext uri="{FF2B5EF4-FFF2-40B4-BE49-F238E27FC236}">
                  <a16:creationId xmlns:a16="http://schemas.microsoft.com/office/drawing/2014/main" id="{8D01C6E5-CA9B-46EE-14D9-2F27D381322F}"/>
                </a:ext>
              </a:extLst>
            </p:cNvPr>
            <p:cNvGrpSpPr/>
            <p:nvPr/>
          </p:nvGrpSpPr>
          <p:grpSpPr>
            <a:xfrm>
              <a:off x="1043209" y="870208"/>
              <a:ext cx="1069522" cy="571500"/>
              <a:chOff x="2196191" y="1396093"/>
              <a:chExt cx="1069522" cy="571500"/>
            </a:xfrm>
          </p:grpSpPr>
          <p:sp>
            <p:nvSpPr>
              <p:cNvPr id="4" name="Oval 3">
                <a:extLst>
                  <a:ext uri="{FF2B5EF4-FFF2-40B4-BE49-F238E27FC236}">
                    <a16:creationId xmlns:a16="http://schemas.microsoft.com/office/drawing/2014/main" id="{324CC344-61FB-40E8-9DCD-ED41AED76768}"/>
                  </a:ext>
                </a:extLst>
              </p:cNvPr>
              <p:cNvSpPr/>
              <p:nvPr/>
            </p:nvSpPr>
            <p:spPr>
              <a:xfrm>
                <a:off x="2196191" y="1396093"/>
                <a:ext cx="1069522" cy="571500"/>
              </a:xfrm>
              <a:prstGeom prst="ellipse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>
                  <a:solidFill>
                    <a:schemeClr val="tx1"/>
                  </a:solidFill>
                </a:endParaRPr>
              </a:p>
            </p:txBody>
          </p:sp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A96D26F1-D327-A97F-A5BA-1CF9D5EA5435}"/>
                  </a:ext>
                </a:extLst>
              </p:cNvPr>
              <p:cNvSpPr txBox="1"/>
              <p:nvPr/>
            </p:nvSpPr>
            <p:spPr>
              <a:xfrm>
                <a:off x="2424105" y="1497177"/>
                <a:ext cx="613694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/>
                  <a:t>start</a:t>
                </a:r>
              </a:p>
            </p:txBody>
          </p:sp>
        </p:grpSp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349BBC67-6FF7-7070-2194-F01443694565}"/>
                </a:ext>
              </a:extLst>
            </p:cNvPr>
            <p:cNvSpPr/>
            <p:nvPr/>
          </p:nvSpPr>
          <p:spPr>
            <a:xfrm>
              <a:off x="879923" y="2580313"/>
              <a:ext cx="1396092" cy="369540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600">
                  <a:solidFill>
                    <a:schemeClr val="tx1"/>
                  </a:solidFill>
                </a:rPr>
                <a:t>Notification</a:t>
              </a:r>
            </a:p>
          </p:txBody>
        </p:sp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E95AAA12-9B35-70D9-5D56-2E5D4CCAB81B}"/>
                </a:ext>
              </a:extLst>
            </p:cNvPr>
            <p:cNvSpPr/>
            <p:nvPr/>
          </p:nvSpPr>
          <p:spPr>
            <a:xfrm>
              <a:off x="5814883" y="5666014"/>
              <a:ext cx="1694328" cy="507022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400">
                  <a:solidFill>
                    <a:schemeClr val="tx1"/>
                  </a:solidFill>
                </a:rPr>
                <a:t>Transmission ends as Failed.</a:t>
              </a:r>
            </a:p>
          </p:txBody>
        </p:sp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5452D558-6E23-B614-023E-893FCC30D4C5}"/>
                </a:ext>
              </a:extLst>
            </p:cNvPr>
            <p:cNvSpPr/>
            <p:nvPr/>
          </p:nvSpPr>
          <p:spPr>
            <a:xfrm>
              <a:off x="5964001" y="2555143"/>
              <a:ext cx="1392014" cy="369540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200">
                  <a:solidFill>
                    <a:schemeClr val="tx1"/>
                  </a:solidFill>
                </a:rPr>
                <a:t>Sleep for 0.001 sec.</a:t>
              </a:r>
            </a:p>
          </p:txBody>
        </p:sp>
        <p:sp>
          <p:nvSpPr>
            <p:cNvPr id="17" name="Diamond 16">
              <a:extLst>
                <a:ext uri="{FF2B5EF4-FFF2-40B4-BE49-F238E27FC236}">
                  <a16:creationId xmlns:a16="http://schemas.microsoft.com/office/drawing/2014/main" id="{E09863B4-31DC-C22C-1237-59BF1445A4D7}"/>
                </a:ext>
              </a:extLst>
            </p:cNvPr>
            <p:cNvSpPr/>
            <p:nvPr/>
          </p:nvSpPr>
          <p:spPr>
            <a:xfrm>
              <a:off x="2977895" y="3108652"/>
              <a:ext cx="2353382" cy="1152944"/>
            </a:xfrm>
            <a:prstGeom prst="diamond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/>
                </a:solidFill>
              </a:endParaRPr>
            </a:p>
          </p:txBody>
        </p:sp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F0122186-6C33-AA14-0AF8-C3C38EEA1EDB}"/>
                </a:ext>
              </a:extLst>
            </p:cNvPr>
            <p:cNvSpPr txBox="1"/>
            <p:nvPr/>
          </p:nvSpPr>
          <p:spPr>
            <a:xfrm>
              <a:off x="3444968" y="3315792"/>
              <a:ext cx="1419236" cy="73866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400">
                  <a:solidFill>
                    <a:schemeClr val="tx1"/>
                  </a:solidFill>
                </a:rPr>
                <a:t>Is the monitor field registered as Success?</a:t>
              </a:r>
            </a:p>
          </p:txBody>
        </p:sp>
        <p:sp>
          <p:nvSpPr>
            <p:cNvPr id="21" name="Rectangle 20">
              <a:extLst>
                <a:ext uri="{FF2B5EF4-FFF2-40B4-BE49-F238E27FC236}">
                  <a16:creationId xmlns:a16="http://schemas.microsoft.com/office/drawing/2014/main" id="{F35447F9-C397-CF8D-CAEC-C02AC11B5DFE}"/>
                </a:ext>
              </a:extLst>
            </p:cNvPr>
            <p:cNvSpPr/>
            <p:nvPr/>
          </p:nvSpPr>
          <p:spPr>
            <a:xfrm>
              <a:off x="3135415" y="4484729"/>
              <a:ext cx="2038347" cy="968756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600">
                  <a:solidFill>
                    <a:schemeClr val="tx1"/>
                  </a:solidFill>
                </a:rPr>
                <a:t>Trigger the RF front-end to transmit the packet.</a:t>
              </a:r>
            </a:p>
          </p:txBody>
        </p:sp>
        <p:sp>
          <p:nvSpPr>
            <p:cNvPr id="22" name="Rectangle 21">
              <a:extLst>
                <a:ext uri="{FF2B5EF4-FFF2-40B4-BE49-F238E27FC236}">
                  <a16:creationId xmlns:a16="http://schemas.microsoft.com/office/drawing/2014/main" id="{9629388F-426F-9426-BC12-A059C11E5EE3}"/>
                </a:ext>
              </a:extLst>
            </p:cNvPr>
            <p:cNvSpPr/>
            <p:nvPr/>
          </p:nvSpPr>
          <p:spPr>
            <a:xfrm>
              <a:off x="330080" y="4423849"/>
              <a:ext cx="2495778" cy="1091868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600">
                  <a:solidFill>
                    <a:schemeClr val="tx1"/>
                  </a:solidFill>
                </a:rPr>
                <a:t>Create a monitor field for recording the result of the packet.</a:t>
              </a:r>
            </a:p>
            <a:p>
              <a:pPr algn="ctr"/>
              <a:r>
                <a:rPr lang="en-US" sz="1600">
                  <a:solidFill>
                    <a:schemeClr val="tx1"/>
                  </a:solidFill>
                </a:rPr>
                <a:t>(Waiting/Failed/Success)</a:t>
              </a:r>
            </a:p>
          </p:txBody>
        </p: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A67662D9-E200-EE3A-9196-5570E16186BE}"/>
                </a:ext>
              </a:extLst>
            </p:cNvPr>
            <p:cNvCxnSpPr>
              <a:stCxn id="4" idx="4"/>
              <a:endCxn id="5" idx="0"/>
            </p:cNvCxnSpPr>
            <p:nvPr/>
          </p:nvCxnSpPr>
          <p:spPr>
            <a:xfrm flipH="1">
              <a:off x="1577969" y="1441708"/>
              <a:ext cx="1" cy="237694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" name="Straight Arrow Connector 25">
              <a:extLst>
                <a:ext uri="{FF2B5EF4-FFF2-40B4-BE49-F238E27FC236}">
                  <a16:creationId xmlns:a16="http://schemas.microsoft.com/office/drawing/2014/main" id="{9EB814E8-049A-8F8F-439E-EC08DA8DC2FA}"/>
                </a:ext>
              </a:extLst>
            </p:cNvPr>
            <p:cNvCxnSpPr>
              <a:cxnSpLocks/>
              <a:stCxn id="5" idx="2"/>
              <a:endCxn id="11" idx="0"/>
            </p:cNvCxnSpPr>
            <p:nvPr/>
          </p:nvCxnSpPr>
          <p:spPr>
            <a:xfrm>
              <a:off x="1577969" y="2340710"/>
              <a:ext cx="0" cy="239603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Straight Arrow Connector 28">
              <a:extLst>
                <a:ext uri="{FF2B5EF4-FFF2-40B4-BE49-F238E27FC236}">
                  <a16:creationId xmlns:a16="http://schemas.microsoft.com/office/drawing/2014/main" id="{48A20E6C-5AB4-4EEF-79E0-0946940ECD35}"/>
                </a:ext>
              </a:extLst>
            </p:cNvPr>
            <p:cNvCxnSpPr>
              <a:cxnSpLocks/>
              <a:stCxn id="11" idx="2"/>
              <a:endCxn id="50" idx="0"/>
            </p:cNvCxnSpPr>
            <p:nvPr/>
          </p:nvCxnSpPr>
          <p:spPr>
            <a:xfrm>
              <a:off x="1577969" y="2949853"/>
              <a:ext cx="0" cy="237694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3" name="Straight Arrow Connector 32">
              <a:extLst>
                <a:ext uri="{FF2B5EF4-FFF2-40B4-BE49-F238E27FC236}">
                  <a16:creationId xmlns:a16="http://schemas.microsoft.com/office/drawing/2014/main" id="{E52F7097-785B-F2A4-B960-41B0BB2659AE}"/>
                </a:ext>
              </a:extLst>
            </p:cNvPr>
            <p:cNvCxnSpPr>
              <a:cxnSpLocks/>
              <a:stCxn id="17" idx="0"/>
              <a:endCxn id="64" idx="2"/>
            </p:cNvCxnSpPr>
            <p:nvPr/>
          </p:nvCxnSpPr>
          <p:spPr>
            <a:xfrm flipV="1">
              <a:off x="4154586" y="2885518"/>
              <a:ext cx="3" cy="223134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" name="Straight Arrow Connector 35">
              <a:extLst>
                <a:ext uri="{FF2B5EF4-FFF2-40B4-BE49-F238E27FC236}">
                  <a16:creationId xmlns:a16="http://schemas.microsoft.com/office/drawing/2014/main" id="{31FEF2BB-28DF-ABA4-4599-79F200D6FA88}"/>
                </a:ext>
              </a:extLst>
            </p:cNvPr>
            <p:cNvCxnSpPr>
              <a:cxnSpLocks/>
              <a:stCxn id="21" idx="0"/>
              <a:endCxn id="17" idx="2"/>
            </p:cNvCxnSpPr>
            <p:nvPr/>
          </p:nvCxnSpPr>
          <p:spPr>
            <a:xfrm flipH="1" flipV="1">
              <a:off x="4154586" y="4261596"/>
              <a:ext cx="3" cy="223133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9" name="Straight Arrow Connector 38">
              <a:extLst>
                <a:ext uri="{FF2B5EF4-FFF2-40B4-BE49-F238E27FC236}">
                  <a16:creationId xmlns:a16="http://schemas.microsoft.com/office/drawing/2014/main" id="{6ABD3411-2D41-1818-1735-3E63C07EFD41}"/>
                </a:ext>
              </a:extLst>
            </p:cNvPr>
            <p:cNvCxnSpPr>
              <a:cxnSpLocks/>
              <a:stCxn id="74" idx="0"/>
              <a:endCxn id="13" idx="2"/>
            </p:cNvCxnSpPr>
            <p:nvPr/>
          </p:nvCxnSpPr>
          <p:spPr>
            <a:xfrm flipV="1">
              <a:off x="6660008" y="2924683"/>
              <a:ext cx="0" cy="339462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2" name="Straight Arrow Connector 41">
              <a:extLst>
                <a:ext uri="{FF2B5EF4-FFF2-40B4-BE49-F238E27FC236}">
                  <a16:creationId xmlns:a16="http://schemas.microsoft.com/office/drawing/2014/main" id="{3BCFCAFB-5EAA-1D3C-4B3E-B2CB5865F3E9}"/>
                </a:ext>
              </a:extLst>
            </p:cNvPr>
            <p:cNvCxnSpPr>
              <a:cxnSpLocks/>
              <a:stCxn id="50" idx="2"/>
              <a:endCxn id="22" idx="0"/>
            </p:cNvCxnSpPr>
            <p:nvPr/>
          </p:nvCxnSpPr>
          <p:spPr>
            <a:xfrm>
              <a:off x="1577969" y="4186155"/>
              <a:ext cx="0" cy="237694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49" name="Group 48">
              <a:extLst>
                <a:ext uri="{FF2B5EF4-FFF2-40B4-BE49-F238E27FC236}">
                  <a16:creationId xmlns:a16="http://schemas.microsoft.com/office/drawing/2014/main" id="{07F76EBD-A9C9-B1F2-DE8F-FBE5667BE956}"/>
                </a:ext>
              </a:extLst>
            </p:cNvPr>
            <p:cNvGrpSpPr/>
            <p:nvPr/>
          </p:nvGrpSpPr>
          <p:grpSpPr>
            <a:xfrm>
              <a:off x="558793" y="3187547"/>
              <a:ext cx="2038352" cy="998608"/>
              <a:chOff x="1309005" y="5249636"/>
              <a:chExt cx="2038352" cy="998608"/>
            </a:xfrm>
          </p:grpSpPr>
          <p:sp>
            <p:nvSpPr>
              <p:cNvPr id="50" name="Diamond 49">
                <a:extLst>
                  <a:ext uri="{FF2B5EF4-FFF2-40B4-BE49-F238E27FC236}">
                    <a16:creationId xmlns:a16="http://schemas.microsoft.com/office/drawing/2014/main" id="{3A19D14C-0FE9-BAAA-B96F-4FE3172512AA}"/>
                  </a:ext>
                </a:extLst>
              </p:cNvPr>
              <p:cNvSpPr/>
              <p:nvPr/>
            </p:nvSpPr>
            <p:spPr>
              <a:xfrm>
                <a:off x="1309005" y="5249636"/>
                <a:ext cx="2038352" cy="998608"/>
              </a:xfrm>
              <a:prstGeom prst="diamond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>
                  <a:solidFill>
                    <a:schemeClr val="tx1"/>
                  </a:solidFill>
                </a:endParaRPr>
              </a:p>
            </p:txBody>
          </p:sp>
          <p:sp>
            <p:nvSpPr>
              <p:cNvPr id="51" name="TextBox 50">
                <a:extLst>
                  <a:ext uri="{FF2B5EF4-FFF2-40B4-BE49-F238E27FC236}">
                    <a16:creationId xmlns:a16="http://schemas.microsoft.com/office/drawing/2014/main" id="{121FCD3B-4930-2568-CCE8-16AA3C8E527E}"/>
                  </a:ext>
                </a:extLst>
              </p:cNvPr>
              <p:cNvSpPr txBox="1"/>
              <p:nvPr/>
            </p:nvSpPr>
            <p:spPr>
              <a:xfrm>
                <a:off x="1618563" y="5487330"/>
                <a:ext cx="1419236" cy="52322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1400">
                    <a:solidFill>
                      <a:schemeClr val="tx1"/>
                    </a:solidFill>
                  </a:rPr>
                  <a:t>Is the RF front-end idle?</a:t>
                </a:r>
              </a:p>
            </p:txBody>
          </p:sp>
        </p:grpSp>
        <p:cxnSp>
          <p:nvCxnSpPr>
            <p:cNvPr id="55" name="Straight Arrow Connector 54">
              <a:extLst>
                <a:ext uri="{FF2B5EF4-FFF2-40B4-BE49-F238E27FC236}">
                  <a16:creationId xmlns:a16="http://schemas.microsoft.com/office/drawing/2014/main" id="{260EB427-E678-E880-58B1-7A29FB0D07FF}"/>
                </a:ext>
              </a:extLst>
            </p:cNvPr>
            <p:cNvCxnSpPr>
              <a:cxnSpLocks/>
              <a:stCxn id="22" idx="3"/>
              <a:endCxn id="21" idx="1"/>
            </p:cNvCxnSpPr>
            <p:nvPr/>
          </p:nvCxnSpPr>
          <p:spPr>
            <a:xfrm flipV="1">
              <a:off x="2825858" y="4969107"/>
              <a:ext cx="309557" cy="676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64" name="Rectangle 63">
              <a:extLst>
                <a:ext uri="{FF2B5EF4-FFF2-40B4-BE49-F238E27FC236}">
                  <a16:creationId xmlns:a16="http://schemas.microsoft.com/office/drawing/2014/main" id="{35B3EECF-ADD0-3A66-88AA-16E337500EA9}"/>
                </a:ext>
              </a:extLst>
            </p:cNvPr>
            <p:cNvSpPr/>
            <p:nvPr/>
          </p:nvSpPr>
          <p:spPr>
            <a:xfrm>
              <a:off x="3247202" y="2213517"/>
              <a:ext cx="1814774" cy="672001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600">
                  <a:solidFill>
                    <a:schemeClr val="tx1"/>
                  </a:solidFill>
                </a:rPr>
                <a:t>The transmission ends as Success</a:t>
              </a:r>
            </a:p>
          </p:txBody>
        </p:sp>
        <p:sp>
          <p:nvSpPr>
            <p:cNvPr id="65" name="Rectangle 64">
              <a:extLst>
                <a:ext uri="{FF2B5EF4-FFF2-40B4-BE49-F238E27FC236}">
                  <a16:creationId xmlns:a16="http://schemas.microsoft.com/office/drawing/2014/main" id="{09B34A0B-579B-6C68-E705-ACF0F21528C5}"/>
                </a:ext>
              </a:extLst>
            </p:cNvPr>
            <p:cNvSpPr/>
            <p:nvPr/>
          </p:nvSpPr>
          <p:spPr>
            <a:xfrm>
              <a:off x="2716645" y="724728"/>
              <a:ext cx="2875888" cy="1231791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600">
                  <a:solidFill>
                    <a:schemeClr val="tx1"/>
                  </a:solidFill>
                </a:rPr>
                <a:t>Remove the oldest member from the message queue and trigger the Queue Agent to issue another transmission.</a:t>
              </a:r>
            </a:p>
          </p:txBody>
        </p:sp>
        <p:cxnSp>
          <p:nvCxnSpPr>
            <p:cNvPr id="68" name="Straight Arrow Connector 67">
              <a:extLst>
                <a:ext uri="{FF2B5EF4-FFF2-40B4-BE49-F238E27FC236}">
                  <a16:creationId xmlns:a16="http://schemas.microsoft.com/office/drawing/2014/main" id="{E84B2B6E-1A9D-377C-ADFA-A73C293C9625}"/>
                </a:ext>
              </a:extLst>
            </p:cNvPr>
            <p:cNvCxnSpPr>
              <a:cxnSpLocks/>
              <a:stCxn id="64" idx="0"/>
              <a:endCxn id="65" idx="2"/>
            </p:cNvCxnSpPr>
            <p:nvPr/>
          </p:nvCxnSpPr>
          <p:spPr>
            <a:xfrm flipV="1">
              <a:off x="4154589" y="1956519"/>
              <a:ext cx="0" cy="256998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74" name="Diamond 73">
              <a:extLst>
                <a:ext uri="{FF2B5EF4-FFF2-40B4-BE49-F238E27FC236}">
                  <a16:creationId xmlns:a16="http://schemas.microsoft.com/office/drawing/2014/main" id="{B003AD80-79B8-38C3-9BB1-4CEF75FDC8B8}"/>
                </a:ext>
              </a:extLst>
            </p:cNvPr>
            <p:cNvSpPr/>
            <p:nvPr/>
          </p:nvSpPr>
          <p:spPr>
            <a:xfrm>
              <a:off x="5800709" y="3264145"/>
              <a:ext cx="1718598" cy="841958"/>
            </a:xfrm>
            <a:prstGeom prst="diamond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/>
                </a:solidFill>
              </a:endParaRPr>
            </a:p>
          </p:txBody>
        </p:sp>
        <p:sp>
          <p:nvSpPr>
            <p:cNvPr id="75" name="TextBox 74">
              <a:extLst>
                <a:ext uri="{FF2B5EF4-FFF2-40B4-BE49-F238E27FC236}">
                  <a16:creationId xmlns:a16="http://schemas.microsoft.com/office/drawing/2014/main" id="{F94424AD-F4CB-8F56-3F38-E7AF24DD6E9C}"/>
                </a:ext>
              </a:extLst>
            </p:cNvPr>
            <p:cNvSpPr txBox="1"/>
            <p:nvPr/>
          </p:nvSpPr>
          <p:spPr>
            <a:xfrm>
              <a:off x="5810805" y="4707497"/>
              <a:ext cx="1698406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400">
                  <a:solidFill>
                    <a:schemeClr val="tx1"/>
                  </a:solidFill>
                </a:rPr>
                <a:t>Has it exceeded the max retry?</a:t>
              </a:r>
            </a:p>
          </p:txBody>
        </p:sp>
        <p:sp>
          <p:nvSpPr>
            <p:cNvPr id="76" name="Diamond 75">
              <a:extLst>
                <a:ext uri="{FF2B5EF4-FFF2-40B4-BE49-F238E27FC236}">
                  <a16:creationId xmlns:a16="http://schemas.microsoft.com/office/drawing/2014/main" id="{D72C7196-EE14-5C4F-B750-DF6BB93291B6}"/>
                </a:ext>
              </a:extLst>
            </p:cNvPr>
            <p:cNvSpPr/>
            <p:nvPr/>
          </p:nvSpPr>
          <p:spPr>
            <a:xfrm>
              <a:off x="5611593" y="4455478"/>
              <a:ext cx="2096830" cy="1027258"/>
            </a:xfrm>
            <a:prstGeom prst="diamond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/>
                </a:solidFill>
              </a:endParaRPr>
            </a:p>
          </p:txBody>
        </p:sp>
        <p:cxnSp>
          <p:nvCxnSpPr>
            <p:cNvPr id="77" name="Straight Arrow Connector 76">
              <a:extLst>
                <a:ext uri="{FF2B5EF4-FFF2-40B4-BE49-F238E27FC236}">
                  <a16:creationId xmlns:a16="http://schemas.microsoft.com/office/drawing/2014/main" id="{EE18C48F-8AC9-D68B-3C41-0466E974316E}"/>
                </a:ext>
              </a:extLst>
            </p:cNvPr>
            <p:cNvCxnSpPr>
              <a:cxnSpLocks/>
              <a:stCxn id="17" idx="3"/>
              <a:endCxn id="74" idx="1"/>
            </p:cNvCxnSpPr>
            <p:nvPr/>
          </p:nvCxnSpPr>
          <p:spPr>
            <a:xfrm>
              <a:off x="5331277" y="3685124"/>
              <a:ext cx="469432" cy="0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0" name="Straight Arrow Connector 79">
              <a:extLst>
                <a:ext uri="{FF2B5EF4-FFF2-40B4-BE49-F238E27FC236}">
                  <a16:creationId xmlns:a16="http://schemas.microsoft.com/office/drawing/2014/main" id="{97F873F2-220A-22E9-3523-3555C3A0DD6A}"/>
                </a:ext>
              </a:extLst>
            </p:cNvPr>
            <p:cNvCxnSpPr>
              <a:cxnSpLocks/>
              <a:stCxn id="74" idx="2"/>
              <a:endCxn id="76" idx="0"/>
            </p:cNvCxnSpPr>
            <p:nvPr/>
          </p:nvCxnSpPr>
          <p:spPr>
            <a:xfrm>
              <a:off x="6660008" y="4106103"/>
              <a:ext cx="0" cy="349375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3" name="Straight Arrow Connector 82">
              <a:extLst>
                <a:ext uri="{FF2B5EF4-FFF2-40B4-BE49-F238E27FC236}">
                  <a16:creationId xmlns:a16="http://schemas.microsoft.com/office/drawing/2014/main" id="{54722C75-BF95-E4AA-CEE3-9D76C26025B9}"/>
                </a:ext>
              </a:extLst>
            </p:cNvPr>
            <p:cNvCxnSpPr>
              <a:cxnSpLocks/>
              <a:stCxn id="76" idx="1"/>
              <a:endCxn id="21" idx="3"/>
            </p:cNvCxnSpPr>
            <p:nvPr/>
          </p:nvCxnSpPr>
          <p:spPr>
            <a:xfrm flipH="1">
              <a:off x="5173762" y="4969107"/>
              <a:ext cx="437831" cy="0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6" name="Straight Arrow Connector 85">
              <a:extLst>
                <a:ext uri="{FF2B5EF4-FFF2-40B4-BE49-F238E27FC236}">
                  <a16:creationId xmlns:a16="http://schemas.microsoft.com/office/drawing/2014/main" id="{E0DC134C-1712-B185-43A0-ACA42F207C62}"/>
                </a:ext>
              </a:extLst>
            </p:cNvPr>
            <p:cNvCxnSpPr>
              <a:cxnSpLocks/>
              <a:stCxn id="76" idx="2"/>
              <a:endCxn id="12" idx="0"/>
            </p:cNvCxnSpPr>
            <p:nvPr/>
          </p:nvCxnSpPr>
          <p:spPr>
            <a:xfrm>
              <a:off x="6660008" y="5482736"/>
              <a:ext cx="2039" cy="183278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3" name="Connector: Elbow 92">
              <a:extLst>
                <a:ext uri="{FF2B5EF4-FFF2-40B4-BE49-F238E27FC236}">
                  <a16:creationId xmlns:a16="http://schemas.microsoft.com/office/drawing/2014/main" id="{3AE4298B-EF41-85C4-6624-FEF15767B20C}"/>
                </a:ext>
              </a:extLst>
            </p:cNvPr>
            <p:cNvCxnSpPr>
              <a:stCxn id="13" idx="1"/>
            </p:cNvCxnSpPr>
            <p:nvPr/>
          </p:nvCxnSpPr>
          <p:spPr>
            <a:xfrm rot="10800000" flipV="1">
              <a:off x="4784271" y="2739913"/>
              <a:ext cx="1179730" cy="685328"/>
            </a:xfrm>
            <a:prstGeom prst="bentConnector3">
              <a:avLst/>
            </a:prstGeom>
            <a:ln w="190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95" name="TextBox 94">
              <a:extLst>
                <a:ext uri="{FF2B5EF4-FFF2-40B4-BE49-F238E27FC236}">
                  <a16:creationId xmlns:a16="http://schemas.microsoft.com/office/drawing/2014/main" id="{6EAF49F3-DA47-FD81-2DF0-97C4E9EF4F15}"/>
                </a:ext>
              </a:extLst>
            </p:cNvPr>
            <p:cNvSpPr txBox="1"/>
            <p:nvPr/>
          </p:nvSpPr>
          <p:spPr>
            <a:xfrm>
              <a:off x="1124624" y="4076930"/>
              <a:ext cx="524540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>
                  <a:solidFill>
                    <a:schemeClr val="tx1"/>
                  </a:solidFill>
                </a:rPr>
                <a:t>Yes</a:t>
              </a:r>
            </a:p>
          </p:txBody>
        </p:sp>
        <p:sp>
          <p:nvSpPr>
            <p:cNvPr id="96" name="TextBox 95">
              <a:extLst>
                <a:ext uri="{FF2B5EF4-FFF2-40B4-BE49-F238E27FC236}">
                  <a16:creationId xmlns:a16="http://schemas.microsoft.com/office/drawing/2014/main" id="{A2BFE6DA-1E10-F47E-1BD8-49998EF2C33F}"/>
                </a:ext>
              </a:extLst>
            </p:cNvPr>
            <p:cNvSpPr txBox="1"/>
            <p:nvPr/>
          </p:nvSpPr>
          <p:spPr>
            <a:xfrm>
              <a:off x="3662870" y="2820416"/>
              <a:ext cx="524540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>
                  <a:solidFill>
                    <a:schemeClr val="tx1"/>
                  </a:solidFill>
                </a:rPr>
                <a:t>Yes</a:t>
              </a:r>
            </a:p>
          </p:txBody>
        </p:sp>
        <p:sp>
          <p:nvSpPr>
            <p:cNvPr id="97" name="TextBox 96">
              <a:extLst>
                <a:ext uri="{FF2B5EF4-FFF2-40B4-BE49-F238E27FC236}">
                  <a16:creationId xmlns:a16="http://schemas.microsoft.com/office/drawing/2014/main" id="{C1192A7A-D993-BF7E-117E-90CBACCF1274}"/>
                </a:ext>
              </a:extLst>
            </p:cNvPr>
            <p:cNvSpPr txBox="1"/>
            <p:nvPr/>
          </p:nvSpPr>
          <p:spPr>
            <a:xfrm>
              <a:off x="6192933" y="4104435"/>
              <a:ext cx="524540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>
                  <a:solidFill>
                    <a:schemeClr val="tx1"/>
                  </a:solidFill>
                </a:rPr>
                <a:t>Yes</a:t>
              </a:r>
            </a:p>
          </p:txBody>
        </p:sp>
        <p:sp>
          <p:nvSpPr>
            <p:cNvPr id="98" name="TextBox 97">
              <a:extLst>
                <a:ext uri="{FF2B5EF4-FFF2-40B4-BE49-F238E27FC236}">
                  <a16:creationId xmlns:a16="http://schemas.microsoft.com/office/drawing/2014/main" id="{2AEDA22F-D878-6F41-5929-5B0A8677BA34}"/>
                </a:ext>
              </a:extLst>
            </p:cNvPr>
            <p:cNvSpPr txBox="1"/>
            <p:nvPr/>
          </p:nvSpPr>
          <p:spPr>
            <a:xfrm>
              <a:off x="6192933" y="5389709"/>
              <a:ext cx="524540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>
                  <a:solidFill>
                    <a:schemeClr val="tx1"/>
                  </a:solidFill>
                </a:rPr>
                <a:t>Yes</a:t>
              </a:r>
            </a:p>
          </p:txBody>
        </p:sp>
        <p:sp>
          <p:nvSpPr>
            <p:cNvPr id="99" name="TextBox 98">
              <a:extLst>
                <a:ext uri="{FF2B5EF4-FFF2-40B4-BE49-F238E27FC236}">
                  <a16:creationId xmlns:a16="http://schemas.microsoft.com/office/drawing/2014/main" id="{106B3E12-D0D0-1238-45F2-C4883F5433F7}"/>
                </a:ext>
              </a:extLst>
            </p:cNvPr>
            <p:cNvSpPr txBox="1"/>
            <p:nvPr/>
          </p:nvSpPr>
          <p:spPr>
            <a:xfrm>
              <a:off x="5173762" y="4662617"/>
              <a:ext cx="524540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>
                  <a:solidFill>
                    <a:schemeClr val="tx1"/>
                  </a:solidFill>
                </a:rPr>
                <a:t>No</a:t>
              </a:r>
            </a:p>
          </p:txBody>
        </p:sp>
        <p:sp>
          <p:nvSpPr>
            <p:cNvPr id="100" name="TextBox 99">
              <a:extLst>
                <a:ext uri="{FF2B5EF4-FFF2-40B4-BE49-F238E27FC236}">
                  <a16:creationId xmlns:a16="http://schemas.microsoft.com/office/drawing/2014/main" id="{59DB4994-AECA-17F2-B3E2-39F42B7DDC6C}"/>
                </a:ext>
              </a:extLst>
            </p:cNvPr>
            <p:cNvSpPr txBox="1"/>
            <p:nvPr/>
          </p:nvSpPr>
          <p:spPr>
            <a:xfrm>
              <a:off x="6192933" y="2957433"/>
              <a:ext cx="524540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>
                  <a:solidFill>
                    <a:schemeClr val="tx1"/>
                  </a:solidFill>
                </a:rPr>
                <a:t>No</a:t>
              </a:r>
            </a:p>
          </p:txBody>
        </p:sp>
        <p:sp>
          <p:nvSpPr>
            <p:cNvPr id="101" name="TextBox 100">
              <a:extLst>
                <a:ext uri="{FF2B5EF4-FFF2-40B4-BE49-F238E27FC236}">
                  <a16:creationId xmlns:a16="http://schemas.microsoft.com/office/drawing/2014/main" id="{D5E04B9A-953A-E57D-E777-3B914BF3174F}"/>
                </a:ext>
              </a:extLst>
            </p:cNvPr>
            <p:cNvSpPr txBox="1"/>
            <p:nvPr/>
          </p:nvSpPr>
          <p:spPr>
            <a:xfrm>
              <a:off x="5271121" y="3368274"/>
              <a:ext cx="524540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>
                  <a:solidFill>
                    <a:schemeClr val="tx1"/>
                  </a:solidFill>
                </a:rPr>
                <a:t>No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61877706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3BC02D73-BB89-3F9C-5631-4BCCA7FFED25}"/>
              </a:ext>
            </a:extLst>
          </p:cNvPr>
          <p:cNvSpPr/>
          <p:nvPr/>
        </p:nvSpPr>
        <p:spPr>
          <a:xfrm>
            <a:off x="2936879" y="1255211"/>
            <a:ext cx="2163538" cy="661308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>
                <a:solidFill>
                  <a:schemeClr val="tx1"/>
                </a:solidFill>
              </a:rPr>
              <a:t>Subscribe to QUEUE:LIST:TRANS</a:t>
            </a:r>
          </a:p>
        </p:txBody>
      </p:sp>
      <p:grpSp>
        <p:nvGrpSpPr>
          <p:cNvPr id="23" name="Group 22">
            <a:extLst>
              <a:ext uri="{FF2B5EF4-FFF2-40B4-BE49-F238E27FC236}">
                <a16:creationId xmlns:a16="http://schemas.microsoft.com/office/drawing/2014/main" id="{8D01C6E5-CA9B-46EE-14D9-2F27D381322F}"/>
              </a:ext>
            </a:extLst>
          </p:cNvPr>
          <p:cNvGrpSpPr/>
          <p:nvPr/>
        </p:nvGrpSpPr>
        <p:grpSpPr>
          <a:xfrm>
            <a:off x="3483888" y="446017"/>
            <a:ext cx="1069522" cy="571500"/>
            <a:chOff x="2196191" y="1396093"/>
            <a:chExt cx="1069522" cy="571500"/>
          </a:xfrm>
        </p:grpSpPr>
        <p:sp>
          <p:nvSpPr>
            <p:cNvPr id="4" name="Oval 3">
              <a:extLst>
                <a:ext uri="{FF2B5EF4-FFF2-40B4-BE49-F238E27FC236}">
                  <a16:creationId xmlns:a16="http://schemas.microsoft.com/office/drawing/2014/main" id="{324CC344-61FB-40E8-9DCD-ED41AED76768}"/>
                </a:ext>
              </a:extLst>
            </p:cNvPr>
            <p:cNvSpPr/>
            <p:nvPr/>
          </p:nvSpPr>
          <p:spPr>
            <a:xfrm>
              <a:off x="2196191" y="1396093"/>
              <a:ext cx="1069522" cy="571500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/>
                </a:solidFill>
              </a:endParaRPr>
            </a:p>
          </p:txBody>
        </p:sp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A96D26F1-D327-A97F-A5BA-1CF9D5EA5435}"/>
                </a:ext>
              </a:extLst>
            </p:cNvPr>
            <p:cNvSpPr txBox="1"/>
            <p:nvPr/>
          </p:nvSpPr>
          <p:spPr>
            <a:xfrm>
              <a:off x="2424105" y="1497177"/>
              <a:ext cx="61369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/>
                <a:t>start</a:t>
              </a:r>
            </a:p>
          </p:txBody>
        </p:sp>
      </p:grpSp>
      <p:grpSp>
        <p:nvGrpSpPr>
          <p:cNvPr id="10" name="Group 9">
            <a:extLst>
              <a:ext uri="{FF2B5EF4-FFF2-40B4-BE49-F238E27FC236}">
                <a16:creationId xmlns:a16="http://schemas.microsoft.com/office/drawing/2014/main" id="{7BC20C22-88C3-3E4D-F97B-32570D3D3FBB}"/>
              </a:ext>
            </a:extLst>
          </p:cNvPr>
          <p:cNvGrpSpPr/>
          <p:nvPr/>
        </p:nvGrpSpPr>
        <p:grpSpPr>
          <a:xfrm>
            <a:off x="2675625" y="2763356"/>
            <a:ext cx="2686050" cy="1412421"/>
            <a:chOff x="1387928" y="3282043"/>
            <a:chExt cx="2686050" cy="1412421"/>
          </a:xfrm>
        </p:grpSpPr>
        <p:sp>
          <p:nvSpPr>
            <p:cNvPr id="6" name="Diamond 5">
              <a:extLst>
                <a:ext uri="{FF2B5EF4-FFF2-40B4-BE49-F238E27FC236}">
                  <a16:creationId xmlns:a16="http://schemas.microsoft.com/office/drawing/2014/main" id="{8C6192E0-12F7-016C-7F38-D47F12C1B754}"/>
                </a:ext>
              </a:extLst>
            </p:cNvPr>
            <p:cNvSpPr/>
            <p:nvPr/>
          </p:nvSpPr>
          <p:spPr>
            <a:xfrm>
              <a:off x="1387928" y="3282043"/>
              <a:ext cx="2686050" cy="1412421"/>
            </a:xfrm>
            <a:prstGeom prst="diamond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/>
                </a:solidFill>
              </a:endParaRPr>
            </a:p>
          </p:txBody>
        </p:sp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CE1F766A-9D00-606B-4F2F-39D9B1DBE262}"/>
                </a:ext>
              </a:extLst>
            </p:cNvPr>
            <p:cNvSpPr txBox="1"/>
            <p:nvPr/>
          </p:nvSpPr>
          <p:spPr>
            <a:xfrm>
              <a:off x="1649182" y="3726643"/>
              <a:ext cx="2163540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400">
                  <a:solidFill>
                    <a:schemeClr val="tx1"/>
                  </a:solidFill>
                </a:rPr>
                <a:t>Does the information have the correct format?</a:t>
              </a:r>
            </a:p>
          </p:txBody>
        </p:sp>
      </p:grpSp>
      <p:sp>
        <p:nvSpPr>
          <p:cNvPr id="11" name="Rectangle 10">
            <a:extLst>
              <a:ext uri="{FF2B5EF4-FFF2-40B4-BE49-F238E27FC236}">
                <a16:creationId xmlns:a16="http://schemas.microsoft.com/office/drawing/2014/main" id="{349BBC67-6FF7-7070-2194-F01443694565}"/>
              </a:ext>
            </a:extLst>
          </p:cNvPr>
          <p:cNvSpPr/>
          <p:nvPr/>
        </p:nvSpPr>
        <p:spPr>
          <a:xfrm>
            <a:off x="3320602" y="2156122"/>
            <a:ext cx="1396092" cy="36954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>
                <a:solidFill>
                  <a:schemeClr val="tx1"/>
                </a:solidFill>
              </a:rPr>
              <a:t>Notification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E95AAA12-9B35-70D9-5D56-2E5D4CCAB81B}"/>
              </a:ext>
            </a:extLst>
          </p:cNvPr>
          <p:cNvSpPr/>
          <p:nvPr/>
        </p:nvSpPr>
        <p:spPr>
          <a:xfrm>
            <a:off x="3320602" y="5649773"/>
            <a:ext cx="1396092" cy="36954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>
                <a:solidFill>
                  <a:schemeClr val="tx1"/>
                </a:solidFill>
              </a:rPr>
              <a:t>Sleep for 0.001s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5452D558-6E23-B614-023E-893FCC30D4C5}"/>
              </a:ext>
            </a:extLst>
          </p:cNvPr>
          <p:cNvSpPr/>
          <p:nvPr/>
        </p:nvSpPr>
        <p:spPr>
          <a:xfrm>
            <a:off x="1222382" y="3284796"/>
            <a:ext cx="1069522" cy="36954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>
                <a:solidFill>
                  <a:schemeClr val="tx1"/>
                </a:solidFill>
              </a:rPr>
              <a:t>Discard</a:t>
            </a:r>
          </a:p>
        </p:txBody>
      </p:sp>
      <p:grpSp>
        <p:nvGrpSpPr>
          <p:cNvPr id="20" name="Group 19">
            <a:extLst>
              <a:ext uri="{FF2B5EF4-FFF2-40B4-BE49-F238E27FC236}">
                <a16:creationId xmlns:a16="http://schemas.microsoft.com/office/drawing/2014/main" id="{F9BB6EF8-3445-3A09-5153-9B30C0645868}"/>
              </a:ext>
            </a:extLst>
          </p:cNvPr>
          <p:cNvGrpSpPr/>
          <p:nvPr/>
        </p:nvGrpSpPr>
        <p:grpSpPr>
          <a:xfrm>
            <a:off x="2999472" y="4413471"/>
            <a:ext cx="2038352" cy="998608"/>
            <a:chOff x="1309005" y="5249636"/>
            <a:chExt cx="2038352" cy="998608"/>
          </a:xfrm>
        </p:grpSpPr>
        <p:sp>
          <p:nvSpPr>
            <p:cNvPr id="17" name="Diamond 16">
              <a:extLst>
                <a:ext uri="{FF2B5EF4-FFF2-40B4-BE49-F238E27FC236}">
                  <a16:creationId xmlns:a16="http://schemas.microsoft.com/office/drawing/2014/main" id="{E09863B4-31DC-C22C-1237-59BF1445A4D7}"/>
                </a:ext>
              </a:extLst>
            </p:cNvPr>
            <p:cNvSpPr/>
            <p:nvPr/>
          </p:nvSpPr>
          <p:spPr>
            <a:xfrm>
              <a:off x="1309005" y="5249636"/>
              <a:ext cx="2038352" cy="998608"/>
            </a:xfrm>
            <a:prstGeom prst="diamond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/>
                </a:solidFill>
              </a:endParaRPr>
            </a:p>
          </p:txBody>
        </p:sp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F0122186-6C33-AA14-0AF8-C3C38EEA1EDB}"/>
                </a:ext>
              </a:extLst>
            </p:cNvPr>
            <p:cNvSpPr txBox="1"/>
            <p:nvPr/>
          </p:nvSpPr>
          <p:spPr>
            <a:xfrm>
              <a:off x="1618563" y="5487330"/>
              <a:ext cx="1419236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400">
                  <a:solidFill>
                    <a:schemeClr val="tx1"/>
                  </a:solidFill>
                </a:rPr>
                <a:t>Is the RF front-end idle?</a:t>
              </a:r>
            </a:p>
          </p:txBody>
        </p:sp>
      </p:grpSp>
      <p:sp>
        <p:nvSpPr>
          <p:cNvPr id="21" name="Rectangle 20">
            <a:extLst>
              <a:ext uri="{FF2B5EF4-FFF2-40B4-BE49-F238E27FC236}">
                <a16:creationId xmlns:a16="http://schemas.microsoft.com/office/drawing/2014/main" id="{F35447F9-C397-CF8D-CAEC-C02AC11B5DFE}"/>
              </a:ext>
            </a:extLst>
          </p:cNvPr>
          <p:cNvSpPr/>
          <p:nvPr/>
        </p:nvSpPr>
        <p:spPr>
          <a:xfrm>
            <a:off x="5745396" y="2869395"/>
            <a:ext cx="1880282" cy="970108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>
                <a:solidFill>
                  <a:schemeClr val="tx1"/>
                </a:solidFill>
              </a:rPr>
              <a:t>Wait for the subscribed key to be triggered.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9629388F-426F-9426-BC12-A059C11E5EE3}"/>
              </a:ext>
            </a:extLst>
          </p:cNvPr>
          <p:cNvSpPr/>
          <p:nvPr/>
        </p:nvSpPr>
        <p:spPr>
          <a:xfrm>
            <a:off x="5437648" y="4366841"/>
            <a:ext cx="2495778" cy="1091868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>
                <a:solidFill>
                  <a:schemeClr val="tx1"/>
                </a:solidFill>
              </a:rPr>
              <a:t>Issue a transmission request to Transmission Agent. Then, set the RF front-end to be busy.</a:t>
            </a:r>
          </a:p>
        </p:txBody>
      </p: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A67662D9-E200-EE3A-9196-5570E16186BE}"/>
              </a:ext>
            </a:extLst>
          </p:cNvPr>
          <p:cNvCxnSpPr>
            <a:stCxn id="4" idx="4"/>
            <a:endCxn id="5" idx="0"/>
          </p:cNvCxnSpPr>
          <p:nvPr/>
        </p:nvCxnSpPr>
        <p:spPr>
          <a:xfrm flipH="1">
            <a:off x="4018648" y="1017517"/>
            <a:ext cx="1" cy="237694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Straight Arrow Connector 25">
            <a:extLst>
              <a:ext uri="{FF2B5EF4-FFF2-40B4-BE49-F238E27FC236}">
                <a16:creationId xmlns:a16="http://schemas.microsoft.com/office/drawing/2014/main" id="{9EB814E8-049A-8F8F-439E-EC08DA8DC2FA}"/>
              </a:ext>
            </a:extLst>
          </p:cNvPr>
          <p:cNvCxnSpPr>
            <a:cxnSpLocks/>
            <a:stCxn id="5" idx="2"/>
            <a:endCxn id="11" idx="0"/>
          </p:cNvCxnSpPr>
          <p:nvPr/>
        </p:nvCxnSpPr>
        <p:spPr>
          <a:xfrm>
            <a:off x="4018648" y="1916519"/>
            <a:ext cx="0" cy="239603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Straight Arrow Connector 28">
            <a:extLst>
              <a:ext uri="{FF2B5EF4-FFF2-40B4-BE49-F238E27FC236}">
                <a16:creationId xmlns:a16="http://schemas.microsoft.com/office/drawing/2014/main" id="{48A20E6C-5AB4-4EEF-79E0-0946940ECD35}"/>
              </a:ext>
            </a:extLst>
          </p:cNvPr>
          <p:cNvCxnSpPr>
            <a:cxnSpLocks/>
            <a:stCxn id="11" idx="2"/>
            <a:endCxn id="6" idx="0"/>
          </p:cNvCxnSpPr>
          <p:nvPr/>
        </p:nvCxnSpPr>
        <p:spPr>
          <a:xfrm>
            <a:off x="4018648" y="2525662"/>
            <a:ext cx="2" cy="237694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Straight Arrow Connector 32">
            <a:extLst>
              <a:ext uri="{FF2B5EF4-FFF2-40B4-BE49-F238E27FC236}">
                <a16:creationId xmlns:a16="http://schemas.microsoft.com/office/drawing/2014/main" id="{E52F7097-785B-F2A4-B960-41B0BB2659AE}"/>
              </a:ext>
            </a:extLst>
          </p:cNvPr>
          <p:cNvCxnSpPr>
            <a:cxnSpLocks/>
            <a:stCxn id="6" idx="2"/>
            <a:endCxn id="17" idx="0"/>
          </p:cNvCxnSpPr>
          <p:nvPr/>
        </p:nvCxnSpPr>
        <p:spPr>
          <a:xfrm flipH="1">
            <a:off x="4018648" y="4175777"/>
            <a:ext cx="2" cy="237694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Straight Arrow Connector 35">
            <a:extLst>
              <a:ext uri="{FF2B5EF4-FFF2-40B4-BE49-F238E27FC236}">
                <a16:creationId xmlns:a16="http://schemas.microsoft.com/office/drawing/2014/main" id="{31FEF2BB-28DF-ABA4-4599-79F200D6FA88}"/>
              </a:ext>
            </a:extLst>
          </p:cNvPr>
          <p:cNvCxnSpPr>
            <a:cxnSpLocks/>
            <a:stCxn id="17" idx="2"/>
            <a:endCxn id="12" idx="0"/>
          </p:cNvCxnSpPr>
          <p:nvPr/>
        </p:nvCxnSpPr>
        <p:spPr>
          <a:xfrm>
            <a:off x="4018648" y="5412079"/>
            <a:ext cx="0" cy="237694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Straight Arrow Connector 38">
            <a:extLst>
              <a:ext uri="{FF2B5EF4-FFF2-40B4-BE49-F238E27FC236}">
                <a16:creationId xmlns:a16="http://schemas.microsoft.com/office/drawing/2014/main" id="{6ABD3411-2D41-1818-1735-3E63C07EFD41}"/>
              </a:ext>
            </a:extLst>
          </p:cNvPr>
          <p:cNvCxnSpPr>
            <a:cxnSpLocks/>
            <a:stCxn id="17" idx="3"/>
            <a:endCxn id="22" idx="1"/>
          </p:cNvCxnSpPr>
          <p:nvPr/>
        </p:nvCxnSpPr>
        <p:spPr>
          <a:xfrm>
            <a:off x="5037824" y="4912775"/>
            <a:ext cx="399824" cy="0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Straight Arrow Connector 41">
            <a:extLst>
              <a:ext uri="{FF2B5EF4-FFF2-40B4-BE49-F238E27FC236}">
                <a16:creationId xmlns:a16="http://schemas.microsoft.com/office/drawing/2014/main" id="{3BCFCAFB-5EAA-1D3C-4B3E-B2CB5865F3E9}"/>
              </a:ext>
            </a:extLst>
          </p:cNvPr>
          <p:cNvCxnSpPr>
            <a:cxnSpLocks/>
            <a:stCxn id="6" idx="1"/>
            <a:endCxn id="13" idx="3"/>
          </p:cNvCxnSpPr>
          <p:nvPr/>
        </p:nvCxnSpPr>
        <p:spPr>
          <a:xfrm flipH="1" flipV="1">
            <a:off x="2291904" y="3469566"/>
            <a:ext cx="383721" cy="1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" name="TextBox 27">
            <a:extLst>
              <a:ext uri="{FF2B5EF4-FFF2-40B4-BE49-F238E27FC236}">
                <a16:creationId xmlns:a16="http://schemas.microsoft.com/office/drawing/2014/main" id="{72A5347D-DA0C-89C7-951B-9B6779BCFA31}"/>
              </a:ext>
            </a:extLst>
          </p:cNvPr>
          <p:cNvSpPr txBox="1"/>
          <p:nvPr/>
        </p:nvSpPr>
        <p:spPr>
          <a:xfrm>
            <a:off x="3494108" y="2468683"/>
            <a:ext cx="52454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>
                <a:solidFill>
                  <a:schemeClr val="tx1"/>
                </a:solidFill>
              </a:rPr>
              <a:t>Yes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B378C39B-9B6A-A49B-CE90-F4E3FD592DE8}"/>
              </a:ext>
            </a:extLst>
          </p:cNvPr>
          <p:cNvSpPr txBox="1"/>
          <p:nvPr/>
        </p:nvSpPr>
        <p:spPr>
          <a:xfrm>
            <a:off x="3494108" y="4096959"/>
            <a:ext cx="52454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>
                <a:solidFill>
                  <a:schemeClr val="tx1"/>
                </a:solidFill>
              </a:rPr>
              <a:t>Yes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E1F31EC4-D715-D41B-33DA-1579C0287FF1}"/>
              </a:ext>
            </a:extLst>
          </p:cNvPr>
          <p:cNvSpPr txBox="1"/>
          <p:nvPr/>
        </p:nvSpPr>
        <p:spPr>
          <a:xfrm>
            <a:off x="4951577" y="4608805"/>
            <a:ext cx="52454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>
                <a:solidFill>
                  <a:schemeClr val="tx1"/>
                </a:solidFill>
              </a:rPr>
              <a:t>Yes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D948301C-F976-5677-C12F-A771AA3986DC}"/>
              </a:ext>
            </a:extLst>
          </p:cNvPr>
          <p:cNvSpPr txBox="1"/>
          <p:nvPr/>
        </p:nvSpPr>
        <p:spPr>
          <a:xfrm>
            <a:off x="3494108" y="5335802"/>
            <a:ext cx="52454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>
                <a:solidFill>
                  <a:schemeClr val="tx1"/>
                </a:solidFill>
              </a:rPr>
              <a:t>No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069ABBA1-A6B0-3242-4C15-5B29FEEEE00C}"/>
              </a:ext>
            </a:extLst>
          </p:cNvPr>
          <p:cNvSpPr txBox="1"/>
          <p:nvPr/>
        </p:nvSpPr>
        <p:spPr>
          <a:xfrm>
            <a:off x="2283072" y="3169783"/>
            <a:ext cx="52454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>
                <a:solidFill>
                  <a:schemeClr val="tx1"/>
                </a:solidFill>
              </a:rPr>
              <a:t>No</a:t>
            </a:r>
          </a:p>
        </p:txBody>
      </p:sp>
      <p:cxnSp>
        <p:nvCxnSpPr>
          <p:cNvPr id="37" name="Straight Arrow Connector 36">
            <a:extLst>
              <a:ext uri="{FF2B5EF4-FFF2-40B4-BE49-F238E27FC236}">
                <a16:creationId xmlns:a16="http://schemas.microsoft.com/office/drawing/2014/main" id="{B66D6132-0048-28F1-A1E9-DD6A28C34FBB}"/>
              </a:ext>
            </a:extLst>
          </p:cNvPr>
          <p:cNvCxnSpPr>
            <a:cxnSpLocks/>
            <a:stCxn id="22" idx="0"/>
            <a:endCxn id="21" idx="2"/>
          </p:cNvCxnSpPr>
          <p:nvPr/>
        </p:nvCxnSpPr>
        <p:spPr>
          <a:xfrm flipV="1">
            <a:off x="6685537" y="3839503"/>
            <a:ext cx="0" cy="527338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21459609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6" name="Straight Arrow Connector 21">
            <a:extLst>
              <a:ext uri="{FF2B5EF4-FFF2-40B4-BE49-F238E27FC236}">
                <a16:creationId xmlns:a16="http://schemas.microsoft.com/office/drawing/2014/main" id="{AFB0C134-4F4F-D37B-1E22-4FBE40DF2949}"/>
              </a:ext>
            </a:extLst>
          </p:cNvPr>
          <p:cNvCxnSpPr>
            <a:cxnSpLocks/>
          </p:cNvCxnSpPr>
          <p:nvPr/>
        </p:nvCxnSpPr>
        <p:spPr>
          <a:xfrm>
            <a:off x="6717059" y="4262096"/>
            <a:ext cx="331738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Straight Connector 54">
            <a:extLst>
              <a:ext uri="{FF2B5EF4-FFF2-40B4-BE49-F238E27FC236}">
                <a16:creationId xmlns:a16="http://schemas.microsoft.com/office/drawing/2014/main" id="{77080DF0-3A44-1333-75EB-2305FB5BDA11}"/>
              </a:ext>
            </a:extLst>
          </p:cNvPr>
          <p:cNvCxnSpPr>
            <a:cxnSpLocks/>
          </p:cNvCxnSpPr>
          <p:nvPr/>
        </p:nvCxnSpPr>
        <p:spPr>
          <a:xfrm flipH="1">
            <a:off x="6283594" y="4257334"/>
            <a:ext cx="289550" cy="0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TextBox 30">
            <a:extLst>
              <a:ext uri="{FF2B5EF4-FFF2-40B4-BE49-F238E27FC236}">
                <a16:creationId xmlns:a16="http://schemas.microsoft.com/office/drawing/2014/main" id="{0292E08E-72FF-D8F1-CE9B-70F2866F93B3}"/>
              </a:ext>
            </a:extLst>
          </p:cNvPr>
          <p:cNvSpPr txBox="1"/>
          <p:nvPr/>
        </p:nvSpPr>
        <p:spPr>
          <a:xfrm>
            <a:off x="5744843" y="4134223"/>
            <a:ext cx="466794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00">
                <a:latin typeface="Consolas" panose="020B0609020204030204" pitchFamily="49" charset="0"/>
              </a:rPr>
              <a:t>text</a:t>
            </a:r>
          </a:p>
        </p:txBody>
      </p:sp>
      <p:grpSp>
        <p:nvGrpSpPr>
          <p:cNvPr id="45" name="群組 44">
            <a:extLst>
              <a:ext uri="{FF2B5EF4-FFF2-40B4-BE49-F238E27FC236}">
                <a16:creationId xmlns:a16="http://schemas.microsoft.com/office/drawing/2014/main" id="{2B874AB3-D10D-2F72-71D1-70DFB8BFC717}"/>
              </a:ext>
            </a:extLst>
          </p:cNvPr>
          <p:cNvGrpSpPr/>
          <p:nvPr/>
        </p:nvGrpSpPr>
        <p:grpSpPr>
          <a:xfrm>
            <a:off x="96340" y="83933"/>
            <a:ext cx="12038838" cy="6730240"/>
            <a:chOff x="96340" y="83933"/>
            <a:chExt cx="12038838" cy="6730240"/>
          </a:xfrm>
        </p:grpSpPr>
        <p:grpSp>
          <p:nvGrpSpPr>
            <p:cNvPr id="26" name="群組 25">
              <a:extLst>
                <a:ext uri="{FF2B5EF4-FFF2-40B4-BE49-F238E27FC236}">
                  <a16:creationId xmlns:a16="http://schemas.microsoft.com/office/drawing/2014/main" id="{37D42E78-D5E3-8DF6-054F-3DB7AA8756F3}"/>
                </a:ext>
              </a:extLst>
            </p:cNvPr>
            <p:cNvGrpSpPr/>
            <p:nvPr/>
          </p:nvGrpSpPr>
          <p:grpSpPr>
            <a:xfrm>
              <a:off x="4845322" y="1217011"/>
              <a:ext cx="4070957" cy="1574239"/>
              <a:chOff x="412810" y="2805256"/>
              <a:chExt cx="4070957" cy="1574239"/>
            </a:xfrm>
          </p:grpSpPr>
          <p:sp>
            <p:nvSpPr>
              <p:cNvPr id="20" name="Rectangle 4">
                <a:extLst>
                  <a:ext uri="{FF2B5EF4-FFF2-40B4-BE49-F238E27FC236}">
                    <a16:creationId xmlns:a16="http://schemas.microsoft.com/office/drawing/2014/main" id="{CCC25B2D-3F90-8C9A-9B99-38E513C72134}"/>
                  </a:ext>
                </a:extLst>
              </p:cNvPr>
              <p:cNvSpPr/>
              <p:nvPr/>
            </p:nvSpPr>
            <p:spPr>
              <a:xfrm>
                <a:off x="412810" y="2805256"/>
                <a:ext cx="4070957" cy="1574239"/>
              </a:xfrm>
              <a:prstGeom prst="rect">
                <a:avLst/>
              </a:prstGeom>
              <a:solidFill>
                <a:schemeClr val="accent2">
                  <a:lumMod val="20000"/>
                  <a:lumOff val="80000"/>
                </a:schemeClr>
              </a:solidFill>
              <a:ln>
                <a:noFill/>
              </a:ln>
            </p:spPr>
            <p:style>
              <a:lnRef idx="2">
                <a:schemeClr val="accent2">
                  <a:shade val="50000"/>
                </a:schemeClr>
              </a:lnRef>
              <a:fillRef idx="1">
                <a:schemeClr val="accent2"/>
              </a:fillRef>
              <a:effectRef idx="0">
                <a:schemeClr val="accent2"/>
              </a:effectRef>
              <a:fontRef idx="minor">
                <a:schemeClr val="lt1"/>
              </a:fontRef>
            </p:style>
            <p:txBody>
              <a:bodyPr rtlCol="0" anchor="t"/>
              <a:lstStyle/>
              <a:p>
                <a:pPr defTabSz="182880"/>
                <a:r>
                  <a:rPr lang="en-US" sz="800">
                    <a:solidFill>
                      <a:sysClr val="windowText" lastClr="000000"/>
                    </a:solidFill>
                    <a:latin typeface="Consolas" panose="020B0609020204030204" pitchFamily="49" charset="0"/>
                  </a:rPr>
                  <a:t>elif header is DATA_FRAME:</a:t>
                </a:r>
              </a:p>
              <a:p>
                <a:pPr defTabSz="182880"/>
                <a:r>
                  <a:rPr lang="en-US" sz="800">
                    <a:solidFill>
                      <a:sysClr val="windowText" lastClr="000000"/>
                    </a:solidFill>
                    <a:latin typeface="Consolas" panose="020B0609020204030204" pitchFamily="49" charset="0"/>
                  </a:rPr>
                  <a:t>	reply_with_ack()</a:t>
                </a:r>
              </a:p>
              <a:p>
                <a:pPr defTabSz="182880"/>
                <a:endParaRPr lang="en-US" sz="800">
                  <a:solidFill>
                    <a:sysClr val="windowText" lastClr="000000"/>
                  </a:solidFill>
                  <a:latin typeface="Consolas" panose="020B0609020204030204" pitchFamily="49" charset="0"/>
                </a:endParaRPr>
              </a:p>
              <a:p>
                <a:pPr defTabSz="182880"/>
                <a:endParaRPr lang="en-US" sz="800">
                  <a:solidFill>
                    <a:sysClr val="windowText" lastClr="000000"/>
                  </a:solidFill>
                  <a:latin typeface="Consolas" panose="020B0609020204030204" pitchFamily="49" charset="0"/>
                </a:endParaRPr>
              </a:p>
              <a:p>
                <a:pPr defTabSz="182880"/>
                <a:endParaRPr lang="en-US" sz="800">
                  <a:solidFill>
                    <a:sysClr val="windowText" lastClr="000000"/>
                  </a:solidFill>
                  <a:latin typeface="Consolas" panose="020B0609020204030204" pitchFamily="49" charset="0"/>
                </a:endParaRPr>
              </a:p>
              <a:p>
                <a:pPr defTabSz="182880"/>
                <a:endParaRPr lang="en-US" sz="800">
                  <a:solidFill>
                    <a:sysClr val="windowText" lastClr="000000"/>
                  </a:solidFill>
                  <a:latin typeface="Consolas" panose="020B0609020204030204" pitchFamily="49" charset="0"/>
                </a:endParaRPr>
              </a:p>
              <a:p>
                <a:pPr defTabSz="182880"/>
                <a:r>
                  <a:rPr lang="en-US" sz="800">
                    <a:solidFill>
                      <a:sysClr val="windowText" lastClr="000000"/>
                    </a:solidFill>
                    <a:latin typeface="Consolas" panose="020B0609020204030204" pitchFamily="49" charset="0"/>
                  </a:rPr>
                  <a:t>	set_to_db()</a:t>
                </a:r>
              </a:p>
            </p:txBody>
          </p:sp>
          <p:sp>
            <p:nvSpPr>
              <p:cNvPr id="22" name="矩形 21">
                <a:extLst>
                  <a:ext uri="{FF2B5EF4-FFF2-40B4-BE49-F238E27FC236}">
                    <a16:creationId xmlns:a16="http://schemas.microsoft.com/office/drawing/2014/main" id="{DA6216EF-00A9-2D48-B128-9970C5D7EB58}"/>
                  </a:ext>
                </a:extLst>
              </p:cNvPr>
              <p:cNvSpPr/>
              <p:nvPr/>
            </p:nvSpPr>
            <p:spPr>
              <a:xfrm>
                <a:off x="680935" y="3115532"/>
                <a:ext cx="3802831" cy="404536"/>
              </a:xfrm>
              <a:prstGeom prst="rect">
                <a:avLst/>
              </a:prstGeom>
              <a:solidFill>
                <a:schemeClr val="accent2">
                  <a:lumMod val="40000"/>
                  <a:lumOff val="6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defTabSz="182880"/>
                <a:r>
                  <a:rPr lang="en-US" altLang="zh-TW" sz="800">
                    <a:solidFill>
                      <a:schemeClr val="tx1"/>
                    </a:solidFill>
                    <a:latin typeface="Consolas" panose="020B0609020204030204" pitchFamily="49" charset="0"/>
                  </a:rPr>
                  <a:t>ack_frame = scapy.Dot11FCS(addr1=addr, type=1, subtype=13, FCfield=0)</a:t>
                </a:r>
              </a:p>
              <a:p>
                <a:pPr defTabSz="182880"/>
                <a:r>
                  <a:rPr lang="en-US" altLang="zh-TW" sz="800">
                    <a:solidFill>
                      <a:schemeClr val="tx1"/>
                    </a:solidFill>
                    <a:latin typeface="Consolas" panose="020B0609020204030204" pitchFamily="49" charset="0"/>
                  </a:rPr>
                  <a:t>sock.sendto(bytes(ack_frame), (localhost, 52001))</a:t>
                </a:r>
                <a:endParaRPr lang="zh-TW" altLang="en-US" sz="800">
                  <a:solidFill>
                    <a:schemeClr val="tx1"/>
                  </a:solidFill>
                  <a:latin typeface="Consolas" panose="020B0609020204030204" pitchFamily="49" charset="0"/>
                </a:endParaRPr>
              </a:p>
            </p:txBody>
          </p:sp>
          <p:sp>
            <p:nvSpPr>
              <p:cNvPr id="23" name="矩形 22">
                <a:extLst>
                  <a:ext uri="{FF2B5EF4-FFF2-40B4-BE49-F238E27FC236}">
                    <a16:creationId xmlns:a16="http://schemas.microsoft.com/office/drawing/2014/main" id="{F54B0698-4C04-5775-0F11-CBDE7AB11891}"/>
                  </a:ext>
                </a:extLst>
              </p:cNvPr>
              <p:cNvSpPr/>
              <p:nvPr/>
            </p:nvSpPr>
            <p:spPr>
              <a:xfrm>
                <a:off x="680934" y="3753749"/>
                <a:ext cx="3802832" cy="564956"/>
              </a:xfrm>
              <a:prstGeom prst="rect">
                <a:avLst/>
              </a:prstGeom>
              <a:solidFill>
                <a:schemeClr val="accent2">
                  <a:lumMod val="40000"/>
                  <a:lumOff val="6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defTabSz="182880"/>
                <a:r>
                  <a:rPr lang="en-US" altLang="zh-TW" sz="800">
                    <a:solidFill>
                      <a:schemeClr val="tx1"/>
                    </a:solidFill>
                    <a:latin typeface="Consolas" panose="020B0609020204030204" pitchFamily="49" charset="0"/>
                  </a:rPr>
                  <a:t>timestamp = time.time()</a:t>
                </a:r>
              </a:p>
              <a:p>
                <a:pPr defTabSz="182880"/>
                <a:r>
                  <a:rPr lang="en-US" altLang="zh-TW" sz="800">
                    <a:solidFill>
                      <a:schemeClr val="tx1"/>
                    </a:solidFill>
                    <a:latin typeface="Consolas" panose="020B0609020204030204" pitchFamily="49" charset="0"/>
                  </a:rPr>
                  <a:t>db.hmset(“Recv:seq:timestamp”, {“payload”: payload, “info”:info})</a:t>
                </a:r>
              </a:p>
              <a:p>
                <a:pPr defTabSz="182880"/>
                <a:r>
                  <a:rPr lang="en-US" altLang="zh-TW" sz="800">
                    <a:solidFill>
                      <a:schemeClr val="tx1"/>
                    </a:solidFill>
                    <a:latin typeface="Consolas" panose="020B0609020204030204" pitchFamily="49" charset="0"/>
                  </a:rPr>
                  <a:t>db.set(“CSI:timestamp”, csi_json)</a:t>
                </a:r>
              </a:p>
              <a:p>
                <a:pPr defTabSz="182880"/>
                <a:r>
                  <a:rPr lang="en-US" altLang="zh-TW" sz="800">
                    <a:solidFill>
                      <a:schemeClr val="tx1"/>
                    </a:solidFill>
                    <a:latin typeface="Consolas" panose="020B0609020204030204" pitchFamily="49" charset="0"/>
                  </a:rPr>
                  <a:t>db.set(“CSI:ACTION:CSI”, “CSI:timestamp”)</a:t>
                </a:r>
                <a:endParaRPr lang="zh-TW" altLang="en-US" sz="800">
                  <a:solidFill>
                    <a:schemeClr val="tx1"/>
                  </a:solidFill>
                  <a:latin typeface="Consolas" panose="020B0609020204030204" pitchFamily="49" charset="0"/>
                </a:endParaRPr>
              </a:p>
            </p:txBody>
          </p:sp>
        </p:grpSp>
        <p:sp>
          <p:nvSpPr>
            <p:cNvPr id="24" name="Rectangle 4">
              <a:extLst>
                <a:ext uri="{FF2B5EF4-FFF2-40B4-BE49-F238E27FC236}">
                  <a16:creationId xmlns:a16="http://schemas.microsoft.com/office/drawing/2014/main" id="{A3B5125B-ECB5-B21C-AB92-B1FA751DBFD6}"/>
                </a:ext>
              </a:extLst>
            </p:cNvPr>
            <p:cNvSpPr/>
            <p:nvPr/>
          </p:nvSpPr>
          <p:spPr>
            <a:xfrm>
              <a:off x="4845321" y="83933"/>
              <a:ext cx="4070957" cy="1133078"/>
            </a:xfrm>
            <a:prstGeom prst="rect">
              <a:avLst/>
            </a:prstGeom>
            <a:solidFill>
              <a:schemeClr val="accent2">
                <a:lumMod val="20000"/>
                <a:lumOff val="80000"/>
              </a:schemeClr>
            </a:solidFill>
            <a:ln>
              <a:noFill/>
            </a:ln>
          </p:spPr>
          <p:style>
            <a:lnRef idx="2">
              <a:schemeClr val="accent2">
                <a:shade val="50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defTabSz="182880"/>
              <a:r>
                <a:rPr lang="en-US" sz="800">
                  <a:solidFill>
                    <a:sysClr val="windowText" lastClr="000000"/>
                  </a:solidFill>
                  <a:latin typeface="Consolas" panose="020B0609020204030204" pitchFamily="49" charset="0"/>
                </a:rPr>
                <a:t>if payload has ControlType:</a:t>
              </a:r>
            </a:p>
            <a:p>
              <a:pPr defTabSz="182880"/>
              <a:r>
                <a:rPr lang="en-US" sz="800">
                  <a:solidFill>
                    <a:sysClr val="windowText" lastClr="000000"/>
                  </a:solidFill>
                  <a:latin typeface="Consolas" panose="020B0609020204030204" pitchFamily="49" charset="0"/>
                </a:rPr>
                <a:t>	if payload[“ControlType”] == “HOP”:</a:t>
              </a:r>
            </a:p>
            <a:p>
              <a:pPr defTabSz="182880"/>
              <a:r>
                <a:rPr lang="en-US" sz="800">
                  <a:solidFill>
                    <a:sysClr val="windowText" lastClr="000000"/>
                  </a:solidFill>
                  <a:latin typeface="Consolas" panose="020B0609020204030204" pitchFamily="49" charset="0"/>
                </a:rPr>
                <a:t>		if payload[“ControlAction”].isdigit():</a:t>
              </a:r>
            </a:p>
            <a:p>
              <a:pPr defTabSz="182880"/>
              <a:r>
                <a:rPr lang="en-US" sz="800">
                  <a:solidFill>
                    <a:sysClr val="windowText" lastClr="000000"/>
                  </a:solidFill>
                  <a:latin typeface="Consolas" panose="020B0609020204030204" pitchFamily="49" charset="0"/>
                </a:rPr>
                <a:t>			db.set(“RFSYSTEM:STATE”, “Hold”)</a:t>
              </a:r>
            </a:p>
            <a:p>
              <a:pPr defTabSz="182880"/>
              <a:r>
                <a:rPr lang="en-US" sz="800">
                  <a:solidFill>
                    <a:sysClr val="windowText" lastClr="000000"/>
                  </a:solidFill>
                  <a:latin typeface="Consolas" panose="020B0609020204030204" pitchFamily="49" charset="0"/>
                </a:rPr>
                <a:t>			db.hset(“SYSTEM:HOPPING”, “Stage”, 4)</a:t>
              </a:r>
            </a:p>
            <a:p>
              <a:pPr defTabSz="182880"/>
              <a:r>
                <a:rPr lang="en-US" sz="800">
                  <a:solidFill>
                    <a:sysClr val="windowText" lastClr="000000"/>
                  </a:solidFill>
                  <a:latin typeface="Consolas" panose="020B0609020204030204" pitchFamily="49" charset="0"/>
                </a:rPr>
                <a:t>		action_to_hop(payload)</a:t>
              </a:r>
            </a:p>
            <a:p>
              <a:pPr defTabSz="182880"/>
              <a:r>
                <a:rPr lang="en-US" sz="800">
                  <a:solidFill>
                    <a:sysClr val="windowText" lastClr="000000"/>
                  </a:solidFill>
                  <a:latin typeface="Consolas" panose="020B0609020204030204" pitchFamily="49" charset="0"/>
                </a:rPr>
                <a:t>		</a:t>
              </a:r>
            </a:p>
            <a:p>
              <a:pPr defTabSz="182880"/>
              <a:r>
                <a:rPr lang="en-US" sz="800">
                  <a:solidFill>
                    <a:sysClr val="windowText" lastClr="000000"/>
                  </a:solidFill>
                  <a:latin typeface="Consolas" panose="020B0609020204030204" pitchFamily="49" charset="0"/>
                </a:rPr>
                <a:t>	</a:t>
              </a:r>
            </a:p>
          </p:txBody>
        </p:sp>
        <p:grpSp>
          <p:nvGrpSpPr>
            <p:cNvPr id="27" name="群組 26">
              <a:extLst>
                <a:ext uri="{FF2B5EF4-FFF2-40B4-BE49-F238E27FC236}">
                  <a16:creationId xmlns:a16="http://schemas.microsoft.com/office/drawing/2014/main" id="{CD45926D-0E16-29ED-1849-41B7AE4921EC}"/>
                </a:ext>
              </a:extLst>
            </p:cNvPr>
            <p:cNvGrpSpPr/>
            <p:nvPr/>
          </p:nvGrpSpPr>
          <p:grpSpPr>
            <a:xfrm>
              <a:off x="4845320" y="2791250"/>
              <a:ext cx="4070957" cy="1050146"/>
              <a:chOff x="412808" y="3810612"/>
              <a:chExt cx="4070957" cy="1050146"/>
            </a:xfrm>
          </p:grpSpPr>
          <p:sp>
            <p:nvSpPr>
              <p:cNvPr id="25" name="Rectangle 4">
                <a:extLst>
                  <a:ext uri="{FF2B5EF4-FFF2-40B4-BE49-F238E27FC236}">
                    <a16:creationId xmlns:a16="http://schemas.microsoft.com/office/drawing/2014/main" id="{52436147-4230-6B2D-7974-843A81211452}"/>
                  </a:ext>
                </a:extLst>
              </p:cNvPr>
              <p:cNvSpPr/>
              <p:nvPr/>
            </p:nvSpPr>
            <p:spPr>
              <a:xfrm>
                <a:off x="412808" y="3810612"/>
                <a:ext cx="4070957" cy="1050146"/>
              </a:xfrm>
              <a:prstGeom prst="rect">
                <a:avLst/>
              </a:prstGeom>
              <a:solidFill>
                <a:schemeClr val="accent2">
                  <a:lumMod val="20000"/>
                  <a:lumOff val="80000"/>
                </a:schemeClr>
              </a:solidFill>
              <a:ln>
                <a:noFill/>
              </a:ln>
            </p:spPr>
            <p:style>
              <a:lnRef idx="2">
                <a:schemeClr val="accent2">
                  <a:shade val="50000"/>
                </a:schemeClr>
              </a:lnRef>
              <a:fillRef idx="1">
                <a:schemeClr val="accent2"/>
              </a:fillRef>
              <a:effectRef idx="0">
                <a:schemeClr val="accent2"/>
              </a:effectRef>
              <a:fontRef idx="minor">
                <a:schemeClr val="lt1"/>
              </a:fontRef>
            </p:style>
            <p:txBody>
              <a:bodyPr rtlCol="0" anchor="t"/>
              <a:lstStyle/>
              <a:p>
                <a:pPr defTabSz="182880"/>
                <a:r>
                  <a:rPr lang="en-US" sz="800">
                    <a:solidFill>
                      <a:sysClr val="windowText" lastClr="000000"/>
                    </a:solidFill>
                    <a:latin typeface="Consolas" panose="020B0609020204030204" pitchFamily="49" charset="0"/>
                  </a:rPr>
                  <a:t>elif header is CTRL_FRAME:</a:t>
                </a:r>
              </a:p>
              <a:p>
                <a:pPr defTabSz="182880"/>
                <a:r>
                  <a:rPr lang="en-US" sz="800">
                    <a:solidFill>
                      <a:sysClr val="windowText" lastClr="000000"/>
                    </a:solidFill>
                    <a:latin typeface="Consolas" panose="020B0609020204030204" pitchFamily="49" charset="0"/>
                  </a:rPr>
                  <a:t>	action_to_ack()</a:t>
                </a:r>
              </a:p>
            </p:txBody>
          </p:sp>
          <p:sp>
            <p:nvSpPr>
              <p:cNvPr id="21" name="矩形 20">
                <a:extLst>
                  <a:ext uri="{FF2B5EF4-FFF2-40B4-BE49-F238E27FC236}">
                    <a16:creationId xmlns:a16="http://schemas.microsoft.com/office/drawing/2014/main" id="{B3ABBAD7-651C-712D-0139-E04AE081EDF5}"/>
                  </a:ext>
                </a:extLst>
              </p:cNvPr>
              <p:cNvSpPr/>
              <p:nvPr/>
            </p:nvSpPr>
            <p:spPr>
              <a:xfrm>
                <a:off x="684365" y="4139687"/>
                <a:ext cx="3799400" cy="649706"/>
              </a:xfrm>
              <a:prstGeom prst="rect">
                <a:avLst/>
              </a:prstGeom>
              <a:solidFill>
                <a:schemeClr val="accent2">
                  <a:lumMod val="40000"/>
                  <a:lumOff val="6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defTabSz="182880"/>
                <a:r>
                  <a:rPr lang="en-US" altLang="zh-TW" sz="800">
                    <a:solidFill>
                      <a:schemeClr val="tx1"/>
                    </a:solidFill>
                    <a:latin typeface="Consolas" panose="020B0609020204030204" pitchFamily="49" charset="0"/>
                  </a:rPr>
                  <a:t>ACK_STATE = db.get(“TRANS:ACK”)</a:t>
                </a:r>
              </a:p>
              <a:p>
                <a:pPr defTabSz="182880"/>
                <a:r>
                  <a:rPr lang="en-US" altLang="zh-TW" sz="800">
                    <a:solidFill>
                      <a:schemeClr val="tx1"/>
                    </a:solidFill>
                    <a:latin typeface="Consolas" panose="020B0609020204030204" pitchFamily="49" charset="0"/>
                  </a:rPr>
                  <a:t>if ACK_STATE == “Waiting”:</a:t>
                </a:r>
              </a:p>
              <a:p>
                <a:pPr defTabSz="182880"/>
                <a:r>
                  <a:rPr lang="en-US" altLang="zh-TW" sz="800">
                    <a:solidFill>
                      <a:schemeClr val="tx1"/>
                    </a:solidFill>
                    <a:latin typeface="Consolas" panose="020B0609020204030204" pitchFamily="49" charset="0"/>
                  </a:rPr>
                  <a:t>	db.set(“TRANS:ACK”, “Success”)</a:t>
                </a:r>
              </a:p>
              <a:p>
                <a:pPr defTabSz="182880"/>
                <a:r>
                  <a:rPr lang="en-US" altLang="zh-TW" sz="800">
                    <a:solidFill>
                      <a:schemeClr val="tx1"/>
                    </a:solidFill>
                    <a:latin typeface="Consolas" panose="020B0609020204030204" pitchFamily="49" charset="0"/>
                  </a:rPr>
                  <a:t>	db.set(“RFDEVICE:STATE”, “Idle”)</a:t>
                </a:r>
              </a:p>
              <a:p>
                <a:pPr defTabSz="182880"/>
                <a:r>
                  <a:rPr lang="en-US" altLang="zh-TW" sz="800">
                    <a:solidFill>
                      <a:schemeClr val="tx1"/>
                    </a:solidFill>
                    <a:latin typeface="Consolas" panose="020B0609020204030204" pitchFamily="49" charset="0"/>
                  </a:rPr>
                  <a:t>	db.rpop(“QUEUE:LIST:TRANS”)</a:t>
                </a:r>
                <a:endParaRPr lang="zh-TW" altLang="en-US" sz="800">
                  <a:solidFill>
                    <a:schemeClr val="tx1"/>
                  </a:solidFill>
                  <a:latin typeface="Consolas" panose="020B0609020204030204" pitchFamily="49" charset="0"/>
                </a:endParaRPr>
              </a:p>
            </p:txBody>
          </p:sp>
        </p:grpSp>
        <p:sp>
          <p:nvSpPr>
            <p:cNvPr id="28" name="矩形 27">
              <a:extLst>
                <a:ext uri="{FF2B5EF4-FFF2-40B4-BE49-F238E27FC236}">
                  <a16:creationId xmlns:a16="http://schemas.microsoft.com/office/drawing/2014/main" id="{6EE1C805-C942-5811-7865-38C835D36687}"/>
                </a:ext>
              </a:extLst>
            </p:cNvPr>
            <p:cNvSpPr/>
            <p:nvPr/>
          </p:nvSpPr>
          <p:spPr>
            <a:xfrm>
              <a:off x="5316553" y="872981"/>
              <a:ext cx="3599724" cy="268490"/>
            </a:xfrm>
            <a:prstGeom prst="rect">
              <a:avLst/>
            </a:prstGeom>
            <a:solidFill>
              <a:schemeClr val="accent2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defTabSz="182880"/>
              <a:r>
                <a:rPr lang="en-US" altLang="zh-TW" sz="800">
                  <a:solidFill>
                    <a:schemeClr val="tx1"/>
                  </a:solidFill>
                  <a:latin typeface="Consolas" panose="020B0609020204030204" pitchFamily="49" charset="0"/>
                </a:rPr>
                <a:t>db.set(“SYSTEM:ACTION:HOP”, payload)</a:t>
              </a:r>
              <a:endParaRPr lang="zh-TW" altLang="en-US" sz="800">
                <a:solidFill>
                  <a:schemeClr val="tx1"/>
                </a:solidFill>
                <a:latin typeface="Consolas" panose="020B0609020204030204" pitchFamily="49" charset="0"/>
              </a:endParaRPr>
            </a:p>
          </p:txBody>
        </p:sp>
        <p:sp>
          <p:nvSpPr>
            <p:cNvPr id="30" name="Rectangle 5">
              <a:extLst>
                <a:ext uri="{FF2B5EF4-FFF2-40B4-BE49-F238E27FC236}">
                  <a16:creationId xmlns:a16="http://schemas.microsoft.com/office/drawing/2014/main" id="{0C4B8A75-9DC0-9E19-9FCC-CC1B17BE5D20}"/>
                </a:ext>
              </a:extLst>
            </p:cNvPr>
            <p:cNvSpPr/>
            <p:nvPr/>
          </p:nvSpPr>
          <p:spPr>
            <a:xfrm>
              <a:off x="8721530" y="4261369"/>
              <a:ext cx="3374130" cy="2552804"/>
            </a:xfrm>
            <a:prstGeom prst="rect">
              <a:avLst/>
            </a:prstGeom>
            <a:solidFill>
              <a:schemeClr val="accent3">
                <a:lumMod val="20000"/>
                <a:lumOff val="80000"/>
              </a:schemeClr>
            </a:solidFill>
            <a:ln>
              <a:noFill/>
            </a:ln>
          </p:spPr>
          <p:style>
            <a:lnRef idx="2">
              <a:schemeClr val="accent3">
                <a:shade val="50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defTabSz="182880"/>
              <a:r>
                <a:rPr lang="en-US" sz="800">
                  <a:solidFill>
                    <a:schemeClr val="tx1"/>
                  </a:solidFill>
                  <a:latin typeface="Consolas" panose="020B0609020204030204" pitchFamily="49" charset="0"/>
                </a:rPr>
                <a:t>while db.exists(“QUEUE:LIST:TRANS”):</a:t>
              </a:r>
            </a:p>
            <a:p>
              <a:pPr defTabSz="182880"/>
              <a:r>
                <a:rPr lang="en-US" sz="800">
                  <a:solidFill>
                    <a:schemeClr val="tx1"/>
                  </a:solidFill>
                  <a:latin typeface="Consolas" panose="020B0609020204030204" pitchFamily="49" charset="0"/>
                </a:rPr>
                <a:t>	rf_state = db.get(“RFDEVICE:STATE”)</a:t>
              </a:r>
            </a:p>
            <a:p>
              <a:pPr defTabSz="182880"/>
              <a:r>
                <a:rPr lang="en-US" altLang="zh-TW" sz="800">
                  <a:solidFill>
                    <a:schemeClr val="tx1"/>
                  </a:solidFill>
                  <a:latin typeface="Consolas" panose="020B0609020204030204" pitchFamily="49" charset="0"/>
                </a:rPr>
                <a:t>	sys_state = db.get(“RFSYSTEM:STATE”)</a:t>
              </a:r>
              <a:endParaRPr lang="en-US" sz="800">
                <a:solidFill>
                  <a:schemeClr val="tx1"/>
                </a:solidFill>
                <a:latin typeface="Consolas" panose="020B0609020204030204" pitchFamily="49" charset="0"/>
              </a:endParaRPr>
            </a:p>
            <a:p>
              <a:pPr defTabSz="182880"/>
              <a:r>
                <a:rPr lang="en-US" sz="800">
                  <a:solidFill>
                    <a:schemeClr val="tx1"/>
                  </a:solidFill>
                  <a:latin typeface="Consolas" panose="020B0609020204030204" pitchFamily="49" charset="0"/>
                </a:rPr>
                <a:t>	oldest_key = db.lrange(“QUEUE:LIST:TRANS”, -1, -1)</a:t>
              </a:r>
            </a:p>
            <a:p>
              <a:pPr defTabSz="182880"/>
              <a:r>
                <a:rPr lang="en-US" sz="800">
                  <a:solidFill>
                    <a:schemeClr val="tx1"/>
                  </a:solidFill>
                  <a:latin typeface="Consolas" panose="020B0609020204030204" pitchFamily="49" charset="0"/>
                </a:rPr>
                <a:t>	ack_for_key = db.get(“</a:t>
              </a:r>
              <a:r>
                <a:rPr lang="en-US" altLang="zh-TW" sz="800">
                  <a:solidFill>
                    <a:schemeClr val="tx1"/>
                  </a:solidFill>
                  <a:latin typeface="Consolas" panose="020B0609020204030204" pitchFamily="49" charset="0"/>
                </a:rPr>
                <a:t>oldest_key:ACK”</a:t>
              </a:r>
              <a:r>
                <a:rPr lang="en-US" sz="800">
                  <a:solidFill>
                    <a:schemeClr val="tx1"/>
                  </a:solidFill>
                  <a:latin typeface="Consolas" panose="020B0609020204030204" pitchFamily="49" charset="0"/>
                </a:rPr>
                <a:t>)</a:t>
              </a:r>
            </a:p>
            <a:p>
              <a:pPr defTabSz="182880"/>
              <a:r>
                <a:rPr lang="en-US" sz="800">
                  <a:solidFill>
                    <a:schemeClr val="tx1"/>
                  </a:solidFill>
                  <a:latin typeface="Consolas" panose="020B0609020204030204" pitchFamily="49" charset="0"/>
                </a:rPr>
                <a:t>	</a:t>
              </a:r>
            </a:p>
            <a:p>
              <a:pPr defTabSz="182880"/>
              <a:r>
                <a:rPr lang="en-US" sz="800">
                  <a:solidFill>
                    <a:schemeClr val="tx1"/>
                  </a:solidFill>
                  <a:latin typeface="Consolas" panose="020B0609020204030204" pitchFamily="49" charset="0"/>
                </a:rPr>
                <a:t>	if </a:t>
              </a:r>
              <a:r>
                <a:rPr lang="en-US" altLang="zh-TW" sz="800">
                  <a:solidFill>
                    <a:schemeClr val="tx1"/>
                  </a:solidFill>
                  <a:latin typeface="Consolas" panose="020B0609020204030204" pitchFamily="49" charset="0"/>
                </a:rPr>
                <a:t>ack_for_key is not None:</a:t>
              </a:r>
            </a:p>
            <a:p>
              <a:pPr defTabSz="182880"/>
              <a:r>
                <a:rPr lang="en-US" sz="800">
                  <a:solidFill>
                    <a:schemeClr val="tx1"/>
                  </a:solidFill>
                  <a:latin typeface="Consolas" panose="020B0609020204030204" pitchFamily="49" charset="0"/>
                </a:rPr>
                <a:t>		if db.get(</a:t>
              </a:r>
              <a:r>
                <a:rPr lang="en-US" altLang="zh-TW" sz="800">
                  <a:solidFill>
                    <a:schemeClr val="tx1"/>
                  </a:solidFill>
                  <a:latin typeface="Consolas" panose="020B0609020204030204" pitchFamily="49" charset="0"/>
                </a:rPr>
                <a:t>ack_for_key</a:t>
              </a:r>
              <a:r>
                <a:rPr lang="en-US" sz="800">
                  <a:solidFill>
                    <a:schemeClr val="tx1"/>
                  </a:solidFill>
                  <a:latin typeface="Consolas" panose="020B0609020204030204" pitchFamily="49" charset="0"/>
                </a:rPr>
                <a:t>) == “Failed”:</a:t>
              </a:r>
            </a:p>
            <a:p>
              <a:pPr defTabSz="182880"/>
              <a:r>
                <a:rPr lang="en-US" sz="800">
                  <a:solidFill>
                    <a:schemeClr val="tx1"/>
                  </a:solidFill>
                  <a:latin typeface="Consolas" panose="020B0609020204030204" pitchFamily="49" charset="0"/>
                </a:rPr>
                <a:t>			db.rpop(“QUEUE:LIST:TRANS”)</a:t>
              </a:r>
            </a:p>
            <a:p>
              <a:pPr defTabSz="182880"/>
              <a:r>
                <a:rPr lang="en-US" sz="800">
                  <a:solidFill>
                    <a:schemeClr val="tx1"/>
                  </a:solidFill>
                  <a:latin typeface="Consolas" panose="020B0609020204030204" pitchFamily="49" charset="0"/>
                </a:rPr>
                <a:t>	</a:t>
              </a:r>
            </a:p>
            <a:p>
              <a:pPr defTabSz="182880"/>
              <a:r>
                <a:rPr lang="en-US" sz="800">
                  <a:solidFill>
                    <a:schemeClr val="tx1"/>
                  </a:solidFill>
                  <a:latin typeface="Consolas" panose="020B0609020204030204" pitchFamily="49" charset="0"/>
                </a:rPr>
                <a:t>	elif </a:t>
              </a:r>
              <a:r>
                <a:rPr lang="en-US" altLang="zh-TW" sz="800">
                  <a:solidFill>
                    <a:schemeClr val="tx1"/>
                  </a:solidFill>
                  <a:latin typeface="Consolas" panose="020B0609020204030204" pitchFamily="49" charset="0"/>
                </a:rPr>
                <a:t>rf_state == “Idle”:</a:t>
              </a:r>
            </a:p>
            <a:p>
              <a:pPr defTabSz="182880"/>
              <a:r>
                <a:rPr lang="en-US" sz="800">
                  <a:solidFill>
                    <a:schemeClr val="tx1"/>
                  </a:solidFill>
                  <a:latin typeface="Consolas" panose="020B0609020204030204" pitchFamily="49" charset="0"/>
                </a:rPr>
                <a:t>		</a:t>
              </a:r>
              <a:r>
                <a:rPr lang="en-US" altLang="zh-TW" sz="800">
                  <a:solidFill>
                    <a:schemeClr val="tx1"/>
                  </a:solidFill>
                  <a:latin typeface="Consolas" panose="020B0609020204030204" pitchFamily="49" charset="0"/>
                </a:rPr>
                <a:t>oldest_key = db.lrange(“QUEUE:LIST:TRANS”, -1, -1)</a:t>
              </a:r>
            </a:p>
            <a:p>
              <a:pPr defTabSz="182880"/>
              <a:r>
                <a:rPr lang="en-US" altLang="zh-TW" sz="800">
                  <a:solidFill>
                    <a:schemeClr val="tx1"/>
                  </a:solidFill>
                  <a:latin typeface="Consolas" panose="020B0609020204030204" pitchFamily="49" charset="0"/>
                </a:rPr>
                <a:t>		db.set(“Transmission”, oldest_key)</a:t>
              </a:r>
            </a:p>
            <a:p>
              <a:pPr defTabSz="182880"/>
              <a:r>
                <a:rPr lang="en-US" altLang="zh-TW" sz="800">
                  <a:solidFill>
                    <a:schemeClr val="tx1"/>
                  </a:solidFill>
                  <a:latin typeface="Consolas" panose="020B0609020204030204" pitchFamily="49" charset="0"/>
                </a:rPr>
                <a:t>		db.set(“RFDEVICE:STATE”, “Busy”)</a:t>
              </a:r>
            </a:p>
            <a:p>
              <a:pPr defTabSz="182880"/>
              <a:endParaRPr lang="en-US" sz="800">
                <a:solidFill>
                  <a:schemeClr val="tx1"/>
                </a:solidFill>
                <a:latin typeface="Consolas" panose="020B0609020204030204" pitchFamily="49" charset="0"/>
              </a:endParaRPr>
            </a:p>
            <a:p>
              <a:pPr defTabSz="182880"/>
              <a:r>
                <a:rPr lang="en-US" sz="800">
                  <a:solidFill>
                    <a:schemeClr val="tx1"/>
                  </a:solidFill>
                  <a:latin typeface="Consolas" panose="020B0609020204030204" pitchFamily="49" charset="0"/>
                </a:rPr>
                <a:t>	elif </a:t>
              </a:r>
              <a:r>
                <a:rPr lang="en-US" altLang="zh-TW" sz="800">
                  <a:solidFill>
                    <a:schemeClr val="tx1"/>
                  </a:solidFill>
                  <a:latin typeface="Consolas" panose="020B0609020204030204" pitchFamily="49" charset="0"/>
                </a:rPr>
                <a:t>sys_state == “Hold”:</a:t>
              </a:r>
            </a:p>
            <a:p>
              <a:pPr defTabSz="182880"/>
              <a:r>
                <a:rPr lang="en-US" sz="800">
                  <a:solidFill>
                    <a:schemeClr val="tx1"/>
                  </a:solidFill>
                  <a:latin typeface="Consolas" panose="020B0609020204030204" pitchFamily="49" charset="0"/>
                </a:rPr>
                <a:t>		time.sleep(0.01)</a:t>
              </a:r>
            </a:p>
            <a:p>
              <a:pPr defTabSz="182880"/>
              <a:endParaRPr lang="en-US" sz="800">
                <a:solidFill>
                  <a:schemeClr val="tx1"/>
                </a:solidFill>
                <a:latin typeface="Consolas" panose="020B0609020204030204" pitchFamily="49" charset="0"/>
              </a:endParaRPr>
            </a:p>
            <a:p>
              <a:pPr defTabSz="182880"/>
              <a:r>
                <a:rPr lang="en-US" sz="800">
                  <a:solidFill>
                    <a:schemeClr val="tx1"/>
                  </a:solidFill>
                  <a:latin typeface="Consolas" panose="020B0609020204030204" pitchFamily="49" charset="0"/>
                </a:rPr>
                <a:t>	else:</a:t>
              </a:r>
            </a:p>
            <a:p>
              <a:pPr defTabSz="182880"/>
              <a:r>
                <a:rPr lang="en-US" sz="800">
                  <a:solidFill>
                    <a:schemeClr val="tx1"/>
                  </a:solidFill>
                  <a:latin typeface="Consolas" panose="020B0609020204030204" pitchFamily="49" charset="0"/>
                </a:rPr>
                <a:t>		time.sleep(0.001)</a:t>
              </a:r>
            </a:p>
          </p:txBody>
        </p:sp>
        <p:sp>
          <p:nvSpPr>
            <p:cNvPr id="31" name="Rectangle 5">
              <a:extLst>
                <a:ext uri="{FF2B5EF4-FFF2-40B4-BE49-F238E27FC236}">
                  <a16:creationId xmlns:a16="http://schemas.microsoft.com/office/drawing/2014/main" id="{7351F57B-E1F3-6B48-A555-1AD361B2EC4F}"/>
                </a:ext>
              </a:extLst>
            </p:cNvPr>
            <p:cNvSpPr/>
            <p:nvPr/>
          </p:nvSpPr>
          <p:spPr>
            <a:xfrm>
              <a:off x="9478358" y="83933"/>
              <a:ext cx="2656820" cy="3748726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  <a:ln>
              <a:noFill/>
            </a:ln>
          </p:spPr>
          <p:style>
            <a:lnRef idx="2">
              <a:schemeClr val="accent3">
                <a:shade val="50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defTabSz="182880"/>
              <a:r>
                <a:rPr lang="en-US" altLang="zh-TW" sz="800">
                  <a:solidFill>
                    <a:schemeClr val="tx1"/>
                  </a:solidFill>
                  <a:latin typeface="Consolas" panose="020B0609020204030204" pitchFamily="49" charset="0"/>
                </a:rPr>
                <a:t>db_key = self.get(“Transmission”)</a:t>
              </a:r>
              <a:endParaRPr lang="en-US" sz="800">
                <a:solidFill>
                  <a:schemeClr val="tx1"/>
                </a:solidFill>
                <a:latin typeface="Consolas" panose="020B0609020204030204" pitchFamily="49" charset="0"/>
              </a:endParaRPr>
            </a:p>
            <a:p>
              <a:pPr defTabSz="182880"/>
              <a:r>
                <a:rPr lang="en-US" sz="800">
                  <a:solidFill>
                    <a:schemeClr val="tx1"/>
                  </a:solidFill>
                  <a:latin typeface="Consolas" panose="020B0609020204030204" pitchFamily="49" charset="0"/>
                </a:rPr>
                <a:t>if db.get(“RFDEVICE:STATE”) != “Busy”:</a:t>
              </a:r>
            </a:p>
            <a:p>
              <a:pPr defTabSz="182880"/>
              <a:r>
                <a:rPr lang="en-US" sz="800">
                  <a:solidFill>
                    <a:schemeClr val="tx1"/>
                  </a:solidFill>
                  <a:latin typeface="Consolas" panose="020B0609020204030204" pitchFamily="49" charset="0"/>
                </a:rPr>
                <a:t>	db.set</a:t>
              </a:r>
              <a:r>
                <a:rPr lang="en-US" altLang="zh-TW" sz="800">
                  <a:solidFill>
                    <a:schemeClr val="tx1"/>
                  </a:solidFill>
                  <a:latin typeface="Consolas" panose="020B0609020204030204" pitchFamily="49" charset="0"/>
                </a:rPr>
                <a:t>(“RFDEVICE:STATE”, “Busy”)</a:t>
              </a:r>
            </a:p>
            <a:p>
              <a:pPr defTabSz="182880"/>
              <a:endParaRPr lang="en-US" sz="800">
                <a:solidFill>
                  <a:schemeClr val="tx1"/>
                </a:solidFill>
                <a:latin typeface="Consolas" panose="020B0609020204030204" pitchFamily="49" charset="0"/>
              </a:endParaRPr>
            </a:p>
            <a:p>
              <a:pPr defTabSz="182880"/>
              <a:r>
                <a:rPr lang="en-US" sz="800">
                  <a:solidFill>
                    <a:schemeClr val="tx1"/>
                  </a:solidFill>
                  <a:latin typeface="Consolas" panose="020B0609020204030204" pitchFamily="49" charset="0"/>
                </a:rPr>
                <a:t>db.set(“Trans:db_key”, trans_msg)</a:t>
              </a:r>
            </a:p>
            <a:p>
              <a:pPr defTabSz="182880"/>
              <a:r>
                <a:rPr lang="en-US" sz="800">
                  <a:solidFill>
                    <a:schemeClr val="tx1"/>
                  </a:solidFill>
                  <a:latin typeface="Consolas" panose="020B0609020204030204" pitchFamily="49" charset="0"/>
                </a:rPr>
                <a:t>db.set(“TRANS:ACK”, “Waiting”)</a:t>
              </a:r>
            </a:p>
            <a:p>
              <a:pPr defTabSz="182880"/>
              <a:endParaRPr lang="en-US" sz="800">
                <a:solidFill>
                  <a:schemeClr val="tx1"/>
                </a:solidFill>
                <a:latin typeface="Consolas" panose="020B0609020204030204" pitchFamily="49" charset="0"/>
              </a:endParaRPr>
            </a:p>
            <a:p>
              <a:pPr defTabSz="182880"/>
              <a:r>
                <a:rPr lang="en-US" sz="800">
                  <a:solidFill>
                    <a:schemeClr val="tx1"/>
                  </a:solidFill>
                  <a:latin typeface="Consolas" panose="020B0609020204030204" pitchFamily="49" charset="0"/>
                </a:rPr>
                <a:t>monitor_key()</a:t>
              </a:r>
            </a:p>
          </p:txBody>
        </p:sp>
        <p:sp>
          <p:nvSpPr>
            <p:cNvPr id="32" name="Rectangle 5">
              <a:extLst>
                <a:ext uri="{FF2B5EF4-FFF2-40B4-BE49-F238E27FC236}">
                  <a16:creationId xmlns:a16="http://schemas.microsoft.com/office/drawing/2014/main" id="{4E034A51-4F61-86F6-252A-512686F0CED7}"/>
                </a:ext>
              </a:extLst>
            </p:cNvPr>
            <p:cNvSpPr/>
            <p:nvPr/>
          </p:nvSpPr>
          <p:spPr>
            <a:xfrm>
              <a:off x="9566820" y="1116623"/>
              <a:ext cx="2568358" cy="2646622"/>
            </a:xfrm>
            <a:prstGeom prst="rect">
              <a:avLst/>
            </a:prstGeom>
            <a:solidFill>
              <a:schemeClr val="accent6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3">
                <a:shade val="50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defTabSz="182880"/>
              <a:r>
                <a:rPr lang="en-US" sz="800">
                  <a:solidFill>
                    <a:schemeClr val="tx1"/>
                  </a:solidFill>
                  <a:latin typeface="Consolas" panose="020B0609020204030204" pitchFamily="49" charset="0"/>
                </a:rPr>
                <a:t>while retry &lt; RETRY_MAX:</a:t>
              </a:r>
            </a:p>
            <a:p>
              <a:pPr defTabSz="182880"/>
              <a:r>
                <a:rPr lang="en-US" sz="800">
                  <a:solidFill>
                    <a:schemeClr val="tx1"/>
                  </a:solidFill>
                  <a:latin typeface="Consolas" panose="020B0609020204030204" pitchFamily="49" charset="0"/>
                </a:rPr>
                <a:t>	if db.get(“RFSYSTEM:STATE”) == “Hold”:</a:t>
              </a:r>
            </a:p>
            <a:p>
              <a:pPr defTabSz="182880"/>
              <a:r>
                <a:rPr lang="en-US" sz="800">
                  <a:solidFill>
                    <a:schemeClr val="tx1"/>
                  </a:solidFill>
                  <a:latin typeface="Consolas" panose="020B0609020204030204" pitchFamily="49" charset="0"/>
                </a:rPr>
                <a:t>		return</a:t>
              </a:r>
            </a:p>
            <a:p>
              <a:pPr defTabSz="182880"/>
              <a:r>
                <a:rPr lang="en-US" sz="800">
                  <a:solidFill>
                    <a:schemeClr val="tx1"/>
                  </a:solidFill>
                  <a:latin typeface="Consolas" panose="020B0609020204030204" pitchFamily="49" charset="0"/>
                </a:rPr>
                <a:t>	elif db.get(“TRANS:ACK”) != “</a:t>
              </a:r>
              <a:r>
                <a:rPr lang="en-US" altLang="zh-TW" sz="800">
                  <a:solidFill>
                    <a:schemeClr val="tx1"/>
                  </a:solidFill>
                  <a:latin typeface="Consolas" panose="020B0609020204030204" pitchFamily="49" charset="0"/>
                </a:rPr>
                <a:t>Waiting</a:t>
              </a:r>
              <a:r>
                <a:rPr lang="en-US" sz="800">
                  <a:solidFill>
                    <a:schemeClr val="tx1"/>
                  </a:solidFill>
                  <a:latin typeface="Consolas" panose="020B0609020204030204" pitchFamily="49" charset="0"/>
                </a:rPr>
                <a:t>”</a:t>
              </a:r>
            </a:p>
            <a:p>
              <a:pPr defTabSz="182880"/>
              <a:r>
                <a:rPr lang="en-US" sz="800">
                  <a:solidFill>
                    <a:schemeClr val="tx1"/>
                  </a:solidFill>
                  <a:latin typeface="Consolas" panose="020B0609020204030204" pitchFamily="49" charset="0"/>
                </a:rPr>
                <a:t>		return</a:t>
              </a:r>
            </a:p>
            <a:p>
              <a:pPr defTabSz="182880"/>
              <a:r>
                <a:rPr lang="en-US" sz="800">
                  <a:solidFill>
                    <a:schemeClr val="tx1"/>
                  </a:solidFill>
                  <a:latin typeface="Consolas" panose="020B0609020204030204" pitchFamily="49" charset="0"/>
                </a:rPr>
                <a:t>	elif wait_time &lt; MAX_TIME:</a:t>
              </a:r>
            </a:p>
            <a:p>
              <a:pPr defTabSz="182880"/>
              <a:r>
                <a:rPr lang="en-US" sz="800">
                  <a:solidFill>
                    <a:schemeClr val="tx1"/>
                  </a:solidFill>
                  <a:latin typeface="Consolas" panose="020B0609020204030204" pitchFamily="49" charset="0"/>
                </a:rPr>
                <a:t>		time.sleep(wait_</a:t>
              </a:r>
              <a:r>
                <a:rPr lang="en-US" altLang="zh-TW" sz="800">
                  <a:solidFill>
                    <a:schemeClr val="tx1"/>
                  </a:solidFill>
                  <a:latin typeface="Consolas" panose="020B0609020204030204" pitchFamily="49" charset="0"/>
                </a:rPr>
                <a:t> interval</a:t>
              </a:r>
              <a:r>
                <a:rPr lang="en-US" sz="800">
                  <a:solidFill>
                    <a:schemeClr val="tx1"/>
                  </a:solidFill>
                  <a:latin typeface="Consolas" panose="020B0609020204030204" pitchFamily="49" charset="0"/>
                </a:rPr>
                <a:t>)</a:t>
              </a:r>
            </a:p>
            <a:p>
              <a:pPr defTabSz="182880"/>
              <a:r>
                <a:rPr lang="en-US" sz="800">
                  <a:solidFill>
                    <a:schemeClr val="tx1"/>
                  </a:solidFill>
                  <a:latin typeface="Consolas" panose="020B0609020204030204" pitchFamily="49" charset="0"/>
                </a:rPr>
                <a:t>		</a:t>
              </a:r>
              <a:r>
                <a:rPr lang="en-US" altLang="zh-TW" sz="800">
                  <a:solidFill>
                    <a:schemeClr val="tx1"/>
                  </a:solidFill>
                  <a:latin typeface="Consolas" panose="020B0609020204030204" pitchFamily="49" charset="0"/>
                </a:rPr>
                <a:t> wait_time += wait_interval</a:t>
              </a:r>
            </a:p>
            <a:p>
              <a:pPr defTabSz="182880"/>
              <a:r>
                <a:rPr lang="en-US" sz="800">
                  <a:solidFill>
                    <a:schemeClr val="tx1"/>
                  </a:solidFill>
                  <a:latin typeface="Consolas" panose="020B0609020204030204" pitchFamily="49" charset="0"/>
                </a:rPr>
                <a:t>	else:</a:t>
              </a:r>
            </a:p>
            <a:p>
              <a:pPr defTabSz="182880"/>
              <a:r>
                <a:rPr lang="en-US" sz="800">
                  <a:solidFill>
                    <a:schemeClr val="tx1"/>
                  </a:solidFill>
                  <a:latin typeface="Consolas" panose="020B0609020204030204" pitchFamily="49" charset="0"/>
                </a:rPr>
                <a:t>		retry += 1</a:t>
              </a:r>
            </a:p>
            <a:p>
              <a:pPr defTabSz="182880"/>
              <a:r>
                <a:rPr lang="en-US" sz="800">
                  <a:solidFill>
                    <a:schemeClr val="tx1"/>
                  </a:solidFill>
                  <a:latin typeface="Consolas" panose="020B0609020204030204" pitchFamily="49" charset="0"/>
                </a:rPr>
                <a:t>		wait_time = 0</a:t>
              </a:r>
            </a:p>
            <a:p>
              <a:pPr defTabSz="182880"/>
              <a:r>
                <a:rPr lang="en-US" sz="800">
                  <a:solidFill>
                    <a:schemeClr val="tx1"/>
                  </a:solidFill>
                  <a:latin typeface="Consolas" panose="020B0609020204030204" pitchFamily="49" charset="0"/>
                </a:rPr>
                <a:t>		db.delete(</a:t>
              </a:r>
              <a:r>
                <a:rPr lang="en-US" altLang="zh-TW" sz="800">
                  <a:solidFill>
                    <a:schemeClr val="tx1"/>
                  </a:solidFill>
                  <a:latin typeface="Consolas" panose="020B0609020204030204" pitchFamily="49" charset="0"/>
                </a:rPr>
                <a:t>“Trans:db_key”</a:t>
              </a:r>
              <a:r>
                <a:rPr lang="en-US" sz="800">
                  <a:solidFill>
                    <a:schemeClr val="tx1"/>
                  </a:solidFill>
                  <a:latin typeface="Consolas" panose="020B0609020204030204" pitchFamily="49" charset="0"/>
                </a:rPr>
                <a:t>)</a:t>
              </a:r>
            </a:p>
            <a:p>
              <a:pPr defTabSz="182880"/>
              <a:r>
                <a:rPr lang="en-US" sz="800">
                  <a:solidFill>
                    <a:schemeClr val="tx1"/>
                  </a:solidFill>
                  <a:latin typeface="Consolas" panose="020B0609020204030204" pitchFamily="49" charset="0"/>
                </a:rPr>
                <a:t>		db.set(</a:t>
              </a:r>
              <a:r>
                <a:rPr lang="en-US" altLang="zh-TW" sz="800">
                  <a:solidFill>
                    <a:schemeClr val="tx1"/>
                  </a:solidFill>
                  <a:latin typeface="Consolas" panose="020B0609020204030204" pitchFamily="49" charset="0"/>
                </a:rPr>
                <a:t>“Trans:db_key”, trans_msg)</a:t>
              </a:r>
            </a:p>
            <a:p>
              <a:pPr defTabSz="182880"/>
              <a:endParaRPr lang="en-US" sz="800">
                <a:solidFill>
                  <a:schemeClr val="tx1"/>
                </a:solidFill>
                <a:latin typeface="Consolas" panose="020B0609020204030204" pitchFamily="49" charset="0"/>
              </a:endParaRPr>
            </a:p>
            <a:p>
              <a:pPr defTabSz="182880"/>
              <a:r>
                <a:rPr lang="en-US" sz="800">
                  <a:solidFill>
                    <a:schemeClr val="tx1"/>
                  </a:solidFill>
                  <a:latin typeface="Consolas" panose="020B0609020204030204" pitchFamily="49" charset="0"/>
                </a:rPr>
                <a:t>abort_monitor()</a:t>
              </a:r>
            </a:p>
          </p:txBody>
        </p:sp>
        <p:sp>
          <p:nvSpPr>
            <p:cNvPr id="33" name="Rectangle 5">
              <a:extLst>
                <a:ext uri="{FF2B5EF4-FFF2-40B4-BE49-F238E27FC236}">
                  <a16:creationId xmlns:a16="http://schemas.microsoft.com/office/drawing/2014/main" id="{413CEC89-9595-FC03-451D-B26F84FBE0F0}"/>
                </a:ext>
              </a:extLst>
            </p:cNvPr>
            <p:cNvSpPr/>
            <p:nvPr/>
          </p:nvSpPr>
          <p:spPr>
            <a:xfrm>
              <a:off x="9650272" y="3003247"/>
              <a:ext cx="2484906" cy="721071"/>
            </a:xfrm>
            <a:prstGeom prst="rect">
              <a:avLst/>
            </a:prstGeom>
            <a:solidFill>
              <a:schemeClr val="accent6">
                <a:lumMod val="60000"/>
                <a:lumOff val="40000"/>
              </a:schemeClr>
            </a:solidFill>
            <a:ln>
              <a:noFill/>
            </a:ln>
          </p:spPr>
          <p:style>
            <a:lnRef idx="2">
              <a:schemeClr val="accent3">
                <a:shade val="50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defTabSz="182880"/>
              <a:r>
                <a:rPr lang="en-US" sz="800">
                  <a:solidFill>
                    <a:schemeClr val="tx1"/>
                  </a:solidFill>
                  <a:latin typeface="Consolas" panose="020B0609020204030204" pitchFamily="49" charset="0"/>
                </a:rPr>
                <a:t>db.set(“RECEPTION”, db_key)</a:t>
              </a:r>
            </a:p>
            <a:p>
              <a:pPr defTabSz="182880"/>
              <a:r>
                <a:rPr lang="en-US" sz="800">
                  <a:solidFill>
                    <a:schemeClr val="tx1"/>
                  </a:solidFill>
                  <a:latin typeface="Consolas" panose="020B0609020204030204" pitchFamily="49" charset="0"/>
                </a:rPr>
                <a:t>db.set(“db_key:ACK”, “Fail”)</a:t>
              </a:r>
            </a:p>
            <a:p>
              <a:pPr defTabSz="182880"/>
              <a:r>
                <a:rPr lang="en-US" sz="800">
                  <a:solidFill>
                    <a:schemeClr val="tx1"/>
                  </a:solidFill>
                  <a:latin typeface="Consolas" panose="020B0609020204030204" pitchFamily="49" charset="0"/>
                </a:rPr>
                <a:t>db.set(“RFDEVICE:STATE”, “Idle”)</a:t>
              </a:r>
            </a:p>
            <a:p>
              <a:pPr defTabSz="182880"/>
              <a:r>
                <a:rPr lang="en-US" sz="800">
                  <a:solidFill>
                    <a:schemeClr val="tx1"/>
                  </a:solidFill>
                  <a:latin typeface="Consolas" panose="020B0609020204030204" pitchFamily="49" charset="0"/>
                </a:rPr>
                <a:t>db.set(“TRANS:ACK”, “Failed”)</a:t>
              </a:r>
            </a:p>
            <a:p>
              <a:pPr defTabSz="182880"/>
              <a:r>
                <a:rPr lang="en-US" sz="800">
                  <a:solidFill>
                    <a:schemeClr val="tx1"/>
                  </a:solidFill>
                  <a:latin typeface="Consolas" panose="020B0609020204030204" pitchFamily="49" charset="0"/>
                </a:rPr>
                <a:t>db.rpop(“QUEUE:LIST:TRANS”)</a:t>
              </a:r>
            </a:p>
          </p:txBody>
        </p:sp>
        <p:sp>
          <p:nvSpPr>
            <p:cNvPr id="35" name="Rectangle 5">
              <a:extLst>
                <a:ext uri="{FF2B5EF4-FFF2-40B4-BE49-F238E27FC236}">
                  <a16:creationId xmlns:a16="http://schemas.microsoft.com/office/drawing/2014/main" id="{4C6FC070-F134-6018-9144-98A5C39A4A7C}"/>
                </a:ext>
              </a:extLst>
            </p:cNvPr>
            <p:cNvSpPr/>
            <p:nvPr/>
          </p:nvSpPr>
          <p:spPr>
            <a:xfrm>
              <a:off x="96341" y="83933"/>
              <a:ext cx="4186902" cy="2827709"/>
            </a:xfrm>
            <a:prstGeom prst="rect">
              <a:avLst/>
            </a:prstGeom>
            <a:solidFill>
              <a:schemeClr val="accent5">
                <a:lumMod val="20000"/>
                <a:lumOff val="80000"/>
              </a:schemeClr>
            </a:solidFill>
            <a:ln>
              <a:noFill/>
            </a:ln>
          </p:spPr>
          <p:style>
            <a:lnRef idx="2">
              <a:schemeClr val="accent3">
                <a:shade val="50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defTabSz="182880"/>
              <a:r>
                <a:rPr lang="en-US" sz="800">
                  <a:solidFill>
                    <a:schemeClr val="tx1"/>
                  </a:solidFill>
                  <a:latin typeface="Consolas" panose="020B0609020204030204" pitchFamily="49" charset="0"/>
                </a:rPr>
                <a:t>if action == “CSI”:</a:t>
              </a:r>
            </a:p>
            <a:p>
              <a:pPr defTabSz="182880"/>
              <a:r>
                <a:rPr lang="en-US" sz="800">
                  <a:solidFill>
                    <a:schemeClr val="tx1"/>
                  </a:solidFill>
                  <a:latin typeface="Consolas" panose="020B0609020204030204" pitchFamily="49" charset="0"/>
                </a:rPr>
                <a:t>	csi_key = db.get(“SYSTEM:ACTION:CSI”)</a:t>
              </a:r>
            </a:p>
            <a:p>
              <a:pPr defTabSz="182880"/>
              <a:r>
                <a:rPr lang="en-US" sz="800">
                  <a:solidFill>
                    <a:schemeClr val="tx1"/>
                  </a:solidFill>
                  <a:latin typeface="Consolas" panose="020B0609020204030204" pitchFamily="49" charset="0"/>
                </a:rPr>
                <a:t>	db.lpush(“SYSTEM:CSI:QUEUE”, </a:t>
              </a:r>
              <a:r>
                <a:rPr lang="en-US" altLang="zh-TW" sz="800">
                  <a:solidFill>
                    <a:schemeClr val="tx1"/>
                  </a:solidFill>
                  <a:latin typeface="Consolas" panose="020B0609020204030204" pitchFamily="49" charset="0"/>
                </a:rPr>
                <a:t>csi_key</a:t>
              </a:r>
              <a:r>
                <a:rPr lang="en-US" sz="800">
                  <a:solidFill>
                    <a:schemeClr val="tx1"/>
                  </a:solidFill>
                  <a:latin typeface="Consolas" panose="020B0609020204030204" pitchFamily="49" charset="0"/>
                </a:rPr>
                <a:t>)</a:t>
              </a:r>
            </a:p>
            <a:p>
              <a:pPr defTabSz="182880"/>
              <a:r>
                <a:rPr lang="en-US" sz="800">
                  <a:solidFill>
                    <a:schemeClr val="tx1"/>
                  </a:solidFill>
                  <a:latin typeface="Consolas" panose="020B0609020204030204" pitchFamily="49" charset="0"/>
                </a:rPr>
                <a:t>	if len(db.lrange(“SYSTEM:CSI:QUEUE”, 0, -1)) &gt; CSI_Q_MAX:</a:t>
              </a:r>
            </a:p>
            <a:p>
              <a:pPr defTabSz="182880"/>
              <a:r>
                <a:rPr lang="en-US" sz="800">
                  <a:solidFill>
                    <a:schemeClr val="tx1"/>
                  </a:solidFill>
                  <a:latin typeface="Consolas" panose="020B0609020204030204" pitchFamily="49" charset="0"/>
                </a:rPr>
                <a:t>		oldest_csi_key = </a:t>
              </a:r>
              <a:r>
                <a:rPr lang="en-US" altLang="zh-TW" sz="800">
                  <a:solidFill>
                    <a:schemeClr val="tx1"/>
                  </a:solidFill>
                  <a:latin typeface="Consolas" panose="020B0609020204030204" pitchFamily="49" charset="0"/>
                </a:rPr>
                <a:t>db.rpop(“SYSTEM:CSI:QUEUE”)</a:t>
              </a:r>
            </a:p>
            <a:p>
              <a:pPr defTabSz="182880"/>
              <a:r>
                <a:rPr lang="en-US" sz="800">
                  <a:solidFill>
                    <a:schemeClr val="tx1"/>
                  </a:solidFill>
                  <a:latin typeface="Consolas" panose="020B0609020204030204" pitchFamily="49" charset="0"/>
                </a:rPr>
                <a:t>		db.delete(</a:t>
              </a:r>
              <a:r>
                <a:rPr lang="en-US" altLang="zh-TW" sz="800">
                  <a:solidFill>
                    <a:schemeClr val="tx1"/>
                  </a:solidFill>
                  <a:latin typeface="Consolas" panose="020B0609020204030204" pitchFamily="49" charset="0"/>
                </a:rPr>
                <a:t>oldest_csi_key</a:t>
              </a:r>
              <a:r>
                <a:rPr lang="en-US" sz="800">
                  <a:solidFill>
                    <a:schemeClr val="tx1"/>
                  </a:solidFill>
                  <a:latin typeface="Consolas" panose="020B0609020204030204" pitchFamily="49" charset="0"/>
                </a:rPr>
                <a:t>)</a:t>
              </a:r>
            </a:p>
            <a:p>
              <a:pPr defTabSz="182880"/>
              <a:r>
                <a:rPr lang="en-US" sz="800">
                  <a:solidFill>
                    <a:schemeClr val="tx1"/>
                  </a:solidFill>
                  <a:latin typeface="Consolas" panose="020B0609020204030204" pitchFamily="49" charset="0"/>
                </a:rPr>
                <a:t>		detect_interference()</a:t>
              </a:r>
            </a:p>
          </p:txBody>
        </p:sp>
        <p:sp>
          <p:nvSpPr>
            <p:cNvPr id="36" name="Rectangle 5">
              <a:extLst>
                <a:ext uri="{FF2B5EF4-FFF2-40B4-BE49-F238E27FC236}">
                  <a16:creationId xmlns:a16="http://schemas.microsoft.com/office/drawing/2014/main" id="{B9844FD0-75E9-1256-A849-A6F65F4B0A1F}"/>
                </a:ext>
              </a:extLst>
            </p:cNvPr>
            <p:cNvSpPr/>
            <p:nvPr/>
          </p:nvSpPr>
          <p:spPr>
            <a:xfrm>
              <a:off x="96340" y="2911642"/>
              <a:ext cx="4186902" cy="3902531"/>
            </a:xfrm>
            <a:prstGeom prst="rect">
              <a:avLst/>
            </a:prstGeom>
            <a:solidFill>
              <a:schemeClr val="accent5">
                <a:lumMod val="20000"/>
                <a:lumOff val="80000"/>
              </a:schemeClr>
            </a:solidFill>
            <a:ln>
              <a:noFill/>
            </a:ln>
          </p:spPr>
          <p:style>
            <a:lnRef idx="2">
              <a:schemeClr val="accent3">
                <a:shade val="50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defTabSz="182880"/>
              <a:r>
                <a:rPr lang="en-US" sz="800">
                  <a:solidFill>
                    <a:schemeClr val="tx1"/>
                  </a:solidFill>
                  <a:latin typeface="Consolas" panose="020B0609020204030204" pitchFamily="49" charset="0"/>
                </a:rPr>
                <a:t>elif action == “HOP”:</a:t>
              </a:r>
            </a:p>
            <a:p>
              <a:pPr defTabSz="182880"/>
              <a:r>
                <a:rPr lang="en-US" sz="800">
                  <a:solidFill>
                    <a:schemeClr val="tx1"/>
                  </a:solidFill>
                  <a:latin typeface="Consolas" panose="020B0609020204030204" pitchFamily="49" charset="0"/>
                </a:rPr>
                <a:t>	action_to_hop()</a:t>
              </a:r>
            </a:p>
          </p:txBody>
        </p:sp>
        <p:sp>
          <p:nvSpPr>
            <p:cNvPr id="37" name="Rectangle 5">
              <a:extLst>
                <a:ext uri="{FF2B5EF4-FFF2-40B4-BE49-F238E27FC236}">
                  <a16:creationId xmlns:a16="http://schemas.microsoft.com/office/drawing/2014/main" id="{92933343-09AA-0E9D-7185-5EFCE31A8213}"/>
                </a:ext>
              </a:extLst>
            </p:cNvPr>
            <p:cNvSpPr/>
            <p:nvPr/>
          </p:nvSpPr>
          <p:spPr>
            <a:xfrm>
              <a:off x="4283242" y="4685121"/>
              <a:ext cx="3641789" cy="2066743"/>
            </a:xfrm>
            <a:prstGeom prst="rect">
              <a:avLst/>
            </a:prstGeom>
            <a:solidFill>
              <a:schemeClr val="accent5">
                <a:lumMod val="20000"/>
                <a:lumOff val="80000"/>
              </a:schemeClr>
            </a:solidFill>
            <a:ln>
              <a:noFill/>
            </a:ln>
          </p:spPr>
          <p:style>
            <a:lnRef idx="2">
              <a:schemeClr val="accent3">
                <a:shade val="50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defTabSz="182880"/>
              <a:r>
                <a:rPr lang="en-US" sz="800">
                  <a:solidFill>
                    <a:schemeClr val="tx1"/>
                  </a:solidFill>
                  <a:latin typeface="Consolas" panose="020B0609020204030204" pitchFamily="49" charset="0"/>
                </a:rPr>
                <a:t>elif action == “CEHCK”:</a:t>
              </a:r>
            </a:p>
            <a:p>
              <a:pPr defTabSz="182880"/>
              <a:r>
                <a:rPr lang="en-US" sz="800">
                  <a:solidFill>
                    <a:schemeClr val="tx1"/>
                  </a:solidFill>
                  <a:latin typeface="Consolas" panose="020B0609020204030204" pitchFamily="49" charset="0"/>
                </a:rPr>
                <a:t>	if msg[“data”] != “expired”:</a:t>
              </a:r>
            </a:p>
            <a:p>
              <a:pPr defTabSz="182880"/>
              <a:r>
                <a:rPr lang="en-US" sz="800">
                  <a:solidFill>
                    <a:schemeClr val="tx1"/>
                  </a:solidFill>
                  <a:latin typeface="Consolas" panose="020B0609020204030204" pitchFamily="49" charset="0"/>
                </a:rPr>
                <a:t>		return</a:t>
              </a:r>
            </a:p>
            <a:p>
              <a:pPr defTabSz="182880"/>
              <a:r>
                <a:rPr lang="en-US" sz="800">
                  <a:solidFill>
                    <a:schemeClr val="tx1"/>
                  </a:solidFill>
                  <a:latin typeface="Consolas" panose="020B0609020204030204" pitchFamily="49" charset="0"/>
                </a:rPr>
                <a:t>	if db.get(“SYSTEM:ACTION:CHECK”) is not None:</a:t>
              </a:r>
            </a:p>
            <a:p>
              <a:pPr defTabSz="182880"/>
              <a:r>
                <a:rPr lang="en-US" sz="800">
                  <a:solidFill>
                    <a:schemeClr val="tx1"/>
                  </a:solidFill>
                  <a:latin typeface="Consolas" panose="020B0609020204030204" pitchFamily="49" charset="0"/>
                </a:rPr>
                <a:t>		return</a:t>
              </a:r>
            </a:p>
            <a:p>
              <a:pPr defTabSz="182880"/>
              <a:endParaRPr lang="en-US" sz="800">
                <a:solidFill>
                  <a:schemeClr val="tx1"/>
                </a:solidFill>
                <a:latin typeface="Consolas" panose="020B0609020204030204" pitchFamily="49" charset="0"/>
              </a:endParaRPr>
            </a:p>
            <a:p>
              <a:pPr defTabSz="182880"/>
              <a:r>
                <a:rPr lang="en-US" sz="800">
                  <a:solidFill>
                    <a:schemeClr val="tx1"/>
                  </a:solidFill>
                  <a:latin typeface="Consolas" panose="020B0609020204030204" pitchFamily="49" charset="0"/>
                </a:rPr>
                <a:t>	if db.get(“HOPPING_CTRL_ACT_NEW_FREQ_ACK”) is not None:</a:t>
              </a:r>
            </a:p>
            <a:p>
              <a:pPr defTabSz="182880"/>
              <a:r>
                <a:rPr lang="en-US" sz="800">
                  <a:solidFill>
                    <a:schemeClr val="tx1"/>
                  </a:solidFill>
                  <a:latin typeface="Consolas" panose="020B0609020204030204" pitchFamily="49" charset="0"/>
                </a:rPr>
                <a:t>		return</a:t>
              </a:r>
            </a:p>
            <a:p>
              <a:pPr defTabSz="182880"/>
              <a:r>
                <a:rPr lang="en-US" sz="800">
                  <a:solidFill>
                    <a:schemeClr val="tx1"/>
                  </a:solidFill>
                  <a:latin typeface="Consolas" panose="020B0609020204030204" pitchFamily="49" charset="0"/>
                </a:rPr>
                <a:t>	else:</a:t>
              </a:r>
            </a:p>
            <a:p>
              <a:pPr defTabSz="182880"/>
              <a:r>
                <a:rPr lang="en-US" sz="800">
                  <a:solidFill>
                    <a:schemeClr val="tx1"/>
                  </a:solidFill>
                  <a:latin typeface="Consolas" panose="020B0609020204030204" pitchFamily="49" charset="0"/>
                </a:rPr>
                <a:t>		old_freq = db.get(“SYSTEM:FREQ”)</a:t>
              </a:r>
            </a:p>
            <a:p>
              <a:pPr defTabSz="182880"/>
              <a:r>
                <a:rPr lang="en-US" sz="800">
                  <a:solidFill>
                    <a:schemeClr val="tx1"/>
                  </a:solidFill>
                  <a:latin typeface="Consolas" panose="020B0609020204030204" pitchFamily="49" charset="0"/>
                </a:rPr>
                <a:t>		db.hset(“TuneRF:11”, “Freq”, old_freq)</a:t>
              </a:r>
            </a:p>
            <a:p>
              <a:pPr defTabSz="182880"/>
              <a:r>
                <a:rPr lang="en-US" sz="800">
                  <a:solidFill>
                    <a:schemeClr val="tx1"/>
                  </a:solidFill>
                  <a:latin typeface="Consolas" panose="020B0609020204030204" pitchFamily="49" charset="0"/>
                </a:rPr>
                <a:t>		db.set(“RFSYSTEM:STATE”, “Free”)</a:t>
              </a:r>
            </a:p>
            <a:p>
              <a:pPr defTabSz="182880"/>
              <a:r>
                <a:rPr lang="en-US" sz="800">
                  <a:solidFill>
                    <a:schemeClr val="tx1"/>
                  </a:solidFill>
                  <a:latin typeface="Consolas" panose="020B0609020204030204" pitchFamily="49" charset="0"/>
                </a:rPr>
                <a:t>		db.set(“RFDEVICE:STATE”, “Idle”)</a:t>
              </a:r>
            </a:p>
            <a:p>
              <a:pPr defTabSz="182880"/>
              <a:endParaRPr lang="en-US" sz="800">
                <a:solidFill>
                  <a:schemeClr val="tx1"/>
                </a:solidFill>
                <a:latin typeface="Consolas" panose="020B0609020204030204" pitchFamily="49" charset="0"/>
              </a:endParaRPr>
            </a:p>
            <a:p>
              <a:pPr defTabSz="182880"/>
              <a:r>
                <a:rPr lang="en-US" sz="800">
                  <a:solidFill>
                    <a:schemeClr val="tx1"/>
                  </a:solidFill>
                  <a:latin typeface="Consolas" panose="020B0609020204030204" pitchFamily="49" charset="0"/>
                </a:rPr>
                <a:t>elif action == “DEBUG”:</a:t>
              </a:r>
            </a:p>
            <a:p>
              <a:pPr defTabSz="182880"/>
              <a:r>
                <a:rPr lang="en-US" altLang="zh-TW" sz="800">
                  <a:solidFill>
                    <a:schemeClr val="tx1"/>
                  </a:solidFill>
                  <a:latin typeface="Consolas" panose="020B0609020204030204" pitchFamily="49" charset="0"/>
                </a:rPr>
                <a:t>	detect_interference()</a:t>
              </a:r>
            </a:p>
            <a:p>
              <a:pPr defTabSz="182880"/>
              <a:endParaRPr lang="en-US" sz="800">
                <a:solidFill>
                  <a:schemeClr val="tx1"/>
                </a:solidFill>
                <a:latin typeface="Consolas" panose="020B0609020204030204" pitchFamily="49" charset="0"/>
              </a:endParaRPr>
            </a:p>
          </p:txBody>
        </p:sp>
        <p:sp>
          <p:nvSpPr>
            <p:cNvPr id="38" name="Rectangle 5">
              <a:extLst>
                <a:ext uri="{FF2B5EF4-FFF2-40B4-BE49-F238E27FC236}">
                  <a16:creationId xmlns:a16="http://schemas.microsoft.com/office/drawing/2014/main" id="{D98B896F-AC76-61BE-04F4-1CCC5C3CAC70}"/>
                </a:ext>
              </a:extLst>
            </p:cNvPr>
            <p:cNvSpPr/>
            <p:nvPr/>
          </p:nvSpPr>
          <p:spPr>
            <a:xfrm>
              <a:off x="548695" y="1017853"/>
              <a:ext cx="3734547" cy="1829622"/>
            </a:xfrm>
            <a:prstGeom prst="rect">
              <a:avLst/>
            </a:prstGeom>
            <a:solidFill>
              <a:schemeClr val="accent5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3">
                <a:shade val="50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defTabSz="182880"/>
              <a:r>
                <a:rPr lang="en-US" sz="800">
                  <a:solidFill>
                    <a:schemeClr val="tx1"/>
                  </a:solidFill>
                  <a:latin typeface="Consolas" panose="020B0609020204030204" pitchFamily="49" charset="0"/>
                </a:rPr>
                <a:t>if detected:</a:t>
              </a:r>
            </a:p>
            <a:p>
              <a:pPr defTabSz="182880"/>
              <a:r>
                <a:rPr lang="en-US" sz="800">
                  <a:solidFill>
                    <a:schemeClr val="tx1"/>
                  </a:solidFill>
                  <a:latin typeface="Consolas" panose="020B0609020204030204" pitchFamily="49" charset="0"/>
                </a:rPr>
                <a:t>	db.hset(“SYSTEM:HOPPING”, “Stage”, 2)</a:t>
              </a:r>
            </a:p>
            <a:p>
              <a:pPr defTabSz="182880"/>
              <a:r>
                <a:rPr lang="en-US" sz="800">
                  <a:solidFill>
                    <a:schemeClr val="tx1"/>
                  </a:solidFill>
                  <a:latin typeface="Consolas" panose="020B0609020204030204" pitchFamily="49" charset="0"/>
                </a:rPr>
                <a:t>	db.set(“SYSTEM:STATE”, “Hold”)</a:t>
              </a:r>
            </a:p>
            <a:p>
              <a:pPr defTabSz="182880"/>
              <a:r>
                <a:rPr lang="en-US" sz="800">
                  <a:solidFill>
                    <a:schemeClr val="tx1"/>
                  </a:solidFill>
                  <a:latin typeface="Consolas" panose="020B0609020204030204" pitchFamily="49" charset="0"/>
                </a:rPr>
                <a:t>	hop_to = 2442000000</a:t>
              </a:r>
            </a:p>
            <a:p>
              <a:pPr defTabSz="182880"/>
              <a:r>
                <a:rPr lang="en-US" sz="800">
                  <a:solidFill>
                    <a:schemeClr val="tx1"/>
                  </a:solidFill>
                  <a:latin typeface="Consolas" panose="020B0609020204030204" pitchFamily="49" charset="0"/>
                </a:rPr>
                <a:t>	pre_freq = db.get(“SYSTEM:FREQ”)</a:t>
              </a:r>
            </a:p>
            <a:p>
              <a:pPr defTabSz="182880"/>
              <a:r>
                <a:rPr lang="en-US" sz="800">
                  <a:solidFill>
                    <a:schemeClr val="tx1"/>
                  </a:solidFill>
                  <a:latin typeface="Consolas" panose="020B0609020204030204" pitchFamily="49" charset="0"/>
                </a:rPr>
                <a:t>	</a:t>
              </a:r>
            </a:p>
            <a:p>
              <a:pPr defTabSz="182880"/>
              <a:r>
                <a:rPr lang="en-US" sz="800">
                  <a:solidFill>
                    <a:schemeClr val="tx1"/>
                  </a:solidFill>
                  <a:latin typeface="Consolas" panose="020B0609020204030204" pitchFamily="49" charset="0"/>
                </a:rPr>
                <a:t>	for i in range(5):</a:t>
              </a:r>
            </a:p>
            <a:p>
              <a:pPr defTabSz="182880"/>
              <a:r>
                <a:rPr lang="en-US" sz="800">
                  <a:solidFill>
                    <a:schemeClr val="tx1"/>
                  </a:solidFill>
                  <a:latin typeface="Consolas" panose="020B0609020204030204" pitchFamily="49" charset="0"/>
                </a:rPr>
                <a:t>		db.hmset(“SYSTEM:HOPPING”, {“Role”: “Initiator”, “Stage”: 3, “Freq”: hop_to, “PreFreq”: pre_freq})</a:t>
              </a:r>
            </a:p>
            <a:p>
              <a:pPr defTabSz="182880"/>
              <a:r>
                <a:rPr lang="en-US" sz="800">
                  <a:solidFill>
                    <a:schemeClr val="tx1"/>
                  </a:solidFill>
                  <a:latin typeface="Consolas" panose="020B0609020204030204" pitchFamily="49" charset="0"/>
                </a:rPr>
                <a:t>		db.set(“Trans:FREQ:HOP”, {“ControlType”: “HOP”, “ControlAction”: hop_to}, “Role”: “Follower”)</a:t>
              </a:r>
            </a:p>
            <a:p>
              <a:pPr defTabSz="182880"/>
              <a:r>
                <a:rPr lang="en-US" sz="800">
                  <a:solidFill>
                    <a:schemeClr val="tx1"/>
                  </a:solidFill>
                  <a:latin typeface="Consolas" panose="020B0609020204030204" pitchFamily="49" charset="0"/>
                </a:rPr>
                <a:t>		time.sleep(0.01)</a:t>
              </a:r>
            </a:p>
            <a:p>
              <a:pPr defTabSz="182880"/>
              <a:r>
                <a:rPr lang="en-US" sz="800">
                  <a:solidFill>
                    <a:schemeClr val="tx1"/>
                  </a:solidFill>
                  <a:latin typeface="Consolas" panose="020B0609020204030204" pitchFamily="49" charset="0"/>
                </a:rPr>
                <a:t>	db.hmset(“TuneRF:11”, {“Freq”: hop_to, “Gain”: 0.4})</a:t>
              </a:r>
            </a:p>
            <a:p>
              <a:pPr defTabSz="182880"/>
              <a:r>
                <a:rPr lang="en-US" sz="800">
                  <a:solidFill>
                    <a:schemeClr val="tx1"/>
                  </a:solidFill>
                  <a:latin typeface="Consolas" panose="020B0609020204030204" pitchFamily="49" charset="0"/>
                </a:rPr>
                <a:t>	db.set(“SYSTEM:ACTION:CHECK”, “True”, ex=10)</a:t>
              </a:r>
            </a:p>
            <a:p>
              <a:pPr defTabSz="182880"/>
              <a:r>
                <a:rPr lang="en-US" sz="800">
                  <a:solidFill>
                    <a:schemeClr val="tx1"/>
                  </a:solidFill>
                  <a:latin typeface="Consolas" panose="020B0609020204030204" pitchFamily="49" charset="0"/>
                </a:rPr>
                <a:t>	</a:t>
              </a:r>
            </a:p>
            <a:p>
              <a:pPr defTabSz="182880"/>
              <a:endParaRPr lang="en-US" sz="800">
                <a:solidFill>
                  <a:schemeClr val="tx1"/>
                </a:solidFill>
                <a:latin typeface="Consolas" panose="020B0609020204030204" pitchFamily="49" charset="0"/>
              </a:endParaRPr>
            </a:p>
          </p:txBody>
        </p:sp>
        <p:sp>
          <p:nvSpPr>
            <p:cNvPr id="39" name="Rectangle 5">
              <a:extLst>
                <a:ext uri="{FF2B5EF4-FFF2-40B4-BE49-F238E27FC236}">
                  <a16:creationId xmlns:a16="http://schemas.microsoft.com/office/drawing/2014/main" id="{E728C183-FB76-7B35-A254-341B6EFE73DA}"/>
                </a:ext>
              </a:extLst>
            </p:cNvPr>
            <p:cNvSpPr/>
            <p:nvPr/>
          </p:nvSpPr>
          <p:spPr>
            <a:xfrm>
              <a:off x="379545" y="3204000"/>
              <a:ext cx="3903697" cy="3547864"/>
            </a:xfrm>
            <a:prstGeom prst="rect">
              <a:avLst/>
            </a:prstGeom>
            <a:solidFill>
              <a:schemeClr val="accent5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3">
                <a:shade val="50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defTabSz="182880"/>
              <a:r>
                <a:rPr lang="en-US" sz="800">
                  <a:solidFill>
                    <a:schemeClr val="tx1"/>
                  </a:solidFill>
                  <a:latin typeface="Consolas" panose="020B0609020204030204" pitchFamily="49" charset="0"/>
                </a:rPr>
                <a:t>role = db.hget(“SYSTEM:HOPPING”, “Role”)</a:t>
              </a:r>
            </a:p>
            <a:p>
              <a:pPr defTabSz="182880"/>
              <a:r>
                <a:rPr lang="en-US" sz="800">
                  <a:solidFill>
                    <a:schemeClr val="tx1"/>
                  </a:solidFill>
                  <a:latin typeface="Consolas" panose="020B0609020204030204" pitchFamily="49" charset="0"/>
                </a:rPr>
                <a:t>if role == “Initiator”:</a:t>
              </a:r>
            </a:p>
            <a:p>
              <a:pPr defTabSz="182880"/>
              <a:r>
                <a:rPr lang="en-US" sz="800">
                  <a:solidFill>
                    <a:schemeClr val="tx1"/>
                  </a:solidFill>
                  <a:latin typeface="Consolas" panose="020B0609020204030204" pitchFamily="49" charset="0"/>
                </a:rPr>
                <a:t>	if payload[“ControlAction”] == “HOLD:ACK”:</a:t>
              </a:r>
            </a:p>
            <a:p>
              <a:pPr defTabSz="182880"/>
              <a:r>
                <a:rPr lang="en-US" sz="800">
                  <a:solidFill>
                    <a:schemeClr val="tx1"/>
                  </a:solidFill>
                  <a:latin typeface="Consolas" panose="020B0609020204030204" pitchFamily="49" charset="0"/>
                </a:rPr>
                <a:t>		</a:t>
              </a:r>
              <a:r>
                <a:rPr lang="en-US" altLang="zh-TW" sz="800">
                  <a:solidFill>
                    <a:schemeClr val="tx1"/>
                  </a:solidFill>
                  <a:latin typeface="Consolas" panose="020B0609020204030204" pitchFamily="49" charset="0"/>
                </a:rPr>
                <a:t>hop_to = db.hget(“SYSTEM:HOPPING”, “Freq”)</a:t>
              </a:r>
              <a:endParaRPr lang="en-US" sz="800">
                <a:solidFill>
                  <a:schemeClr val="tx1"/>
                </a:solidFill>
                <a:latin typeface="Consolas" panose="020B0609020204030204" pitchFamily="49" charset="0"/>
              </a:endParaRPr>
            </a:p>
            <a:p>
              <a:pPr defTabSz="182880"/>
              <a:r>
                <a:rPr lang="en-US" sz="800">
                  <a:solidFill>
                    <a:schemeClr val="tx1"/>
                  </a:solidFill>
                  <a:latin typeface="Consolas" panose="020B0609020204030204" pitchFamily="49" charset="0"/>
                </a:rPr>
                <a:t>		db.hset(“TuneRF:11”, Freq, hop_to)</a:t>
              </a:r>
            </a:p>
            <a:p>
              <a:pPr defTabSz="182880"/>
              <a:r>
                <a:rPr lang="en-US" sz="800">
                  <a:solidFill>
                    <a:schemeClr val="tx1"/>
                  </a:solidFill>
                  <a:latin typeface="Consolas" panose="020B0609020204030204" pitchFamily="49" charset="0"/>
                </a:rPr>
                <a:t>		for i in range(5):</a:t>
              </a:r>
            </a:p>
            <a:p>
              <a:pPr defTabSz="182880"/>
              <a:r>
                <a:rPr lang="en-US" sz="800">
                  <a:solidFill>
                    <a:schemeClr val="tx1"/>
                  </a:solidFill>
                  <a:latin typeface="Consolas" panose="020B0609020204030204" pitchFamily="49" charset="0"/>
                </a:rPr>
                <a:t>			db.set(“Trans:FREQ:HOP”, json)</a:t>
              </a:r>
            </a:p>
            <a:p>
              <a:pPr defTabSz="182880"/>
              <a:r>
                <a:rPr lang="en-US" sz="800">
                  <a:solidFill>
                    <a:schemeClr val="tx1"/>
                  </a:solidFill>
                  <a:latin typeface="Consolas" panose="020B0609020204030204" pitchFamily="49" charset="0"/>
                </a:rPr>
                <a:t>			hset(“SYSTEM:HOPPING”, Stage, 8)</a:t>
              </a:r>
            </a:p>
            <a:p>
              <a:pPr defTabSz="182880"/>
              <a:r>
                <a:rPr lang="en-US" sz="800">
                  <a:solidFill>
                    <a:schemeClr val="tx1"/>
                  </a:solidFill>
                  <a:latin typeface="Consolas" panose="020B0609020204030204" pitchFamily="49" charset="0"/>
                </a:rPr>
                <a:t>			time.sleep(0.01)</a:t>
              </a:r>
            </a:p>
            <a:p>
              <a:pPr defTabSz="182880"/>
              <a:r>
                <a:rPr lang="en-US" sz="800">
                  <a:solidFill>
                    <a:schemeClr val="tx1"/>
                  </a:solidFill>
                  <a:latin typeface="Consolas" panose="020B0609020204030204" pitchFamily="49" charset="0"/>
                </a:rPr>
                <a:t>	elif </a:t>
              </a:r>
              <a:r>
                <a:rPr lang="en-US" altLang="zh-TW" sz="800">
                  <a:solidFill>
                    <a:schemeClr val="tx1"/>
                  </a:solidFill>
                  <a:latin typeface="Consolas" panose="020B0609020204030204" pitchFamily="49" charset="0"/>
                </a:rPr>
                <a:t>payload[“ControlAction”] == “NEW:FREQ:ACK”:</a:t>
              </a:r>
            </a:p>
            <a:p>
              <a:pPr defTabSz="182880"/>
              <a:r>
                <a:rPr lang="en-US" sz="800">
                  <a:solidFill>
                    <a:schemeClr val="tx1"/>
                  </a:solidFill>
                  <a:latin typeface="Consolas" panose="020B0609020204030204" pitchFamily="49" charset="0"/>
                </a:rPr>
                <a:t>		db.delete(“SYSTEM:ACTION:CHECK”)</a:t>
              </a:r>
            </a:p>
            <a:p>
              <a:pPr defTabSz="182880"/>
              <a:r>
                <a:rPr lang="en-US" sz="800">
                  <a:solidFill>
                    <a:schemeClr val="tx1"/>
                  </a:solidFill>
                  <a:latin typeface="Consolas" panose="020B0609020204030204" pitchFamily="49" charset="0"/>
                </a:rPr>
                <a:t>		db.set(“RFSYSTEM:STATE”, “Free”)		</a:t>
              </a:r>
            </a:p>
            <a:p>
              <a:pPr defTabSz="182880"/>
              <a:r>
                <a:rPr lang="en-US" sz="800">
                  <a:solidFill>
                    <a:schemeClr val="tx1"/>
                  </a:solidFill>
                  <a:latin typeface="Consolas" panose="020B0609020204030204" pitchFamily="49" charset="0"/>
                </a:rPr>
                <a:t>else:</a:t>
              </a:r>
            </a:p>
            <a:p>
              <a:pPr defTabSz="182880"/>
              <a:r>
                <a:rPr lang="en-US" sz="800">
                  <a:solidFill>
                    <a:schemeClr val="tx1"/>
                  </a:solidFill>
                  <a:latin typeface="Consolas" panose="020B0609020204030204" pitchFamily="49" charset="0"/>
                </a:rPr>
                <a:t>	if stage == 4:</a:t>
              </a:r>
            </a:p>
            <a:p>
              <a:pPr defTabSz="182880"/>
              <a:r>
                <a:rPr lang="en-US" sz="800">
                  <a:solidFill>
                    <a:schemeClr val="tx1"/>
                  </a:solidFill>
                  <a:latin typeface="Consolas" panose="020B0609020204030204" pitchFamily="49" charset="0"/>
                </a:rPr>
                <a:t>		pre_fre = db.get(“SYSTEM:FREQ”)</a:t>
              </a:r>
            </a:p>
            <a:p>
              <a:pPr defTabSz="182880"/>
              <a:r>
                <a:rPr lang="en-US" sz="800">
                  <a:solidFill>
                    <a:schemeClr val="tx1"/>
                  </a:solidFill>
                  <a:latin typeface="Consolas" panose="020B0609020204030204" pitchFamily="49" charset="0"/>
                </a:rPr>
                <a:t>		db.set(“Trans:FREQ:HOP”, json)</a:t>
              </a:r>
            </a:p>
            <a:p>
              <a:pPr defTabSz="182880"/>
              <a:r>
                <a:rPr lang="en-US" sz="800">
                  <a:solidFill>
                    <a:schemeClr val="tx1"/>
                  </a:solidFill>
                  <a:latin typeface="Consolas" panose="020B0609020204030204" pitchFamily="49" charset="0"/>
                </a:rPr>
                <a:t>		db.hset(“SYSTEM:HOPPING”, Stage, 5)</a:t>
              </a:r>
            </a:p>
            <a:p>
              <a:pPr defTabSz="182880"/>
              <a:r>
                <a:rPr lang="en-US" sz="800">
                  <a:solidFill>
                    <a:schemeClr val="tx1"/>
                  </a:solidFill>
                  <a:latin typeface="Consolas" panose="020B0609020204030204" pitchFamily="49" charset="0"/>
                </a:rPr>
                <a:t>		time.sleep(wait_time)</a:t>
              </a:r>
            </a:p>
            <a:p>
              <a:pPr defTabSz="182880"/>
              <a:r>
                <a:rPr lang="en-US" sz="800">
                  <a:solidFill>
                    <a:schemeClr val="tx1"/>
                  </a:solidFill>
                  <a:latin typeface="Consolas" panose="020B0609020204030204" pitchFamily="49" charset="0"/>
                </a:rPr>
                <a:t>		db.hset(“TuneRF:11”, Freq, hop_to)</a:t>
              </a:r>
            </a:p>
            <a:p>
              <a:pPr defTabSz="182880"/>
              <a:r>
                <a:rPr lang="en-US" sz="800">
                  <a:solidFill>
                    <a:schemeClr val="tx1"/>
                  </a:solidFill>
                  <a:latin typeface="Consolas" panose="020B0609020204030204" pitchFamily="49" charset="0"/>
                </a:rPr>
                <a:t>		db.hmset(“SYSTEM:HOPPING”, {Stage: 6, PreFreq: pre_freq, Freq: payload[“ControlAction”]})</a:t>
              </a:r>
            </a:p>
            <a:p>
              <a:pPr defTabSz="182880"/>
              <a:r>
                <a:rPr lang="en-US" sz="800">
                  <a:solidFill>
                    <a:schemeClr val="tx1"/>
                  </a:solidFill>
                  <a:latin typeface="Consolas" panose="020B0609020204030204" pitchFamily="49" charset="0"/>
                </a:rPr>
                <a:t>	elif stage == 6:</a:t>
              </a:r>
            </a:p>
            <a:p>
              <a:pPr defTabSz="182880"/>
              <a:r>
                <a:rPr lang="en-US" sz="800">
                  <a:solidFill>
                    <a:schemeClr val="tx1"/>
                  </a:solidFill>
                  <a:latin typeface="Consolas" panose="020B0609020204030204" pitchFamily="49" charset="0"/>
                </a:rPr>
                <a:t>		for i in range(5):</a:t>
              </a:r>
            </a:p>
            <a:p>
              <a:pPr defTabSz="182880"/>
              <a:r>
                <a:rPr lang="en-US" sz="800">
                  <a:solidFill>
                    <a:schemeClr val="tx1"/>
                  </a:solidFill>
                  <a:latin typeface="Consolas" panose="020B0609020204030204" pitchFamily="49" charset="0"/>
                </a:rPr>
                <a:t>			db.set(“Trans:FREQ:HOP”, json)</a:t>
              </a:r>
            </a:p>
            <a:p>
              <a:pPr defTabSz="182880"/>
              <a:r>
                <a:rPr lang="en-US" sz="800">
                  <a:solidFill>
                    <a:schemeClr val="tx1"/>
                  </a:solidFill>
                  <a:latin typeface="Consolas" panose="020B0609020204030204" pitchFamily="49" charset="0"/>
                </a:rPr>
                <a:t>			db.hset(“SYSTEM:HOPPING”, Stage, 9)</a:t>
              </a:r>
            </a:p>
            <a:p>
              <a:pPr defTabSz="182880"/>
              <a:r>
                <a:rPr lang="en-US" sz="800">
                  <a:solidFill>
                    <a:schemeClr val="tx1"/>
                  </a:solidFill>
                  <a:latin typeface="Consolas" panose="020B0609020204030204" pitchFamily="49" charset="0"/>
                </a:rPr>
                <a:t>			time.sleep(0.01)</a:t>
              </a:r>
            </a:p>
            <a:p>
              <a:pPr defTabSz="182880"/>
              <a:r>
                <a:rPr lang="en-US" sz="800">
                  <a:solidFill>
                    <a:schemeClr val="tx1"/>
                  </a:solidFill>
                  <a:latin typeface="Consolas" panose="020B0609020204030204" pitchFamily="49" charset="0"/>
                </a:rPr>
                <a:t>		time.sleep(0.5)</a:t>
              </a:r>
            </a:p>
            <a:p>
              <a:pPr defTabSz="182880"/>
              <a:r>
                <a:rPr lang="en-US" sz="800">
                  <a:solidFill>
                    <a:schemeClr val="tx1"/>
                  </a:solidFill>
                  <a:latin typeface="Consolas" panose="020B0609020204030204" pitchFamily="49" charset="0"/>
                </a:rPr>
                <a:t>		db.set(“RFSYSTEM:STATE”, Free)</a:t>
              </a:r>
            </a:p>
          </p:txBody>
        </p:sp>
        <p:sp>
          <p:nvSpPr>
            <p:cNvPr id="41" name="Rectangle 6">
              <a:extLst>
                <a:ext uri="{FF2B5EF4-FFF2-40B4-BE49-F238E27FC236}">
                  <a16:creationId xmlns:a16="http://schemas.microsoft.com/office/drawing/2014/main" id="{4AC094AB-89E5-2ED3-EC0B-3C5F45B059B1}"/>
                </a:ext>
              </a:extLst>
            </p:cNvPr>
            <p:cNvSpPr/>
            <p:nvPr/>
          </p:nvSpPr>
          <p:spPr>
            <a:xfrm>
              <a:off x="11264369" y="6576547"/>
              <a:ext cx="677636" cy="175317"/>
            </a:xfrm>
            <a:prstGeom prst="rect">
              <a:avLst/>
            </a:prstGeom>
          </p:spPr>
          <p:style>
            <a:lnRef idx="2">
              <a:schemeClr val="accent4">
                <a:shade val="50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800">
                  <a:latin typeface="Consolas" panose="020B0609020204030204" pitchFamily="49" charset="0"/>
                </a:rPr>
                <a:t>Queue</a:t>
              </a:r>
            </a:p>
          </p:txBody>
        </p:sp>
        <p:sp>
          <p:nvSpPr>
            <p:cNvPr id="42" name="Rectangle 6">
              <a:extLst>
                <a:ext uri="{FF2B5EF4-FFF2-40B4-BE49-F238E27FC236}">
                  <a16:creationId xmlns:a16="http://schemas.microsoft.com/office/drawing/2014/main" id="{9239C6D1-EB4F-1AE0-437B-C058C5D3F3A8}"/>
                </a:ext>
              </a:extLst>
            </p:cNvPr>
            <p:cNvSpPr/>
            <p:nvPr/>
          </p:nvSpPr>
          <p:spPr>
            <a:xfrm>
              <a:off x="11418024" y="3519733"/>
              <a:ext cx="677636" cy="175317"/>
            </a:xfrm>
            <a:prstGeom prst="rect">
              <a:avLst/>
            </a:prstGeom>
          </p:spPr>
          <p:style>
            <a:lnRef idx="2">
              <a:schemeClr val="accent6">
                <a:shade val="50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800">
                  <a:latin typeface="Consolas" panose="020B0609020204030204" pitchFamily="49" charset="0"/>
                </a:rPr>
                <a:t>Trans</a:t>
              </a:r>
            </a:p>
          </p:txBody>
        </p:sp>
        <p:sp>
          <p:nvSpPr>
            <p:cNvPr id="43" name="Rectangle 6">
              <a:extLst>
                <a:ext uri="{FF2B5EF4-FFF2-40B4-BE49-F238E27FC236}">
                  <a16:creationId xmlns:a16="http://schemas.microsoft.com/office/drawing/2014/main" id="{5E0C7CF9-A500-9A09-5E35-0438FD7936ED}"/>
                </a:ext>
              </a:extLst>
            </p:cNvPr>
            <p:cNvSpPr/>
            <p:nvPr/>
          </p:nvSpPr>
          <p:spPr>
            <a:xfrm>
              <a:off x="3526761" y="6470763"/>
              <a:ext cx="677636" cy="175317"/>
            </a:xfrm>
            <a:prstGeom prst="rect">
              <a:avLst/>
            </a:prstGeom>
          </p:spPr>
          <p:style>
            <a:lnRef idx="2">
              <a:schemeClr val="accent5">
                <a:shade val="50000"/>
              </a:schemeClr>
            </a:lnRef>
            <a:fillRef idx="1">
              <a:schemeClr val="accent5"/>
            </a:fillRef>
            <a:effectRef idx="0">
              <a:schemeClr val="accent5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800">
                  <a:latin typeface="Consolas" panose="020B0609020204030204" pitchFamily="49" charset="0"/>
                </a:rPr>
                <a:t>Action</a:t>
              </a:r>
            </a:p>
          </p:txBody>
        </p:sp>
        <p:sp>
          <p:nvSpPr>
            <p:cNvPr id="44" name="Rectangle 6">
              <a:extLst>
                <a:ext uri="{FF2B5EF4-FFF2-40B4-BE49-F238E27FC236}">
                  <a16:creationId xmlns:a16="http://schemas.microsoft.com/office/drawing/2014/main" id="{D6354779-0585-0980-A30D-94CC494ABAF6}"/>
                </a:ext>
              </a:extLst>
            </p:cNvPr>
            <p:cNvSpPr/>
            <p:nvPr/>
          </p:nvSpPr>
          <p:spPr>
            <a:xfrm>
              <a:off x="8180864" y="3533837"/>
              <a:ext cx="677636" cy="175317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800">
                  <a:latin typeface="Consolas" panose="020B0609020204030204" pitchFamily="49" charset="0"/>
                </a:rPr>
                <a:t>Sink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12600577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5" name="群組 44">
            <a:extLst>
              <a:ext uri="{FF2B5EF4-FFF2-40B4-BE49-F238E27FC236}">
                <a16:creationId xmlns:a16="http://schemas.microsoft.com/office/drawing/2014/main" id="{2B874AB3-D10D-2F72-71D1-70DFB8BFC717}"/>
              </a:ext>
            </a:extLst>
          </p:cNvPr>
          <p:cNvGrpSpPr/>
          <p:nvPr/>
        </p:nvGrpSpPr>
        <p:grpSpPr>
          <a:xfrm>
            <a:off x="96340" y="83933"/>
            <a:ext cx="12038838" cy="6730240"/>
            <a:chOff x="96340" y="83933"/>
            <a:chExt cx="12038838" cy="6730240"/>
          </a:xfrm>
        </p:grpSpPr>
        <p:grpSp>
          <p:nvGrpSpPr>
            <p:cNvPr id="26" name="群組 25">
              <a:extLst>
                <a:ext uri="{FF2B5EF4-FFF2-40B4-BE49-F238E27FC236}">
                  <a16:creationId xmlns:a16="http://schemas.microsoft.com/office/drawing/2014/main" id="{37D42E78-D5E3-8DF6-054F-3DB7AA8756F3}"/>
                </a:ext>
              </a:extLst>
            </p:cNvPr>
            <p:cNvGrpSpPr/>
            <p:nvPr/>
          </p:nvGrpSpPr>
          <p:grpSpPr>
            <a:xfrm>
              <a:off x="4845322" y="1217011"/>
              <a:ext cx="4070957" cy="1574239"/>
              <a:chOff x="412810" y="2805256"/>
              <a:chExt cx="4070957" cy="1574239"/>
            </a:xfrm>
          </p:grpSpPr>
          <p:sp>
            <p:nvSpPr>
              <p:cNvPr id="20" name="Rectangle 4">
                <a:extLst>
                  <a:ext uri="{FF2B5EF4-FFF2-40B4-BE49-F238E27FC236}">
                    <a16:creationId xmlns:a16="http://schemas.microsoft.com/office/drawing/2014/main" id="{CCC25B2D-3F90-8C9A-9B99-38E513C72134}"/>
                  </a:ext>
                </a:extLst>
              </p:cNvPr>
              <p:cNvSpPr/>
              <p:nvPr/>
            </p:nvSpPr>
            <p:spPr>
              <a:xfrm>
                <a:off x="412810" y="2805256"/>
                <a:ext cx="4070957" cy="1574239"/>
              </a:xfrm>
              <a:prstGeom prst="rect">
                <a:avLst/>
              </a:prstGeom>
              <a:solidFill>
                <a:schemeClr val="accent2">
                  <a:lumMod val="20000"/>
                  <a:lumOff val="80000"/>
                </a:schemeClr>
              </a:solidFill>
              <a:ln>
                <a:noFill/>
              </a:ln>
            </p:spPr>
            <p:style>
              <a:lnRef idx="2">
                <a:schemeClr val="accent2">
                  <a:shade val="50000"/>
                </a:schemeClr>
              </a:lnRef>
              <a:fillRef idx="1">
                <a:schemeClr val="accent2"/>
              </a:fillRef>
              <a:effectRef idx="0">
                <a:schemeClr val="accent2"/>
              </a:effectRef>
              <a:fontRef idx="minor">
                <a:schemeClr val="lt1"/>
              </a:fontRef>
            </p:style>
            <p:txBody>
              <a:bodyPr rtlCol="0" anchor="t"/>
              <a:lstStyle/>
              <a:p>
                <a:pPr defTabSz="182880"/>
                <a:r>
                  <a:rPr lang="en-US" sz="800">
                    <a:solidFill>
                      <a:sysClr val="windowText" lastClr="000000"/>
                    </a:solidFill>
                    <a:latin typeface="Consolas" panose="020B0609020204030204" pitchFamily="49" charset="0"/>
                  </a:rPr>
                  <a:t>elif header is DATA_FRAME:</a:t>
                </a:r>
              </a:p>
              <a:p>
                <a:pPr defTabSz="182880"/>
                <a:r>
                  <a:rPr lang="en-US" sz="800">
                    <a:solidFill>
                      <a:sysClr val="windowText" lastClr="000000"/>
                    </a:solidFill>
                    <a:latin typeface="Consolas" panose="020B0609020204030204" pitchFamily="49" charset="0"/>
                  </a:rPr>
                  <a:t>	reply_with_ack()</a:t>
                </a:r>
              </a:p>
              <a:p>
                <a:pPr defTabSz="182880"/>
                <a:endParaRPr lang="en-US" sz="800">
                  <a:solidFill>
                    <a:sysClr val="windowText" lastClr="000000"/>
                  </a:solidFill>
                  <a:latin typeface="Consolas" panose="020B0609020204030204" pitchFamily="49" charset="0"/>
                </a:endParaRPr>
              </a:p>
              <a:p>
                <a:pPr defTabSz="182880"/>
                <a:endParaRPr lang="en-US" sz="800">
                  <a:solidFill>
                    <a:sysClr val="windowText" lastClr="000000"/>
                  </a:solidFill>
                  <a:latin typeface="Consolas" panose="020B0609020204030204" pitchFamily="49" charset="0"/>
                </a:endParaRPr>
              </a:p>
              <a:p>
                <a:pPr defTabSz="182880"/>
                <a:endParaRPr lang="en-US" sz="800">
                  <a:solidFill>
                    <a:sysClr val="windowText" lastClr="000000"/>
                  </a:solidFill>
                  <a:latin typeface="Consolas" panose="020B0609020204030204" pitchFamily="49" charset="0"/>
                </a:endParaRPr>
              </a:p>
              <a:p>
                <a:pPr defTabSz="182880"/>
                <a:endParaRPr lang="en-US" sz="800">
                  <a:solidFill>
                    <a:sysClr val="windowText" lastClr="000000"/>
                  </a:solidFill>
                  <a:latin typeface="Consolas" panose="020B0609020204030204" pitchFamily="49" charset="0"/>
                </a:endParaRPr>
              </a:p>
              <a:p>
                <a:pPr defTabSz="182880"/>
                <a:r>
                  <a:rPr lang="en-US" sz="800">
                    <a:solidFill>
                      <a:sysClr val="windowText" lastClr="000000"/>
                    </a:solidFill>
                    <a:latin typeface="Consolas" panose="020B0609020204030204" pitchFamily="49" charset="0"/>
                  </a:rPr>
                  <a:t>	set_to_db()</a:t>
                </a:r>
              </a:p>
            </p:txBody>
          </p:sp>
          <p:sp>
            <p:nvSpPr>
              <p:cNvPr id="22" name="矩形 21">
                <a:extLst>
                  <a:ext uri="{FF2B5EF4-FFF2-40B4-BE49-F238E27FC236}">
                    <a16:creationId xmlns:a16="http://schemas.microsoft.com/office/drawing/2014/main" id="{DA6216EF-00A9-2D48-B128-9970C5D7EB58}"/>
                  </a:ext>
                </a:extLst>
              </p:cNvPr>
              <p:cNvSpPr/>
              <p:nvPr/>
            </p:nvSpPr>
            <p:spPr>
              <a:xfrm>
                <a:off x="680935" y="3115532"/>
                <a:ext cx="3802831" cy="404536"/>
              </a:xfrm>
              <a:prstGeom prst="rect">
                <a:avLst/>
              </a:prstGeom>
              <a:solidFill>
                <a:schemeClr val="accent2">
                  <a:lumMod val="40000"/>
                  <a:lumOff val="6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defTabSz="182880"/>
                <a:r>
                  <a:rPr lang="en-US" altLang="zh-TW" sz="800">
                    <a:solidFill>
                      <a:schemeClr val="tx1"/>
                    </a:solidFill>
                    <a:latin typeface="Consolas" panose="020B0609020204030204" pitchFamily="49" charset="0"/>
                  </a:rPr>
                  <a:t>ack_frame = scapy.Dot11FCS(addr1=addr, type=1, subtype=13, FCfield=0)</a:t>
                </a:r>
              </a:p>
              <a:p>
                <a:pPr defTabSz="182880"/>
                <a:r>
                  <a:rPr lang="en-US" altLang="zh-TW" sz="800">
                    <a:solidFill>
                      <a:schemeClr val="tx1"/>
                    </a:solidFill>
                    <a:latin typeface="Consolas" panose="020B0609020204030204" pitchFamily="49" charset="0"/>
                  </a:rPr>
                  <a:t>sock.sendto(bytes(ack_frame), (localhost, 52001))</a:t>
                </a:r>
                <a:endParaRPr lang="zh-TW" altLang="en-US" sz="800">
                  <a:solidFill>
                    <a:schemeClr val="tx1"/>
                  </a:solidFill>
                  <a:latin typeface="Consolas" panose="020B0609020204030204" pitchFamily="49" charset="0"/>
                </a:endParaRPr>
              </a:p>
            </p:txBody>
          </p:sp>
          <p:sp>
            <p:nvSpPr>
              <p:cNvPr id="23" name="矩形 22">
                <a:extLst>
                  <a:ext uri="{FF2B5EF4-FFF2-40B4-BE49-F238E27FC236}">
                    <a16:creationId xmlns:a16="http://schemas.microsoft.com/office/drawing/2014/main" id="{F54B0698-4C04-5775-0F11-CBDE7AB11891}"/>
                  </a:ext>
                </a:extLst>
              </p:cNvPr>
              <p:cNvSpPr/>
              <p:nvPr/>
            </p:nvSpPr>
            <p:spPr>
              <a:xfrm>
                <a:off x="680934" y="3753749"/>
                <a:ext cx="3802832" cy="564956"/>
              </a:xfrm>
              <a:prstGeom prst="rect">
                <a:avLst/>
              </a:prstGeom>
              <a:solidFill>
                <a:schemeClr val="accent2">
                  <a:lumMod val="40000"/>
                  <a:lumOff val="6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defTabSz="182880"/>
                <a:r>
                  <a:rPr lang="en-US" altLang="zh-TW" sz="800">
                    <a:solidFill>
                      <a:schemeClr val="tx1"/>
                    </a:solidFill>
                    <a:latin typeface="Consolas" panose="020B0609020204030204" pitchFamily="49" charset="0"/>
                  </a:rPr>
                  <a:t>timestamp = time.time()</a:t>
                </a:r>
              </a:p>
              <a:p>
                <a:pPr defTabSz="182880"/>
                <a:r>
                  <a:rPr lang="en-US" altLang="zh-TW" sz="800">
                    <a:solidFill>
                      <a:schemeClr val="tx1"/>
                    </a:solidFill>
                    <a:latin typeface="Consolas" panose="020B0609020204030204" pitchFamily="49" charset="0"/>
                  </a:rPr>
                  <a:t>db.hmset(“Recv:seq:timestamp”, {“payload”: payload, “info”:info})</a:t>
                </a:r>
              </a:p>
              <a:p>
                <a:pPr defTabSz="182880"/>
                <a:r>
                  <a:rPr lang="en-US" altLang="zh-TW" sz="800">
                    <a:solidFill>
                      <a:schemeClr val="tx1"/>
                    </a:solidFill>
                    <a:latin typeface="Consolas" panose="020B0609020204030204" pitchFamily="49" charset="0"/>
                  </a:rPr>
                  <a:t>db.set(“CSI:timestamp”, csi_json)</a:t>
                </a:r>
              </a:p>
              <a:p>
                <a:pPr defTabSz="182880"/>
                <a:r>
                  <a:rPr lang="en-US" altLang="zh-TW" sz="800">
                    <a:solidFill>
                      <a:schemeClr val="tx1"/>
                    </a:solidFill>
                    <a:latin typeface="Consolas" panose="020B0609020204030204" pitchFamily="49" charset="0"/>
                  </a:rPr>
                  <a:t>db.set(“CSI:ACTION:CSI”, “CSI:timestamp”)</a:t>
                </a:r>
                <a:endParaRPr lang="zh-TW" altLang="en-US" sz="800">
                  <a:solidFill>
                    <a:schemeClr val="tx1"/>
                  </a:solidFill>
                  <a:latin typeface="Consolas" panose="020B0609020204030204" pitchFamily="49" charset="0"/>
                </a:endParaRPr>
              </a:p>
            </p:txBody>
          </p:sp>
        </p:grpSp>
        <p:sp>
          <p:nvSpPr>
            <p:cNvPr id="24" name="Rectangle 4">
              <a:extLst>
                <a:ext uri="{FF2B5EF4-FFF2-40B4-BE49-F238E27FC236}">
                  <a16:creationId xmlns:a16="http://schemas.microsoft.com/office/drawing/2014/main" id="{A3B5125B-ECB5-B21C-AB92-B1FA751DBFD6}"/>
                </a:ext>
              </a:extLst>
            </p:cNvPr>
            <p:cNvSpPr/>
            <p:nvPr/>
          </p:nvSpPr>
          <p:spPr>
            <a:xfrm>
              <a:off x="4845321" y="83933"/>
              <a:ext cx="4070957" cy="1133078"/>
            </a:xfrm>
            <a:prstGeom prst="rect">
              <a:avLst/>
            </a:prstGeom>
            <a:solidFill>
              <a:schemeClr val="accent2">
                <a:lumMod val="20000"/>
                <a:lumOff val="80000"/>
              </a:schemeClr>
            </a:solidFill>
            <a:ln>
              <a:noFill/>
            </a:ln>
          </p:spPr>
          <p:style>
            <a:lnRef idx="2">
              <a:schemeClr val="accent2">
                <a:shade val="50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defTabSz="182880"/>
              <a:r>
                <a:rPr lang="en-US" sz="800">
                  <a:solidFill>
                    <a:sysClr val="windowText" lastClr="000000"/>
                  </a:solidFill>
                  <a:latin typeface="Consolas" panose="020B0609020204030204" pitchFamily="49" charset="0"/>
                </a:rPr>
                <a:t>if payload has </a:t>
              </a:r>
              <a:r>
                <a:rPr lang="en-US" sz="800" b="1">
                  <a:solidFill>
                    <a:srgbClr val="FF0000"/>
                  </a:solidFill>
                  <a:latin typeface="Consolas" panose="020B0609020204030204" pitchFamily="49" charset="0"/>
                </a:rPr>
                <a:t>ControlType</a:t>
              </a:r>
              <a:r>
                <a:rPr lang="en-US" sz="800">
                  <a:solidFill>
                    <a:sysClr val="windowText" lastClr="000000"/>
                  </a:solidFill>
                  <a:latin typeface="Consolas" panose="020B0609020204030204" pitchFamily="49" charset="0"/>
                </a:rPr>
                <a:t>:</a:t>
              </a:r>
            </a:p>
            <a:p>
              <a:pPr defTabSz="182880"/>
              <a:r>
                <a:rPr lang="en-US" sz="800">
                  <a:solidFill>
                    <a:sysClr val="windowText" lastClr="000000"/>
                  </a:solidFill>
                  <a:latin typeface="Consolas" panose="020B0609020204030204" pitchFamily="49" charset="0"/>
                </a:rPr>
                <a:t>	if payload[“ControlType”] == “HOP”:</a:t>
              </a:r>
            </a:p>
            <a:p>
              <a:pPr defTabSz="182880"/>
              <a:r>
                <a:rPr lang="en-US" sz="800">
                  <a:solidFill>
                    <a:sysClr val="windowText" lastClr="000000"/>
                  </a:solidFill>
                  <a:latin typeface="Consolas" panose="020B0609020204030204" pitchFamily="49" charset="0"/>
                </a:rPr>
                <a:t>		if payload[“ControlAction”].isdigit():</a:t>
              </a:r>
            </a:p>
            <a:p>
              <a:pPr defTabSz="182880"/>
              <a:r>
                <a:rPr lang="en-US" sz="800">
                  <a:solidFill>
                    <a:sysClr val="windowText" lastClr="000000"/>
                  </a:solidFill>
                  <a:latin typeface="Consolas" panose="020B0609020204030204" pitchFamily="49" charset="0"/>
                </a:rPr>
                <a:t>			db.set(“RFSYSTEM:STATE”, “</a:t>
              </a:r>
              <a:r>
                <a:rPr lang="en-US" sz="800" b="1">
                  <a:solidFill>
                    <a:srgbClr val="FF0000"/>
                  </a:solidFill>
                  <a:latin typeface="Consolas" panose="020B0609020204030204" pitchFamily="49" charset="0"/>
                </a:rPr>
                <a:t>Hold</a:t>
              </a:r>
              <a:r>
                <a:rPr lang="en-US" sz="800">
                  <a:solidFill>
                    <a:sysClr val="windowText" lastClr="000000"/>
                  </a:solidFill>
                  <a:latin typeface="Consolas" panose="020B0609020204030204" pitchFamily="49" charset="0"/>
                </a:rPr>
                <a:t>”)</a:t>
              </a:r>
            </a:p>
            <a:p>
              <a:pPr defTabSz="182880"/>
              <a:r>
                <a:rPr lang="en-US" sz="800">
                  <a:solidFill>
                    <a:sysClr val="windowText" lastClr="000000"/>
                  </a:solidFill>
                  <a:latin typeface="Consolas" panose="020B0609020204030204" pitchFamily="49" charset="0"/>
                </a:rPr>
                <a:t>			db.hset(“SYSTEM:HOPPING”, “Stage”, 4)</a:t>
              </a:r>
            </a:p>
            <a:p>
              <a:pPr defTabSz="182880"/>
              <a:r>
                <a:rPr lang="en-US" sz="800">
                  <a:solidFill>
                    <a:sysClr val="windowText" lastClr="000000"/>
                  </a:solidFill>
                  <a:latin typeface="Consolas" panose="020B0609020204030204" pitchFamily="49" charset="0"/>
                </a:rPr>
                <a:t>		action_to_hop(payload)</a:t>
              </a:r>
            </a:p>
            <a:p>
              <a:pPr defTabSz="182880"/>
              <a:r>
                <a:rPr lang="en-US" sz="800">
                  <a:solidFill>
                    <a:sysClr val="windowText" lastClr="000000"/>
                  </a:solidFill>
                  <a:latin typeface="Consolas" panose="020B0609020204030204" pitchFamily="49" charset="0"/>
                </a:rPr>
                <a:t>		</a:t>
              </a:r>
            </a:p>
            <a:p>
              <a:pPr defTabSz="182880"/>
              <a:r>
                <a:rPr lang="en-US" sz="800">
                  <a:solidFill>
                    <a:sysClr val="windowText" lastClr="000000"/>
                  </a:solidFill>
                  <a:latin typeface="Consolas" panose="020B0609020204030204" pitchFamily="49" charset="0"/>
                </a:rPr>
                <a:t>	</a:t>
              </a:r>
            </a:p>
          </p:txBody>
        </p:sp>
        <p:grpSp>
          <p:nvGrpSpPr>
            <p:cNvPr id="27" name="群組 26">
              <a:extLst>
                <a:ext uri="{FF2B5EF4-FFF2-40B4-BE49-F238E27FC236}">
                  <a16:creationId xmlns:a16="http://schemas.microsoft.com/office/drawing/2014/main" id="{CD45926D-0E16-29ED-1849-41B7AE4921EC}"/>
                </a:ext>
              </a:extLst>
            </p:cNvPr>
            <p:cNvGrpSpPr/>
            <p:nvPr/>
          </p:nvGrpSpPr>
          <p:grpSpPr>
            <a:xfrm>
              <a:off x="4845320" y="2791250"/>
              <a:ext cx="4070957" cy="1050146"/>
              <a:chOff x="412808" y="3810612"/>
              <a:chExt cx="4070957" cy="1050146"/>
            </a:xfrm>
          </p:grpSpPr>
          <p:sp>
            <p:nvSpPr>
              <p:cNvPr id="25" name="Rectangle 4">
                <a:extLst>
                  <a:ext uri="{FF2B5EF4-FFF2-40B4-BE49-F238E27FC236}">
                    <a16:creationId xmlns:a16="http://schemas.microsoft.com/office/drawing/2014/main" id="{52436147-4230-6B2D-7974-843A81211452}"/>
                  </a:ext>
                </a:extLst>
              </p:cNvPr>
              <p:cNvSpPr/>
              <p:nvPr/>
            </p:nvSpPr>
            <p:spPr>
              <a:xfrm>
                <a:off x="412808" y="3810612"/>
                <a:ext cx="4070957" cy="1050146"/>
              </a:xfrm>
              <a:prstGeom prst="rect">
                <a:avLst/>
              </a:prstGeom>
              <a:solidFill>
                <a:schemeClr val="accent2">
                  <a:lumMod val="20000"/>
                  <a:lumOff val="80000"/>
                </a:schemeClr>
              </a:solidFill>
              <a:ln>
                <a:noFill/>
              </a:ln>
            </p:spPr>
            <p:style>
              <a:lnRef idx="2">
                <a:schemeClr val="accent2">
                  <a:shade val="50000"/>
                </a:schemeClr>
              </a:lnRef>
              <a:fillRef idx="1">
                <a:schemeClr val="accent2"/>
              </a:fillRef>
              <a:effectRef idx="0">
                <a:schemeClr val="accent2"/>
              </a:effectRef>
              <a:fontRef idx="minor">
                <a:schemeClr val="lt1"/>
              </a:fontRef>
            </p:style>
            <p:txBody>
              <a:bodyPr rtlCol="0" anchor="t"/>
              <a:lstStyle/>
              <a:p>
                <a:pPr defTabSz="182880"/>
                <a:r>
                  <a:rPr lang="en-US" sz="800">
                    <a:solidFill>
                      <a:sysClr val="windowText" lastClr="000000"/>
                    </a:solidFill>
                    <a:latin typeface="Consolas" panose="020B0609020204030204" pitchFamily="49" charset="0"/>
                  </a:rPr>
                  <a:t>elif header is CTRL_FRAME:</a:t>
                </a:r>
              </a:p>
              <a:p>
                <a:pPr defTabSz="182880"/>
                <a:r>
                  <a:rPr lang="en-US" sz="800">
                    <a:solidFill>
                      <a:sysClr val="windowText" lastClr="000000"/>
                    </a:solidFill>
                    <a:latin typeface="Consolas" panose="020B0609020204030204" pitchFamily="49" charset="0"/>
                  </a:rPr>
                  <a:t>	action_to_ack()</a:t>
                </a:r>
              </a:p>
            </p:txBody>
          </p:sp>
          <p:sp>
            <p:nvSpPr>
              <p:cNvPr id="21" name="矩形 20">
                <a:extLst>
                  <a:ext uri="{FF2B5EF4-FFF2-40B4-BE49-F238E27FC236}">
                    <a16:creationId xmlns:a16="http://schemas.microsoft.com/office/drawing/2014/main" id="{B3ABBAD7-651C-712D-0139-E04AE081EDF5}"/>
                  </a:ext>
                </a:extLst>
              </p:cNvPr>
              <p:cNvSpPr/>
              <p:nvPr/>
            </p:nvSpPr>
            <p:spPr>
              <a:xfrm>
                <a:off x="684365" y="4139687"/>
                <a:ext cx="3799400" cy="649706"/>
              </a:xfrm>
              <a:prstGeom prst="rect">
                <a:avLst/>
              </a:prstGeom>
              <a:solidFill>
                <a:schemeClr val="accent2">
                  <a:lumMod val="40000"/>
                  <a:lumOff val="6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defTabSz="182880"/>
                <a:r>
                  <a:rPr lang="en-US" altLang="zh-TW" sz="800">
                    <a:solidFill>
                      <a:schemeClr val="tx1"/>
                    </a:solidFill>
                    <a:latin typeface="Consolas" panose="020B0609020204030204" pitchFamily="49" charset="0"/>
                  </a:rPr>
                  <a:t>ACK_STATE = db.get(“TRANS:ACK”)</a:t>
                </a:r>
              </a:p>
              <a:p>
                <a:pPr defTabSz="182880"/>
                <a:r>
                  <a:rPr lang="en-US" altLang="zh-TW" sz="800">
                    <a:solidFill>
                      <a:schemeClr val="tx1"/>
                    </a:solidFill>
                    <a:latin typeface="Consolas" panose="020B0609020204030204" pitchFamily="49" charset="0"/>
                  </a:rPr>
                  <a:t>if ACK_STATE == “Waiting”:</a:t>
                </a:r>
              </a:p>
              <a:p>
                <a:pPr defTabSz="182880"/>
                <a:r>
                  <a:rPr lang="en-US" altLang="zh-TW" sz="800">
                    <a:solidFill>
                      <a:schemeClr val="tx1"/>
                    </a:solidFill>
                    <a:latin typeface="Consolas" panose="020B0609020204030204" pitchFamily="49" charset="0"/>
                  </a:rPr>
                  <a:t>	db.set(“TRANS:ACK”, “Success”)</a:t>
                </a:r>
              </a:p>
              <a:p>
                <a:pPr defTabSz="182880"/>
                <a:r>
                  <a:rPr lang="en-US" altLang="zh-TW" sz="800">
                    <a:solidFill>
                      <a:schemeClr val="tx1"/>
                    </a:solidFill>
                    <a:latin typeface="Consolas" panose="020B0609020204030204" pitchFamily="49" charset="0"/>
                  </a:rPr>
                  <a:t>	db.set(“RFDEVICE:STATE”, “Idle”)</a:t>
                </a:r>
              </a:p>
              <a:p>
                <a:pPr defTabSz="182880"/>
                <a:r>
                  <a:rPr lang="en-US" altLang="zh-TW" sz="800">
                    <a:solidFill>
                      <a:schemeClr val="tx1"/>
                    </a:solidFill>
                    <a:latin typeface="Consolas" panose="020B0609020204030204" pitchFamily="49" charset="0"/>
                  </a:rPr>
                  <a:t>	db.rpop(“QUEUE:LIST:TRANS”)</a:t>
                </a:r>
                <a:endParaRPr lang="zh-TW" altLang="en-US" sz="800">
                  <a:solidFill>
                    <a:schemeClr val="tx1"/>
                  </a:solidFill>
                  <a:latin typeface="Consolas" panose="020B0609020204030204" pitchFamily="49" charset="0"/>
                </a:endParaRPr>
              </a:p>
            </p:txBody>
          </p:sp>
        </p:grpSp>
        <p:sp>
          <p:nvSpPr>
            <p:cNvPr id="28" name="矩形 27">
              <a:extLst>
                <a:ext uri="{FF2B5EF4-FFF2-40B4-BE49-F238E27FC236}">
                  <a16:creationId xmlns:a16="http://schemas.microsoft.com/office/drawing/2014/main" id="{6EE1C805-C942-5811-7865-38C835D36687}"/>
                </a:ext>
              </a:extLst>
            </p:cNvPr>
            <p:cNvSpPr/>
            <p:nvPr/>
          </p:nvSpPr>
          <p:spPr>
            <a:xfrm>
              <a:off x="5316553" y="872981"/>
              <a:ext cx="3599724" cy="268490"/>
            </a:xfrm>
            <a:prstGeom prst="rect">
              <a:avLst/>
            </a:prstGeom>
            <a:solidFill>
              <a:schemeClr val="accent2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defTabSz="182880"/>
              <a:r>
                <a:rPr lang="en-US" altLang="zh-TW" sz="800">
                  <a:solidFill>
                    <a:schemeClr val="tx1"/>
                  </a:solidFill>
                  <a:latin typeface="Consolas" panose="020B0609020204030204" pitchFamily="49" charset="0"/>
                </a:rPr>
                <a:t>db.set(“SYSTEM:ACTION:HOP”, payload)</a:t>
              </a:r>
              <a:endParaRPr lang="zh-TW" altLang="en-US" sz="800">
                <a:solidFill>
                  <a:schemeClr val="tx1"/>
                </a:solidFill>
                <a:latin typeface="Consolas" panose="020B0609020204030204" pitchFamily="49" charset="0"/>
              </a:endParaRPr>
            </a:p>
          </p:txBody>
        </p:sp>
        <p:sp>
          <p:nvSpPr>
            <p:cNvPr id="30" name="Rectangle 5">
              <a:extLst>
                <a:ext uri="{FF2B5EF4-FFF2-40B4-BE49-F238E27FC236}">
                  <a16:creationId xmlns:a16="http://schemas.microsoft.com/office/drawing/2014/main" id="{0C4B8A75-9DC0-9E19-9FCC-CC1B17BE5D20}"/>
                </a:ext>
              </a:extLst>
            </p:cNvPr>
            <p:cNvSpPr/>
            <p:nvPr/>
          </p:nvSpPr>
          <p:spPr>
            <a:xfrm>
              <a:off x="8721530" y="4261369"/>
              <a:ext cx="3374130" cy="2552804"/>
            </a:xfrm>
            <a:prstGeom prst="rect">
              <a:avLst/>
            </a:prstGeom>
            <a:solidFill>
              <a:schemeClr val="accent3">
                <a:lumMod val="20000"/>
                <a:lumOff val="80000"/>
              </a:schemeClr>
            </a:solidFill>
            <a:ln>
              <a:noFill/>
            </a:ln>
          </p:spPr>
          <p:style>
            <a:lnRef idx="2">
              <a:schemeClr val="accent3">
                <a:shade val="50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defTabSz="182880"/>
              <a:r>
                <a:rPr lang="en-US" sz="800">
                  <a:solidFill>
                    <a:schemeClr val="tx1"/>
                  </a:solidFill>
                  <a:latin typeface="Consolas" panose="020B0609020204030204" pitchFamily="49" charset="0"/>
                </a:rPr>
                <a:t>while db.exists(“QUEUE:LIST:TRANS”):</a:t>
              </a:r>
            </a:p>
            <a:p>
              <a:pPr defTabSz="182880"/>
              <a:r>
                <a:rPr lang="en-US" sz="800">
                  <a:solidFill>
                    <a:schemeClr val="tx1"/>
                  </a:solidFill>
                  <a:latin typeface="Consolas" panose="020B0609020204030204" pitchFamily="49" charset="0"/>
                </a:rPr>
                <a:t>	rf_state = db.get(“RFDEVICE:STATE”)</a:t>
              </a:r>
            </a:p>
            <a:p>
              <a:pPr defTabSz="182880"/>
              <a:r>
                <a:rPr lang="en-US" altLang="zh-TW" sz="800">
                  <a:solidFill>
                    <a:schemeClr val="tx1"/>
                  </a:solidFill>
                  <a:latin typeface="Consolas" panose="020B0609020204030204" pitchFamily="49" charset="0"/>
                </a:rPr>
                <a:t>	sys_state = db.get(“RFSYSTEM:STATE”)</a:t>
              </a:r>
              <a:endParaRPr lang="en-US" sz="800">
                <a:solidFill>
                  <a:schemeClr val="tx1"/>
                </a:solidFill>
                <a:latin typeface="Consolas" panose="020B0609020204030204" pitchFamily="49" charset="0"/>
              </a:endParaRPr>
            </a:p>
            <a:p>
              <a:pPr defTabSz="182880"/>
              <a:r>
                <a:rPr lang="en-US" sz="800">
                  <a:solidFill>
                    <a:schemeClr val="tx1"/>
                  </a:solidFill>
                  <a:latin typeface="Consolas" panose="020B0609020204030204" pitchFamily="49" charset="0"/>
                </a:rPr>
                <a:t>	oldest_key = db.lrange(“QUEUE:LIST:TRANS”, -1, -1)</a:t>
              </a:r>
            </a:p>
            <a:p>
              <a:pPr defTabSz="182880"/>
              <a:r>
                <a:rPr lang="en-US" sz="800">
                  <a:solidFill>
                    <a:schemeClr val="tx1"/>
                  </a:solidFill>
                  <a:latin typeface="Consolas" panose="020B0609020204030204" pitchFamily="49" charset="0"/>
                </a:rPr>
                <a:t>	ack_for_key = db.get(“</a:t>
              </a:r>
              <a:r>
                <a:rPr lang="en-US" altLang="zh-TW" sz="800">
                  <a:solidFill>
                    <a:schemeClr val="tx1"/>
                  </a:solidFill>
                  <a:latin typeface="Consolas" panose="020B0609020204030204" pitchFamily="49" charset="0"/>
                </a:rPr>
                <a:t>oldest_key:ACK”</a:t>
              </a:r>
              <a:r>
                <a:rPr lang="en-US" sz="800">
                  <a:solidFill>
                    <a:schemeClr val="tx1"/>
                  </a:solidFill>
                  <a:latin typeface="Consolas" panose="020B0609020204030204" pitchFamily="49" charset="0"/>
                </a:rPr>
                <a:t>)</a:t>
              </a:r>
            </a:p>
            <a:p>
              <a:pPr defTabSz="182880"/>
              <a:r>
                <a:rPr lang="en-US" sz="800">
                  <a:solidFill>
                    <a:schemeClr val="tx1"/>
                  </a:solidFill>
                  <a:latin typeface="Consolas" panose="020B0609020204030204" pitchFamily="49" charset="0"/>
                </a:rPr>
                <a:t>	</a:t>
              </a:r>
            </a:p>
            <a:p>
              <a:pPr defTabSz="182880"/>
              <a:r>
                <a:rPr lang="en-US" sz="800">
                  <a:solidFill>
                    <a:schemeClr val="tx1"/>
                  </a:solidFill>
                  <a:latin typeface="Consolas" panose="020B0609020204030204" pitchFamily="49" charset="0"/>
                </a:rPr>
                <a:t>	if </a:t>
              </a:r>
              <a:r>
                <a:rPr lang="en-US" altLang="zh-TW" sz="800">
                  <a:solidFill>
                    <a:schemeClr val="tx1"/>
                  </a:solidFill>
                  <a:latin typeface="Consolas" panose="020B0609020204030204" pitchFamily="49" charset="0"/>
                </a:rPr>
                <a:t>ack_for_key is not None:</a:t>
              </a:r>
            </a:p>
            <a:p>
              <a:pPr defTabSz="182880"/>
              <a:r>
                <a:rPr lang="en-US" sz="800">
                  <a:solidFill>
                    <a:schemeClr val="tx1"/>
                  </a:solidFill>
                  <a:latin typeface="Consolas" panose="020B0609020204030204" pitchFamily="49" charset="0"/>
                </a:rPr>
                <a:t>		if db.get(</a:t>
              </a:r>
              <a:r>
                <a:rPr lang="en-US" altLang="zh-TW" sz="800">
                  <a:solidFill>
                    <a:schemeClr val="tx1"/>
                  </a:solidFill>
                  <a:latin typeface="Consolas" panose="020B0609020204030204" pitchFamily="49" charset="0"/>
                </a:rPr>
                <a:t>ack_for_key</a:t>
              </a:r>
              <a:r>
                <a:rPr lang="en-US" sz="800">
                  <a:solidFill>
                    <a:schemeClr val="tx1"/>
                  </a:solidFill>
                  <a:latin typeface="Consolas" panose="020B0609020204030204" pitchFamily="49" charset="0"/>
                </a:rPr>
                <a:t>) == “Failed”:</a:t>
              </a:r>
            </a:p>
            <a:p>
              <a:pPr defTabSz="182880"/>
              <a:r>
                <a:rPr lang="en-US" sz="800">
                  <a:solidFill>
                    <a:schemeClr val="tx1"/>
                  </a:solidFill>
                  <a:latin typeface="Consolas" panose="020B0609020204030204" pitchFamily="49" charset="0"/>
                </a:rPr>
                <a:t>			db.rpop(“QUEUE:LIST:TRANS”)</a:t>
              </a:r>
            </a:p>
            <a:p>
              <a:pPr defTabSz="182880"/>
              <a:r>
                <a:rPr lang="en-US" sz="800">
                  <a:solidFill>
                    <a:schemeClr val="tx1"/>
                  </a:solidFill>
                  <a:latin typeface="Consolas" panose="020B0609020204030204" pitchFamily="49" charset="0"/>
                </a:rPr>
                <a:t>	</a:t>
              </a:r>
            </a:p>
            <a:p>
              <a:pPr defTabSz="182880"/>
              <a:r>
                <a:rPr lang="en-US" sz="800">
                  <a:solidFill>
                    <a:schemeClr val="tx1"/>
                  </a:solidFill>
                  <a:latin typeface="Consolas" panose="020B0609020204030204" pitchFamily="49" charset="0"/>
                </a:rPr>
                <a:t>	elif </a:t>
              </a:r>
              <a:r>
                <a:rPr lang="en-US" altLang="zh-TW" sz="800">
                  <a:solidFill>
                    <a:schemeClr val="tx1"/>
                  </a:solidFill>
                  <a:latin typeface="Consolas" panose="020B0609020204030204" pitchFamily="49" charset="0"/>
                </a:rPr>
                <a:t>rf_state == “Idle”:</a:t>
              </a:r>
            </a:p>
            <a:p>
              <a:pPr defTabSz="182880"/>
              <a:r>
                <a:rPr lang="en-US" sz="800">
                  <a:solidFill>
                    <a:schemeClr val="tx1"/>
                  </a:solidFill>
                  <a:latin typeface="Consolas" panose="020B0609020204030204" pitchFamily="49" charset="0"/>
                </a:rPr>
                <a:t>		</a:t>
              </a:r>
              <a:r>
                <a:rPr lang="en-US" altLang="zh-TW" sz="800">
                  <a:solidFill>
                    <a:schemeClr val="tx1"/>
                  </a:solidFill>
                  <a:latin typeface="Consolas" panose="020B0609020204030204" pitchFamily="49" charset="0"/>
                </a:rPr>
                <a:t>oldest_key = db.lrange(“QUEUE:LIST:TRANS”, -1, -1)</a:t>
              </a:r>
            </a:p>
            <a:p>
              <a:pPr defTabSz="182880"/>
              <a:r>
                <a:rPr lang="en-US" altLang="zh-TW" sz="800">
                  <a:solidFill>
                    <a:schemeClr val="tx1"/>
                  </a:solidFill>
                  <a:latin typeface="Consolas" panose="020B0609020204030204" pitchFamily="49" charset="0"/>
                </a:rPr>
                <a:t>		db.set(“Transmission”, oldest_key)</a:t>
              </a:r>
            </a:p>
            <a:p>
              <a:pPr defTabSz="182880"/>
              <a:r>
                <a:rPr lang="en-US" altLang="zh-TW" sz="800">
                  <a:solidFill>
                    <a:schemeClr val="tx1"/>
                  </a:solidFill>
                  <a:latin typeface="Consolas" panose="020B0609020204030204" pitchFamily="49" charset="0"/>
                </a:rPr>
                <a:t>		db.set(“RFDEVICE:STATE”, “Busy”)</a:t>
              </a:r>
            </a:p>
            <a:p>
              <a:pPr defTabSz="182880"/>
              <a:endParaRPr lang="en-US" sz="800">
                <a:solidFill>
                  <a:schemeClr val="tx1"/>
                </a:solidFill>
                <a:latin typeface="Consolas" panose="020B0609020204030204" pitchFamily="49" charset="0"/>
              </a:endParaRPr>
            </a:p>
            <a:p>
              <a:pPr defTabSz="182880"/>
              <a:r>
                <a:rPr lang="en-US" sz="800">
                  <a:solidFill>
                    <a:schemeClr val="tx1"/>
                  </a:solidFill>
                  <a:latin typeface="Consolas" panose="020B0609020204030204" pitchFamily="49" charset="0"/>
                </a:rPr>
                <a:t>	elif </a:t>
              </a:r>
              <a:r>
                <a:rPr lang="en-US" altLang="zh-TW" sz="800">
                  <a:solidFill>
                    <a:schemeClr val="tx1"/>
                  </a:solidFill>
                  <a:latin typeface="Consolas" panose="020B0609020204030204" pitchFamily="49" charset="0"/>
                </a:rPr>
                <a:t>sys_state == “Hold”:</a:t>
              </a:r>
            </a:p>
            <a:p>
              <a:pPr defTabSz="182880"/>
              <a:r>
                <a:rPr lang="en-US" sz="800">
                  <a:solidFill>
                    <a:schemeClr val="tx1"/>
                  </a:solidFill>
                  <a:latin typeface="Consolas" panose="020B0609020204030204" pitchFamily="49" charset="0"/>
                </a:rPr>
                <a:t>		time.sleep(0.01)</a:t>
              </a:r>
            </a:p>
            <a:p>
              <a:pPr defTabSz="182880"/>
              <a:endParaRPr lang="en-US" sz="800">
                <a:solidFill>
                  <a:schemeClr val="tx1"/>
                </a:solidFill>
                <a:latin typeface="Consolas" panose="020B0609020204030204" pitchFamily="49" charset="0"/>
              </a:endParaRPr>
            </a:p>
            <a:p>
              <a:pPr defTabSz="182880"/>
              <a:r>
                <a:rPr lang="en-US" sz="800">
                  <a:solidFill>
                    <a:schemeClr val="tx1"/>
                  </a:solidFill>
                  <a:latin typeface="Consolas" panose="020B0609020204030204" pitchFamily="49" charset="0"/>
                </a:rPr>
                <a:t>	else:</a:t>
              </a:r>
            </a:p>
            <a:p>
              <a:pPr defTabSz="182880"/>
              <a:r>
                <a:rPr lang="en-US" sz="800">
                  <a:solidFill>
                    <a:schemeClr val="tx1"/>
                  </a:solidFill>
                  <a:latin typeface="Consolas" panose="020B0609020204030204" pitchFamily="49" charset="0"/>
                </a:rPr>
                <a:t>		time.sleep(0.001)</a:t>
              </a:r>
            </a:p>
          </p:txBody>
        </p:sp>
        <p:sp>
          <p:nvSpPr>
            <p:cNvPr id="31" name="Rectangle 5">
              <a:extLst>
                <a:ext uri="{FF2B5EF4-FFF2-40B4-BE49-F238E27FC236}">
                  <a16:creationId xmlns:a16="http://schemas.microsoft.com/office/drawing/2014/main" id="{7351F57B-E1F3-6B48-A555-1AD361B2EC4F}"/>
                </a:ext>
              </a:extLst>
            </p:cNvPr>
            <p:cNvSpPr/>
            <p:nvPr/>
          </p:nvSpPr>
          <p:spPr>
            <a:xfrm>
              <a:off x="9478358" y="83933"/>
              <a:ext cx="2656820" cy="3748726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  <a:ln>
              <a:noFill/>
            </a:ln>
          </p:spPr>
          <p:style>
            <a:lnRef idx="2">
              <a:schemeClr val="accent3">
                <a:shade val="50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defTabSz="182880"/>
              <a:r>
                <a:rPr lang="en-US" altLang="zh-TW" sz="800">
                  <a:solidFill>
                    <a:schemeClr val="tx1"/>
                  </a:solidFill>
                  <a:latin typeface="Consolas" panose="020B0609020204030204" pitchFamily="49" charset="0"/>
                </a:rPr>
                <a:t>db_key = self.get(“Transmission”)</a:t>
              </a:r>
              <a:endParaRPr lang="en-US" sz="800">
                <a:solidFill>
                  <a:schemeClr val="tx1"/>
                </a:solidFill>
                <a:latin typeface="Consolas" panose="020B0609020204030204" pitchFamily="49" charset="0"/>
              </a:endParaRPr>
            </a:p>
            <a:p>
              <a:pPr defTabSz="182880"/>
              <a:r>
                <a:rPr lang="en-US" sz="800">
                  <a:solidFill>
                    <a:schemeClr val="tx1"/>
                  </a:solidFill>
                  <a:latin typeface="Consolas" panose="020B0609020204030204" pitchFamily="49" charset="0"/>
                </a:rPr>
                <a:t>if db.get(“RFDEVICE:STATE”) != “Busy”:</a:t>
              </a:r>
            </a:p>
            <a:p>
              <a:pPr defTabSz="182880"/>
              <a:r>
                <a:rPr lang="en-US" sz="800">
                  <a:solidFill>
                    <a:schemeClr val="tx1"/>
                  </a:solidFill>
                  <a:latin typeface="Consolas" panose="020B0609020204030204" pitchFamily="49" charset="0"/>
                </a:rPr>
                <a:t>	db.set</a:t>
              </a:r>
              <a:r>
                <a:rPr lang="en-US" altLang="zh-TW" sz="800">
                  <a:solidFill>
                    <a:schemeClr val="tx1"/>
                  </a:solidFill>
                  <a:latin typeface="Consolas" panose="020B0609020204030204" pitchFamily="49" charset="0"/>
                </a:rPr>
                <a:t>(“RFDEVICE:STATE”, “Busy”)</a:t>
              </a:r>
            </a:p>
            <a:p>
              <a:pPr defTabSz="182880"/>
              <a:endParaRPr lang="en-US" sz="800">
                <a:solidFill>
                  <a:schemeClr val="tx1"/>
                </a:solidFill>
                <a:latin typeface="Consolas" panose="020B0609020204030204" pitchFamily="49" charset="0"/>
              </a:endParaRPr>
            </a:p>
            <a:p>
              <a:pPr defTabSz="182880"/>
              <a:r>
                <a:rPr lang="en-US" sz="800">
                  <a:solidFill>
                    <a:schemeClr val="tx1"/>
                  </a:solidFill>
                  <a:latin typeface="Consolas" panose="020B0609020204030204" pitchFamily="49" charset="0"/>
                </a:rPr>
                <a:t>db.set(“Trans:db_key”, trans_msg)</a:t>
              </a:r>
            </a:p>
            <a:p>
              <a:pPr defTabSz="182880"/>
              <a:r>
                <a:rPr lang="en-US" sz="800">
                  <a:solidFill>
                    <a:schemeClr val="tx1"/>
                  </a:solidFill>
                  <a:latin typeface="Consolas" panose="020B0609020204030204" pitchFamily="49" charset="0"/>
                </a:rPr>
                <a:t>db.set(“TRANS:ACK”, “Waiting”)</a:t>
              </a:r>
            </a:p>
            <a:p>
              <a:pPr defTabSz="182880"/>
              <a:endParaRPr lang="en-US" sz="800">
                <a:solidFill>
                  <a:schemeClr val="tx1"/>
                </a:solidFill>
                <a:latin typeface="Consolas" panose="020B0609020204030204" pitchFamily="49" charset="0"/>
              </a:endParaRPr>
            </a:p>
            <a:p>
              <a:pPr defTabSz="182880"/>
              <a:r>
                <a:rPr lang="en-US" sz="800">
                  <a:solidFill>
                    <a:schemeClr val="tx1"/>
                  </a:solidFill>
                  <a:latin typeface="Consolas" panose="020B0609020204030204" pitchFamily="49" charset="0"/>
                </a:rPr>
                <a:t>monitor_key()</a:t>
              </a:r>
            </a:p>
          </p:txBody>
        </p:sp>
        <p:sp>
          <p:nvSpPr>
            <p:cNvPr id="32" name="Rectangle 5">
              <a:extLst>
                <a:ext uri="{FF2B5EF4-FFF2-40B4-BE49-F238E27FC236}">
                  <a16:creationId xmlns:a16="http://schemas.microsoft.com/office/drawing/2014/main" id="{4E034A51-4F61-86F6-252A-512686F0CED7}"/>
                </a:ext>
              </a:extLst>
            </p:cNvPr>
            <p:cNvSpPr/>
            <p:nvPr/>
          </p:nvSpPr>
          <p:spPr>
            <a:xfrm>
              <a:off x="9566820" y="1116623"/>
              <a:ext cx="2568358" cy="2646622"/>
            </a:xfrm>
            <a:prstGeom prst="rect">
              <a:avLst/>
            </a:prstGeom>
            <a:solidFill>
              <a:schemeClr val="accent6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3">
                <a:shade val="50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defTabSz="182880"/>
              <a:r>
                <a:rPr lang="en-US" sz="800">
                  <a:solidFill>
                    <a:schemeClr val="tx1"/>
                  </a:solidFill>
                  <a:latin typeface="Consolas" panose="020B0609020204030204" pitchFamily="49" charset="0"/>
                </a:rPr>
                <a:t>while retry &lt; RETRY_MAX:</a:t>
              </a:r>
            </a:p>
            <a:p>
              <a:pPr defTabSz="182880"/>
              <a:r>
                <a:rPr lang="en-US" sz="800">
                  <a:solidFill>
                    <a:schemeClr val="tx1"/>
                  </a:solidFill>
                  <a:latin typeface="Consolas" panose="020B0609020204030204" pitchFamily="49" charset="0"/>
                </a:rPr>
                <a:t>	if db.get(“RFSYSTEM:STATE”) == “Hold”:</a:t>
              </a:r>
            </a:p>
            <a:p>
              <a:pPr defTabSz="182880"/>
              <a:r>
                <a:rPr lang="en-US" sz="800">
                  <a:solidFill>
                    <a:schemeClr val="tx1"/>
                  </a:solidFill>
                  <a:latin typeface="Consolas" panose="020B0609020204030204" pitchFamily="49" charset="0"/>
                </a:rPr>
                <a:t>		return</a:t>
              </a:r>
            </a:p>
            <a:p>
              <a:pPr defTabSz="182880"/>
              <a:r>
                <a:rPr lang="en-US" sz="800">
                  <a:solidFill>
                    <a:schemeClr val="tx1"/>
                  </a:solidFill>
                  <a:latin typeface="Consolas" panose="020B0609020204030204" pitchFamily="49" charset="0"/>
                </a:rPr>
                <a:t>	elif db.get(“TRANS:ACK”) != “</a:t>
              </a:r>
              <a:r>
                <a:rPr lang="en-US" altLang="zh-TW" sz="800">
                  <a:solidFill>
                    <a:schemeClr val="tx1"/>
                  </a:solidFill>
                  <a:latin typeface="Consolas" panose="020B0609020204030204" pitchFamily="49" charset="0"/>
                </a:rPr>
                <a:t>Waiting</a:t>
              </a:r>
              <a:r>
                <a:rPr lang="en-US" sz="800">
                  <a:solidFill>
                    <a:schemeClr val="tx1"/>
                  </a:solidFill>
                  <a:latin typeface="Consolas" panose="020B0609020204030204" pitchFamily="49" charset="0"/>
                </a:rPr>
                <a:t>”</a:t>
              </a:r>
            </a:p>
            <a:p>
              <a:pPr defTabSz="182880"/>
              <a:r>
                <a:rPr lang="en-US" sz="800">
                  <a:solidFill>
                    <a:schemeClr val="tx1"/>
                  </a:solidFill>
                  <a:latin typeface="Consolas" panose="020B0609020204030204" pitchFamily="49" charset="0"/>
                </a:rPr>
                <a:t>		return</a:t>
              </a:r>
            </a:p>
            <a:p>
              <a:pPr defTabSz="182880"/>
              <a:r>
                <a:rPr lang="en-US" sz="800">
                  <a:solidFill>
                    <a:schemeClr val="tx1"/>
                  </a:solidFill>
                  <a:latin typeface="Consolas" panose="020B0609020204030204" pitchFamily="49" charset="0"/>
                </a:rPr>
                <a:t>	elif wait_time &lt; MAX_TIME:</a:t>
              </a:r>
            </a:p>
            <a:p>
              <a:pPr defTabSz="182880"/>
              <a:r>
                <a:rPr lang="en-US" sz="800">
                  <a:solidFill>
                    <a:schemeClr val="tx1"/>
                  </a:solidFill>
                  <a:latin typeface="Consolas" panose="020B0609020204030204" pitchFamily="49" charset="0"/>
                </a:rPr>
                <a:t>		time.sleep(wait_</a:t>
              </a:r>
              <a:r>
                <a:rPr lang="en-US" altLang="zh-TW" sz="800">
                  <a:solidFill>
                    <a:schemeClr val="tx1"/>
                  </a:solidFill>
                  <a:latin typeface="Consolas" panose="020B0609020204030204" pitchFamily="49" charset="0"/>
                </a:rPr>
                <a:t> interval</a:t>
              </a:r>
              <a:r>
                <a:rPr lang="en-US" sz="800">
                  <a:solidFill>
                    <a:schemeClr val="tx1"/>
                  </a:solidFill>
                  <a:latin typeface="Consolas" panose="020B0609020204030204" pitchFamily="49" charset="0"/>
                </a:rPr>
                <a:t>)</a:t>
              </a:r>
            </a:p>
            <a:p>
              <a:pPr defTabSz="182880"/>
              <a:r>
                <a:rPr lang="en-US" sz="800">
                  <a:solidFill>
                    <a:schemeClr val="tx1"/>
                  </a:solidFill>
                  <a:latin typeface="Consolas" panose="020B0609020204030204" pitchFamily="49" charset="0"/>
                </a:rPr>
                <a:t>		</a:t>
              </a:r>
              <a:r>
                <a:rPr lang="en-US" altLang="zh-TW" sz="800">
                  <a:solidFill>
                    <a:schemeClr val="tx1"/>
                  </a:solidFill>
                  <a:latin typeface="Consolas" panose="020B0609020204030204" pitchFamily="49" charset="0"/>
                </a:rPr>
                <a:t> wait_time += wait_interval</a:t>
              </a:r>
            </a:p>
            <a:p>
              <a:pPr defTabSz="182880"/>
              <a:r>
                <a:rPr lang="en-US" sz="800">
                  <a:solidFill>
                    <a:schemeClr val="tx1"/>
                  </a:solidFill>
                  <a:latin typeface="Consolas" panose="020B0609020204030204" pitchFamily="49" charset="0"/>
                </a:rPr>
                <a:t>	else:</a:t>
              </a:r>
            </a:p>
            <a:p>
              <a:pPr defTabSz="182880"/>
              <a:r>
                <a:rPr lang="en-US" sz="800">
                  <a:solidFill>
                    <a:schemeClr val="tx1"/>
                  </a:solidFill>
                  <a:latin typeface="Consolas" panose="020B0609020204030204" pitchFamily="49" charset="0"/>
                </a:rPr>
                <a:t>		retry += 1</a:t>
              </a:r>
            </a:p>
            <a:p>
              <a:pPr defTabSz="182880"/>
              <a:r>
                <a:rPr lang="en-US" sz="800">
                  <a:solidFill>
                    <a:schemeClr val="tx1"/>
                  </a:solidFill>
                  <a:latin typeface="Consolas" panose="020B0609020204030204" pitchFamily="49" charset="0"/>
                </a:rPr>
                <a:t>		wait_time = 0</a:t>
              </a:r>
            </a:p>
            <a:p>
              <a:pPr defTabSz="182880"/>
              <a:r>
                <a:rPr lang="en-US" sz="800">
                  <a:solidFill>
                    <a:schemeClr val="tx1"/>
                  </a:solidFill>
                  <a:latin typeface="Consolas" panose="020B0609020204030204" pitchFamily="49" charset="0"/>
                </a:rPr>
                <a:t>		db.delete(</a:t>
              </a:r>
              <a:r>
                <a:rPr lang="en-US" altLang="zh-TW" sz="800">
                  <a:solidFill>
                    <a:schemeClr val="tx1"/>
                  </a:solidFill>
                  <a:latin typeface="Consolas" panose="020B0609020204030204" pitchFamily="49" charset="0"/>
                </a:rPr>
                <a:t>“Trans:db_key”</a:t>
              </a:r>
              <a:r>
                <a:rPr lang="en-US" sz="800">
                  <a:solidFill>
                    <a:schemeClr val="tx1"/>
                  </a:solidFill>
                  <a:latin typeface="Consolas" panose="020B0609020204030204" pitchFamily="49" charset="0"/>
                </a:rPr>
                <a:t>)</a:t>
              </a:r>
            </a:p>
            <a:p>
              <a:pPr defTabSz="182880"/>
              <a:r>
                <a:rPr lang="en-US" sz="800">
                  <a:solidFill>
                    <a:schemeClr val="tx1"/>
                  </a:solidFill>
                  <a:latin typeface="Consolas" panose="020B0609020204030204" pitchFamily="49" charset="0"/>
                </a:rPr>
                <a:t>		db.set(</a:t>
              </a:r>
              <a:r>
                <a:rPr lang="en-US" altLang="zh-TW" sz="800">
                  <a:solidFill>
                    <a:schemeClr val="tx1"/>
                  </a:solidFill>
                  <a:latin typeface="Consolas" panose="020B0609020204030204" pitchFamily="49" charset="0"/>
                </a:rPr>
                <a:t>“Trans:db_key”, trans_msg)</a:t>
              </a:r>
            </a:p>
            <a:p>
              <a:pPr defTabSz="182880"/>
              <a:endParaRPr lang="en-US" sz="800">
                <a:solidFill>
                  <a:schemeClr val="tx1"/>
                </a:solidFill>
                <a:latin typeface="Consolas" panose="020B0609020204030204" pitchFamily="49" charset="0"/>
              </a:endParaRPr>
            </a:p>
            <a:p>
              <a:pPr defTabSz="182880"/>
              <a:r>
                <a:rPr lang="en-US" sz="800">
                  <a:solidFill>
                    <a:schemeClr val="tx1"/>
                  </a:solidFill>
                  <a:latin typeface="Consolas" panose="020B0609020204030204" pitchFamily="49" charset="0"/>
                </a:rPr>
                <a:t>abort_monitor()</a:t>
              </a:r>
            </a:p>
          </p:txBody>
        </p:sp>
        <p:sp>
          <p:nvSpPr>
            <p:cNvPr id="33" name="Rectangle 5">
              <a:extLst>
                <a:ext uri="{FF2B5EF4-FFF2-40B4-BE49-F238E27FC236}">
                  <a16:creationId xmlns:a16="http://schemas.microsoft.com/office/drawing/2014/main" id="{413CEC89-9595-FC03-451D-B26F84FBE0F0}"/>
                </a:ext>
              </a:extLst>
            </p:cNvPr>
            <p:cNvSpPr/>
            <p:nvPr/>
          </p:nvSpPr>
          <p:spPr>
            <a:xfrm>
              <a:off x="9650272" y="3003247"/>
              <a:ext cx="2484906" cy="721071"/>
            </a:xfrm>
            <a:prstGeom prst="rect">
              <a:avLst/>
            </a:prstGeom>
            <a:solidFill>
              <a:schemeClr val="accent6">
                <a:lumMod val="60000"/>
                <a:lumOff val="40000"/>
              </a:schemeClr>
            </a:solidFill>
            <a:ln>
              <a:noFill/>
            </a:ln>
          </p:spPr>
          <p:style>
            <a:lnRef idx="2">
              <a:schemeClr val="accent3">
                <a:shade val="50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defTabSz="182880"/>
              <a:r>
                <a:rPr lang="en-US" sz="800">
                  <a:solidFill>
                    <a:schemeClr val="tx1"/>
                  </a:solidFill>
                  <a:latin typeface="Consolas" panose="020B0609020204030204" pitchFamily="49" charset="0"/>
                </a:rPr>
                <a:t>db.set(“RECEPTION”, db_key)</a:t>
              </a:r>
            </a:p>
            <a:p>
              <a:pPr defTabSz="182880"/>
              <a:r>
                <a:rPr lang="en-US" sz="800">
                  <a:solidFill>
                    <a:schemeClr val="tx1"/>
                  </a:solidFill>
                  <a:latin typeface="Consolas" panose="020B0609020204030204" pitchFamily="49" charset="0"/>
                </a:rPr>
                <a:t>db.set(“db_key:ACK”, “Fail”)</a:t>
              </a:r>
            </a:p>
            <a:p>
              <a:pPr defTabSz="182880"/>
              <a:r>
                <a:rPr lang="en-US" sz="800">
                  <a:solidFill>
                    <a:schemeClr val="tx1"/>
                  </a:solidFill>
                  <a:latin typeface="Consolas" panose="020B0609020204030204" pitchFamily="49" charset="0"/>
                </a:rPr>
                <a:t>db.set(“RFDEVICE:STATE”, “Idle”)</a:t>
              </a:r>
            </a:p>
            <a:p>
              <a:pPr defTabSz="182880"/>
              <a:r>
                <a:rPr lang="en-US" sz="800">
                  <a:solidFill>
                    <a:schemeClr val="tx1"/>
                  </a:solidFill>
                  <a:latin typeface="Consolas" panose="020B0609020204030204" pitchFamily="49" charset="0"/>
                </a:rPr>
                <a:t>db.set(“TRANS:ACK”, “Failed”)</a:t>
              </a:r>
            </a:p>
            <a:p>
              <a:pPr defTabSz="182880"/>
              <a:r>
                <a:rPr lang="en-US" sz="800">
                  <a:solidFill>
                    <a:schemeClr val="tx1"/>
                  </a:solidFill>
                  <a:latin typeface="Consolas" panose="020B0609020204030204" pitchFamily="49" charset="0"/>
                </a:rPr>
                <a:t>db.rpop(“QUEUE:LIST:TRANS”)</a:t>
              </a:r>
            </a:p>
          </p:txBody>
        </p:sp>
        <p:sp>
          <p:nvSpPr>
            <p:cNvPr id="35" name="Rectangle 5">
              <a:extLst>
                <a:ext uri="{FF2B5EF4-FFF2-40B4-BE49-F238E27FC236}">
                  <a16:creationId xmlns:a16="http://schemas.microsoft.com/office/drawing/2014/main" id="{4C6FC070-F134-6018-9144-98A5C39A4A7C}"/>
                </a:ext>
              </a:extLst>
            </p:cNvPr>
            <p:cNvSpPr/>
            <p:nvPr/>
          </p:nvSpPr>
          <p:spPr>
            <a:xfrm>
              <a:off x="96341" y="83933"/>
              <a:ext cx="4186902" cy="2827709"/>
            </a:xfrm>
            <a:prstGeom prst="rect">
              <a:avLst/>
            </a:prstGeom>
            <a:solidFill>
              <a:schemeClr val="accent5">
                <a:lumMod val="20000"/>
                <a:lumOff val="80000"/>
              </a:schemeClr>
            </a:solidFill>
            <a:ln>
              <a:noFill/>
            </a:ln>
          </p:spPr>
          <p:style>
            <a:lnRef idx="2">
              <a:schemeClr val="accent3">
                <a:shade val="50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defTabSz="182880"/>
              <a:r>
                <a:rPr lang="en-US" sz="800">
                  <a:solidFill>
                    <a:schemeClr val="tx1"/>
                  </a:solidFill>
                  <a:latin typeface="Consolas" panose="020B0609020204030204" pitchFamily="49" charset="0"/>
                </a:rPr>
                <a:t>if action == “CSI”:</a:t>
              </a:r>
            </a:p>
            <a:p>
              <a:pPr defTabSz="182880"/>
              <a:r>
                <a:rPr lang="en-US" sz="800">
                  <a:solidFill>
                    <a:schemeClr val="tx1"/>
                  </a:solidFill>
                  <a:latin typeface="Consolas" panose="020B0609020204030204" pitchFamily="49" charset="0"/>
                </a:rPr>
                <a:t>	csi_key = db.get(“SYSTEM:ACTION:CSI”)</a:t>
              </a:r>
            </a:p>
            <a:p>
              <a:pPr defTabSz="182880"/>
              <a:r>
                <a:rPr lang="en-US" sz="800">
                  <a:solidFill>
                    <a:schemeClr val="tx1"/>
                  </a:solidFill>
                  <a:latin typeface="Consolas" panose="020B0609020204030204" pitchFamily="49" charset="0"/>
                </a:rPr>
                <a:t>	db.lpush(“SYSTEM:CSI:QUEUE”, </a:t>
              </a:r>
              <a:r>
                <a:rPr lang="en-US" altLang="zh-TW" sz="800">
                  <a:solidFill>
                    <a:schemeClr val="tx1"/>
                  </a:solidFill>
                  <a:latin typeface="Consolas" panose="020B0609020204030204" pitchFamily="49" charset="0"/>
                </a:rPr>
                <a:t>csi_key</a:t>
              </a:r>
              <a:r>
                <a:rPr lang="en-US" sz="800">
                  <a:solidFill>
                    <a:schemeClr val="tx1"/>
                  </a:solidFill>
                  <a:latin typeface="Consolas" panose="020B0609020204030204" pitchFamily="49" charset="0"/>
                </a:rPr>
                <a:t>)</a:t>
              </a:r>
            </a:p>
            <a:p>
              <a:pPr defTabSz="182880"/>
              <a:r>
                <a:rPr lang="en-US" sz="800">
                  <a:solidFill>
                    <a:schemeClr val="tx1"/>
                  </a:solidFill>
                  <a:latin typeface="Consolas" panose="020B0609020204030204" pitchFamily="49" charset="0"/>
                </a:rPr>
                <a:t>	if len(db.lrange(“SYSTEM:CSI:QUEUE”, 0, -1)) &gt; CSI_Q_MAX:</a:t>
              </a:r>
            </a:p>
            <a:p>
              <a:pPr defTabSz="182880"/>
              <a:r>
                <a:rPr lang="en-US" sz="800">
                  <a:solidFill>
                    <a:schemeClr val="tx1"/>
                  </a:solidFill>
                  <a:latin typeface="Consolas" panose="020B0609020204030204" pitchFamily="49" charset="0"/>
                </a:rPr>
                <a:t>		oldest_csi_key = </a:t>
              </a:r>
              <a:r>
                <a:rPr lang="en-US" altLang="zh-TW" sz="800">
                  <a:solidFill>
                    <a:schemeClr val="tx1"/>
                  </a:solidFill>
                  <a:latin typeface="Consolas" panose="020B0609020204030204" pitchFamily="49" charset="0"/>
                </a:rPr>
                <a:t>db.rpop(“SYSTEM:CSI:QUEUE”)</a:t>
              </a:r>
            </a:p>
            <a:p>
              <a:pPr defTabSz="182880"/>
              <a:r>
                <a:rPr lang="en-US" sz="800">
                  <a:solidFill>
                    <a:schemeClr val="tx1"/>
                  </a:solidFill>
                  <a:latin typeface="Consolas" panose="020B0609020204030204" pitchFamily="49" charset="0"/>
                </a:rPr>
                <a:t>		db.delete(</a:t>
              </a:r>
              <a:r>
                <a:rPr lang="en-US" altLang="zh-TW" sz="800">
                  <a:solidFill>
                    <a:schemeClr val="tx1"/>
                  </a:solidFill>
                  <a:latin typeface="Consolas" panose="020B0609020204030204" pitchFamily="49" charset="0"/>
                </a:rPr>
                <a:t>oldest_csi_key</a:t>
              </a:r>
              <a:r>
                <a:rPr lang="en-US" sz="800">
                  <a:solidFill>
                    <a:schemeClr val="tx1"/>
                  </a:solidFill>
                  <a:latin typeface="Consolas" panose="020B0609020204030204" pitchFamily="49" charset="0"/>
                </a:rPr>
                <a:t>)</a:t>
              </a:r>
            </a:p>
            <a:p>
              <a:pPr defTabSz="182880"/>
              <a:r>
                <a:rPr lang="en-US" sz="800">
                  <a:solidFill>
                    <a:schemeClr val="tx1"/>
                  </a:solidFill>
                  <a:latin typeface="Consolas" panose="020B0609020204030204" pitchFamily="49" charset="0"/>
                </a:rPr>
                <a:t>		detect_interference()</a:t>
              </a:r>
            </a:p>
          </p:txBody>
        </p:sp>
        <p:sp>
          <p:nvSpPr>
            <p:cNvPr id="36" name="Rectangle 5">
              <a:extLst>
                <a:ext uri="{FF2B5EF4-FFF2-40B4-BE49-F238E27FC236}">
                  <a16:creationId xmlns:a16="http://schemas.microsoft.com/office/drawing/2014/main" id="{B9844FD0-75E9-1256-A849-A6F65F4B0A1F}"/>
                </a:ext>
              </a:extLst>
            </p:cNvPr>
            <p:cNvSpPr/>
            <p:nvPr/>
          </p:nvSpPr>
          <p:spPr>
            <a:xfrm>
              <a:off x="96340" y="2911642"/>
              <a:ext cx="4186902" cy="3902531"/>
            </a:xfrm>
            <a:prstGeom prst="rect">
              <a:avLst/>
            </a:prstGeom>
            <a:solidFill>
              <a:schemeClr val="accent5">
                <a:lumMod val="20000"/>
                <a:lumOff val="80000"/>
              </a:schemeClr>
            </a:solidFill>
            <a:ln>
              <a:noFill/>
            </a:ln>
          </p:spPr>
          <p:style>
            <a:lnRef idx="2">
              <a:schemeClr val="accent3">
                <a:shade val="50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defTabSz="182880"/>
              <a:r>
                <a:rPr lang="en-US" sz="800">
                  <a:solidFill>
                    <a:schemeClr val="tx1"/>
                  </a:solidFill>
                  <a:latin typeface="Consolas" panose="020B0609020204030204" pitchFamily="49" charset="0"/>
                </a:rPr>
                <a:t>elif action == “HOP”:</a:t>
              </a:r>
            </a:p>
            <a:p>
              <a:pPr defTabSz="182880"/>
              <a:r>
                <a:rPr lang="en-US" sz="800">
                  <a:solidFill>
                    <a:schemeClr val="tx1"/>
                  </a:solidFill>
                  <a:latin typeface="Consolas" panose="020B0609020204030204" pitchFamily="49" charset="0"/>
                </a:rPr>
                <a:t>	action_to_hop()</a:t>
              </a:r>
            </a:p>
          </p:txBody>
        </p:sp>
        <p:sp>
          <p:nvSpPr>
            <p:cNvPr id="37" name="Rectangle 5">
              <a:extLst>
                <a:ext uri="{FF2B5EF4-FFF2-40B4-BE49-F238E27FC236}">
                  <a16:creationId xmlns:a16="http://schemas.microsoft.com/office/drawing/2014/main" id="{92933343-09AA-0E9D-7185-5EFCE31A8213}"/>
                </a:ext>
              </a:extLst>
            </p:cNvPr>
            <p:cNvSpPr/>
            <p:nvPr/>
          </p:nvSpPr>
          <p:spPr>
            <a:xfrm>
              <a:off x="4462699" y="4685121"/>
              <a:ext cx="3641789" cy="2066743"/>
            </a:xfrm>
            <a:prstGeom prst="rect">
              <a:avLst/>
            </a:prstGeom>
            <a:solidFill>
              <a:schemeClr val="accent5">
                <a:lumMod val="20000"/>
                <a:lumOff val="80000"/>
              </a:schemeClr>
            </a:solidFill>
            <a:ln>
              <a:noFill/>
            </a:ln>
          </p:spPr>
          <p:style>
            <a:lnRef idx="2">
              <a:schemeClr val="accent3">
                <a:shade val="50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defTabSz="182880"/>
              <a:r>
                <a:rPr lang="en-US" sz="800">
                  <a:solidFill>
                    <a:schemeClr val="tx1"/>
                  </a:solidFill>
                  <a:latin typeface="Consolas" panose="020B0609020204030204" pitchFamily="49" charset="0"/>
                </a:rPr>
                <a:t>elif action == “CEHCK”:</a:t>
              </a:r>
            </a:p>
            <a:p>
              <a:pPr defTabSz="182880"/>
              <a:r>
                <a:rPr lang="en-US" sz="800">
                  <a:solidFill>
                    <a:schemeClr val="tx1"/>
                  </a:solidFill>
                  <a:latin typeface="Consolas" panose="020B0609020204030204" pitchFamily="49" charset="0"/>
                </a:rPr>
                <a:t>	if msg[“data”] != “expired”:</a:t>
              </a:r>
            </a:p>
            <a:p>
              <a:pPr defTabSz="182880"/>
              <a:r>
                <a:rPr lang="en-US" sz="800">
                  <a:solidFill>
                    <a:schemeClr val="tx1"/>
                  </a:solidFill>
                  <a:latin typeface="Consolas" panose="020B0609020204030204" pitchFamily="49" charset="0"/>
                </a:rPr>
                <a:t>		return</a:t>
              </a:r>
            </a:p>
            <a:p>
              <a:pPr defTabSz="182880"/>
              <a:r>
                <a:rPr lang="en-US" sz="800">
                  <a:solidFill>
                    <a:schemeClr val="tx1"/>
                  </a:solidFill>
                  <a:latin typeface="Consolas" panose="020B0609020204030204" pitchFamily="49" charset="0"/>
                </a:rPr>
                <a:t>	if db.get(“SYSTEM:ACTION:CHECK”) is not None:</a:t>
              </a:r>
            </a:p>
            <a:p>
              <a:pPr defTabSz="182880"/>
              <a:r>
                <a:rPr lang="en-US" sz="800">
                  <a:solidFill>
                    <a:schemeClr val="tx1"/>
                  </a:solidFill>
                  <a:latin typeface="Consolas" panose="020B0609020204030204" pitchFamily="49" charset="0"/>
                </a:rPr>
                <a:t>		return</a:t>
              </a:r>
            </a:p>
            <a:p>
              <a:pPr defTabSz="182880"/>
              <a:endParaRPr lang="en-US" sz="800">
                <a:solidFill>
                  <a:schemeClr val="tx1"/>
                </a:solidFill>
                <a:latin typeface="Consolas" panose="020B0609020204030204" pitchFamily="49" charset="0"/>
              </a:endParaRPr>
            </a:p>
            <a:p>
              <a:pPr defTabSz="182880"/>
              <a:r>
                <a:rPr lang="en-US" sz="800">
                  <a:solidFill>
                    <a:schemeClr val="tx1"/>
                  </a:solidFill>
                  <a:latin typeface="Consolas" panose="020B0609020204030204" pitchFamily="49" charset="0"/>
                </a:rPr>
                <a:t>	if db.get(“HOPPING_CTRL_ACT_NEW_FREQ_ACK”) is not None:</a:t>
              </a:r>
            </a:p>
            <a:p>
              <a:pPr defTabSz="182880"/>
              <a:r>
                <a:rPr lang="en-US" sz="800">
                  <a:solidFill>
                    <a:schemeClr val="tx1"/>
                  </a:solidFill>
                  <a:latin typeface="Consolas" panose="020B0609020204030204" pitchFamily="49" charset="0"/>
                </a:rPr>
                <a:t>		return</a:t>
              </a:r>
            </a:p>
            <a:p>
              <a:pPr defTabSz="182880"/>
              <a:r>
                <a:rPr lang="en-US" sz="800">
                  <a:solidFill>
                    <a:schemeClr val="tx1"/>
                  </a:solidFill>
                  <a:latin typeface="Consolas" panose="020B0609020204030204" pitchFamily="49" charset="0"/>
                </a:rPr>
                <a:t>	else:</a:t>
              </a:r>
            </a:p>
            <a:p>
              <a:pPr defTabSz="182880"/>
              <a:r>
                <a:rPr lang="en-US" sz="800">
                  <a:solidFill>
                    <a:schemeClr val="tx1"/>
                  </a:solidFill>
                  <a:latin typeface="Consolas" panose="020B0609020204030204" pitchFamily="49" charset="0"/>
                </a:rPr>
                <a:t>		old_freq = db.get(“SYSTEM:FREQ”)</a:t>
              </a:r>
            </a:p>
            <a:p>
              <a:pPr defTabSz="182880"/>
              <a:r>
                <a:rPr lang="en-US" sz="800">
                  <a:solidFill>
                    <a:schemeClr val="tx1"/>
                  </a:solidFill>
                  <a:latin typeface="Consolas" panose="020B0609020204030204" pitchFamily="49" charset="0"/>
                </a:rPr>
                <a:t>		db.hset(“TuneRF:11”, “Freq”, old_freq)</a:t>
              </a:r>
            </a:p>
            <a:p>
              <a:pPr defTabSz="182880"/>
              <a:r>
                <a:rPr lang="en-US" sz="800">
                  <a:solidFill>
                    <a:schemeClr val="tx1"/>
                  </a:solidFill>
                  <a:latin typeface="Consolas" panose="020B0609020204030204" pitchFamily="49" charset="0"/>
                </a:rPr>
                <a:t>		db.set(“RFSYSTEM:STATE”, “</a:t>
              </a:r>
              <a:r>
                <a:rPr lang="en-US" sz="800" b="1">
                  <a:solidFill>
                    <a:schemeClr val="accent1"/>
                  </a:solidFill>
                  <a:latin typeface="Consolas" panose="020B0609020204030204" pitchFamily="49" charset="0"/>
                </a:rPr>
                <a:t>Free</a:t>
              </a:r>
              <a:r>
                <a:rPr lang="en-US" sz="800">
                  <a:solidFill>
                    <a:schemeClr val="tx1"/>
                  </a:solidFill>
                  <a:latin typeface="Consolas" panose="020B0609020204030204" pitchFamily="49" charset="0"/>
                </a:rPr>
                <a:t>”)</a:t>
              </a:r>
            </a:p>
            <a:p>
              <a:pPr defTabSz="182880"/>
              <a:r>
                <a:rPr lang="en-US" sz="800">
                  <a:solidFill>
                    <a:schemeClr val="tx1"/>
                  </a:solidFill>
                  <a:latin typeface="Consolas" panose="020B0609020204030204" pitchFamily="49" charset="0"/>
                </a:rPr>
                <a:t>		db.set(“RFDEVICE:STATE”, “Idle”)</a:t>
              </a:r>
            </a:p>
            <a:p>
              <a:pPr defTabSz="182880"/>
              <a:endParaRPr lang="en-US" sz="800">
                <a:solidFill>
                  <a:schemeClr val="tx1"/>
                </a:solidFill>
                <a:latin typeface="Consolas" panose="020B0609020204030204" pitchFamily="49" charset="0"/>
              </a:endParaRPr>
            </a:p>
            <a:p>
              <a:pPr defTabSz="182880"/>
              <a:r>
                <a:rPr lang="en-US" sz="800">
                  <a:solidFill>
                    <a:schemeClr val="tx1"/>
                  </a:solidFill>
                  <a:latin typeface="Consolas" panose="020B0609020204030204" pitchFamily="49" charset="0"/>
                </a:rPr>
                <a:t>elif action == “DEBUG”:</a:t>
              </a:r>
            </a:p>
            <a:p>
              <a:pPr defTabSz="182880"/>
              <a:r>
                <a:rPr lang="en-US" altLang="zh-TW" sz="800">
                  <a:solidFill>
                    <a:schemeClr val="tx1"/>
                  </a:solidFill>
                  <a:latin typeface="Consolas" panose="020B0609020204030204" pitchFamily="49" charset="0"/>
                </a:rPr>
                <a:t>	detect_interference()</a:t>
              </a:r>
            </a:p>
            <a:p>
              <a:pPr defTabSz="182880"/>
              <a:endParaRPr lang="en-US" sz="800">
                <a:solidFill>
                  <a:schemeClr val="tx1"/>
                </a:solidFill>
                <a:latin typeface="Consolas" panose="020B0609020204030204" pitchFamily="49" charset="0"/>
              </a:endParaRPr>
            </a:p>
          </p:txBody>
        </p:sp>
        <p:sp>
          <p:nvSpPr>
            <p:cNvPr id="38" name="Rectangle 5">
              <a:extLst>
                <a:ext uri="{FF2B5EF4-FFF2-40B4-BE49-F238E27FC236}">
                  <a16:creationId xmlns:a16="http://schemas.microsoft.com/office/drawing/2014/main" id="{D98B896F-AC76-61BE-04F4-1CCC5C3CAC70}"/>
                </a:ext>
              </a:extLst>
            </p:cNvPr>
            <p:cNvSpPr/>
            <p:nvPr/>
          </p:nvSpPr>
          <p:spPr>
            <a:xfrm>
              <a:off x="548695" y="1017853"/>
              <a:ext cx="3734547" cy="1829622"/>
            </a:xfrm>
            <a:prstGeom prst="rect">
              <a:avLst/>
            </a:prstGeom>
            <a:solidFill>
              <a:schemeClr val="accent5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3">
                <a:shade val="50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defTabSz="182880"/>
              <a:r>
                <a:rPr lang="en-US" sz="800">
                  <a:solidFill>
                    <a:schemeClr val="tx1"/>
                  </a:solidFill>
                  <a:latin typeface="Consolas" panose="020B0609020204030204" pitchFamily="49" charset="0"/>
                </a:rPr>
                <a:t>if detected:</a:t>
              </a:r>
            </a:p>
            <a:p>
              <a:pPr defTabSz="182880"/>
              <a:r>
                <a:rPr lang="en-US" sz="800">
                  <a:solidFill>
                    <a:schemeClr val="tx1"/>
                  </a:solidFill>
                  <a:latin typeface="Consolas" panose="020B0609020204030204" pitchFamily="49" charset="0"/>
                </a:rPr>
                <a:t>	db.hset(“SYSTEM:HOPPING”, “Stage”, 2)</a:t>
              </a:r>
            </a:p>
            <a:p>
              <a:pPr defTabSz="182880"/>
              <a:r>
                <a:rPr lang="en-US" sz="800">
                  <a:solidFill>
                    <a:schemeClr val="tx1"/>
                  </a:solidFill>
                  <a:latin typeface="Consolas" panose="020B0609020204030204" pitchFamily="49" charset="0"/>
                </a:rPr>
                <a:t>	db.set(“SYSTEM:STATE”, “</a:t>
              </a:r>
              <a:r>
                <a:rPr lang="en-US" sz="800" b="1">
                  <a:solidFill>
                    <a:srgbClr val="FF0000"/>
                  </a:solidFill>
                  <a:latin typeface="Consolas" panose="020B0609020204030204" pitchFamily="49" charset="0"/>
                </a:rPr>
                <a:t>Hold</a:t>
              </a:r>
              <a:r>
                <a:rPr lang="en-US" sz="800">
                  <a:solidFill>
                    <a:schemeClr val="tx1"/>
                  </a:solidFill>
                  <a:latin typeface="Consolas" panose="020B0609020204030204" pitchFamily="49" charset="0"/>
                </a:rPr>
                <a:t>”)</a:t>
              </a:r>
            </a:p>
            <a:p>
              <a:pPr defTabSz="182880"/>
              <a:r>
                <a:rPr lang="en-US" sz="800">
                  <a:solidFill>
                    <a:schemeClr val="tx1"/>
                  </a:solidFill>
                  <a:latin typeface="Consolas" panose="020B0609020204030204" pitchFamily="49" charset="0"/>
                </a:rPr>
                <a:t>	hop_to = 2442000000</a:t>
              </a:r>
            </a:p>
            <a:p>
              <a:pPr defTabSz="182880"/>
              <a:r>
                <a:rPr lang="en-US" sz="800">
                  <a:solidFill>
                    <a:schemeClr val="tx1"/>
                  </a:solidFill>
                  <a:latin typeface="Consolas" panose="020B0609020204030204" pitchFamily="49" charset="0"/>
                </a:rPr>
                <a:t>	pre_freq = db.get(“SYSTEM:FREQ”)</a:t>
              </a:r>
            </a:p>
            <a:p>
              <a:pPr defTabSz="182880"/>
              <a:r>
                <a:rPr lang="en-US" sz="800">
                  <a:solidFill>
                    <a:schemeClr val="tx1"/>
                  </a:solidFill>
                  <a:latin typeface="Consolas" panose="020B0609020204030204" pitchFamily="49" charset="0"/>
                </a:rPr>
                <a:t>	</a:t>
              </a:r>
            </a:p>
            <a:p>
              <a:pPr defTabSz="182880"/>
              <a:r>
                <a:rPr lang="en-US" sz="800">
                  <a:solidFill>
                    <a:schemeClr val="tx1"/>
                  </a:solidFill>
                  <a:latin typeface="Consolas" panose="020B0609020204030204" pitchFamily="49" charset="0"/>
                </a:rPr>
                <a:t>	for i in range(5):</a:t>
              </a:r>
            </a:p>
            <a:p>
              <a:pPr defTabSz="182880"/>
              <a:r>
                <a:rPr lang="en-US" sz="800">
                  <a:solidFill>
                    <a:schemeClr val="tx1"/>
                  </a:solidFill>
                  <a:latin typeface="Consolas" panose="020B0609020204030204" pitchFamily="49" charset="0"/>
                </a:rPr>
                <a:t>		db.hmset(“SYSTEM:HOPPING”, {“Role”: “Initiator”, “Stage”: 3, “Freq”: hop_to, “PreFreq”: pre_freq})</a:t>
              </a:r>
            </a:p>
            <a:p>
              <a:pPr defTabSz="182880"/>
              <a:r>
                <a:rPr lang="en-US" sz="800">
                  <a:solidFill>
                    <a:schemeClr val="tx1"/>
                  </a:solidFill>
                  <a:latin typeface="Consolas" panose="020B0609020204030204" pitchFamily="49" charset="0"/>
                </a:rPr>
                <a:t>		db.set(“Trans:FREQ:HOP”, {“ControlType”: “HOP”, “ControlAction”: hop_to}, “Role”: “Follower”)</a:t>
              </a:r>
            </a:p>
            <a:p>
              <a:pPr defTabSz="182880"/>
              <a:r>
                <a:rPr lang="en-US" sz="800">
                  <a:solidFill>
                    <a:schemeClr val="tx1"/>
                  </a:solidFill>
                  <a:latin typeface="Consolas" panose="020B0609020204030204" pitchFamily="49" charset="0"/>
                </a:rPr>
                <a:t>		time.sleep(0.01)</a:t>
              </a:r>
            </a:p>
            <a:p>
              <a:pPr defTabSz="182880"/>
              <a:r>
                <a:rPr lang="en-US" sz="800">
                  <a:solidFill>
                    <a:schemeClr val="tx1"/>
                  </a:solidFill>
                  <a:latin typeface="Consolas" panose="020B0609020204030204" pitchFamily="49" charset="0"/>
                </a:rPr>
                <a:t>	db.hmset(“TuneRF:11”, {“Freq”: hop_to, “Gain”: 0.4})</a:t>
              </a:r>
            </a:p>
            <a:p>
              <a:pPr defTabSz="182880"/>
              <a:r>
                <a:rPr lang="en-US" sz="800">
                  <a:solidFill>
                    <a:schemeClr val="tx1"/>
                  </a:solidFill>
                  <a:latin typeface="Consolas" panose="020B0609020204030204" pitchFamily="49" charset="0"/>
                </a:rPr>
                <a:t>	db.set(“SYSTEM:ACTION:CHECK”, “True”, ex=10)</a:t>
              </a:r>
            </a:p>
            <a:p>
              <a:pPr defTabSz="182880"/>
              <a:r>
                <a:rPr lang="en-US" sz="800">
                  <a:solidFill>
                    <a:schemeClr val="tx1"/>
                  </a:solidFill>
                  <a:latin typeface="Consolas" panose="020B0609020204030204" pitchFamily="49" charset="0"/>
                </a:rPr>
                <a:t>	</a:t>
              </a:r>
            </a:p>
            <a:p>
              <a:pPr defTabSz="182880"/>
              <a:endParaRPr lang="en-US" sz="800">
                <a:solidFill>
                  <a:schemeClr val="tx1"/>
                </a:solidFill>
                <a:latin typeface="Consolas" panose="020B0609020204030204" pitchFamily="49" charset="0"/>
              </a:endParaRPr>
            </a:p>
          </p:txBody>
        </p:sp>
        <p:sp>
          <p:nvSpPr>
            <p:cNvPr id="39" name="Rectangle 5">
              <a:extLst>
                <a:ext uri="{FF2B5EF4-FFF2-40B4-BE49-F238E27FC236}">
                  <a16:creationId xmlns:a16="http://schemas.microsoft.com/office/drawing/2014/main" id="{E728C183-FB76-7B35-A254-341B6EFE73DA}"/>
                </a:ext>
              </a:extLst>
            </p:cNvPr>
            <p:cNvSpPr/>
            <p:nvPr/>
          </p:nvSpPr>
          <p:spPr>
            <a:xfrm>
              <a:off x="379545" y="3204000"/>
              <a:ext cx="3903697" cy="3547864"/>
            </a:xfrm>
            <a:prstGeom prst="rect">
              <a:avLst/>
            </a:prstGeom>
            <a:solidFill>
              <a:schemeClr val="accent5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3">
                <a:shade val="50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defTabSz="182880"/>
              <a:r>
                <a:rPr lang="en-US" sz="800">
                  <a:solidFill>
                    <a:schemeClr val="tx1"/>
                  </a:solidFill>
                  <a:latin typeface="Consolas" panose="020B0609020204030204" pitchFamily="49" charset="0"/>
                </a:rPr>
                <a:t>role = db.hget(“SYSTEM:HOPPING”, “Role”)</a:t>
              </a:r>
            </a:p>
            <a:p>
              <a:pPr defTabSz="182880"/>
              <a:r>
                <a:rPr lang="en-US" sz="800">
                  <a:solidFill>
                    <a:schemeClr val="tx1"/>
                  </a:solidFill>
                  <a:latin typeface="Consolas" panose="020B0609020204030204" pitchFamily="49" charset="0"/>
                </a:rPr>
                <a:t>if role == “Initiator”:</a:t>
              </a:r>
            </a:p>
            <a:p>
              <a:pPr defTabSz="182880"/>
              <a:r>
                <a:rPr lang="en-US" sz="800">
                  <a:solidFill>
                    <a:schemeClr val="tx1"/>
                  </a:solidFill>
                  <a:latin typeface="Consolas" panose="020B0609020204030204" pitchFamily="49" charset="0"/>
                </a:rPr>
                <a:t>	if payload[“ControlAction”] == “HOLD:ACK”:</a:t>
              </a:r>
            </a:p>
            <a:p>
              <a:pPr defTabSz="182880"/>
              <a:r>
                <a:rPr lang="en-US" sz="800">
                  <a:solidFill>
                    <a:schemeClr val="tx1"/>
                  </a:solidFill>
                  <a:latin typeface="Consolas" panose="020B0609020204030204" pitchFamily="49" charset="0"/>
                </a:rPr>
                <a:t>		</a:t>
              </a:r>
              <a:r>
                <a:rPr lang="en-US" altLang="zh-TW" sz="800">
                  <a:solidFill>
                    <a:schemeClr val="tx1"/>
                  </a:solidFill>
                  <a:latin typeface="Consolas" panose="020B0609020204030204" pitchFamily="49" charset="0"/>
                </a:rPr>
                <a:t>hop_to = db.hget(“SYSTEM:HOPPING”, “Freq”)</a:t>
              </a:r>
              <a:endParaRPr lang="en-US" sz="800">
                <a:solidFill>
                  <a:schemeClr val="tx1"/>
                </a:solidFill>
                <a:latin typeface="Consolas" panose="020B0609020204030204" pitchFamily="49" charset="0"/>
              </a:endParaRPr>
            </a:p>
            <a:p>
              <a:pPr defTabSz="182880"/>
              <a:r>
                <a:rPr lang="en-US" sz="800">
                  <a:solidFill>
                    <a:schemeClr val="tx1"/>
                  </a:solidFill>
                  <a:latin typeface="Consolas" panose="020B0609020204030204" pitchFamily="49" charset="0"/>
                </a:rPr>
                <a:t>		db.hset(“TuneRF:11”, Freq, hop_to)</a:t>
              </a:r>
            </a:p>
            <a:p>
              <a:pPr defTabSz="182880"/>
              <a:r>
                <a:rPr lang="en-US" sz="800">
                  <a:solidFill>
                    <a:schemeClr val="tx1"/>
                  </a:solidFill>
                  <a:latin typeface="Consolas" panose="020B0609020204030204" pitchFamily="49" charset="0"/>
                </a:rPr>
                <a:t>		for i in range(5):</a:t>
              </a:r>
            </a:p>
            <a:p>
              <a:pPr defTabSz="182880"/>
              <a:r>
                <a:rPr lang="en-US" sz="800">
                  <a:solidFill>
                    <a:schemeClr val="tx1"/>
                  </a:solidFill>
                  <a:latin typeface="Consolas" panose="020B0609020204030204" pitchFamily="49" charset="0"/>
                </a:rPr>
                <a:t>			db.set(“Trans:FREQ:HOP”, json)</a:t>
              </a:r>
            </a:p>
            <a:p>
              <a:pPr defTabSz="182880"/>
              <a:r>
                <a:rPr lang="en-US" sz="800">
                  <a:solidFill>
                    <a:schemeClr val="tx1"/>
                  </a:solidFill>
                  <a:latin typeface="Consolas" panose="020B0609020204030204" pitchFamily="49" charset="0"/>
                </a:rPr>
                <a:t>			hset(“SYSTEM:HOPPING”, Stage, 8)</a:t>
              </a:r>
            </a:p>
            <a:p>
              <a:pPr defTabSz="182880"/>
              <a:r>
                <a:rPr lang="en-US" sz="800">
                  <a:solidFill>
                    <a:schemeClr val="tx1"/>
                  </a:solidFill>
                  <a:latin typeface="Consolas" panose="020B0609020204030204" pitchFamily="49" charset="0"/>
                </a:rPr>
                <a:t>			time.sleep(0.01)</a:t>
              </a:r>
            </a:p>
            <a:p>
              <a:pPr defTabSz="182880"/>
              <a:r>
                <a:rPr lang="en-US" sz="800">
                  <a:solidFill>
                    <a:schemeClr val="tx1"/>
                  </a:solidFill>
                  <a:latin typeface="Consolas" panose="020B0609020204030204" pitchFamily="49" charset="0"/>
                </a:rPr>
                <a:t>	elif </a:t>
              </a:r>
              <a:r>
                <a:rPr lang="en-US" altLang="zh-TW" sz="800">
                  <a:solidFill>
                    <a:schemeClr val="tx1"/>
                  </a:solidFill>
                  <a:latin typeface="Consolas" panose="020B0609020204030204" pitchFamily="49" charset="0"/>
                </a:rPr>
                <a:t>payload[“ControlAction”] == “NEW:FREQ:ACK”:</a:t>
              </a:r>
            </a:p>
            <a:p>
              <a:pPr defTabSz="182880"/>
              <a:r>
                <a:rPr lang="en-US" sz="800">
                  <a:solidFill>
                    <a:schemeClr val="tx1"/>
                  </a:solidFill>
                  <a:latin typeface="Consolas" panose="020B0609020204030204" pitchFamily="49" charset="0"/>
                </a:rPr>
                <a:t>		db.delete(“SYSTEM:ACTION:CHECK”)</a:t>
              </a:r>
            </a:p>
            <a:p>
              <a:pPr defTabSz="182880"/>
              <a:r>
                <a:rPr lang="en-US" sz="800">
                  <a:solidFill>
                    <a:schemeClr val="tx1"/>
                  </a:solidFill>
                  <a:latin typeface="Consolas" panose="020B0609020204030204" pitchFamily="49" charset="0"/>
                </a:rPr>
                <a:t>		db.set(“RFSYSTEM:STATE”, </a:t>
              </a:r>
              <a:r>
                <a:rPr lang="en-US" sz="800" b="1">
                  <a:solidFill>
                    <a:schemeClr val="accent1"/>
                  </a:solidFill>
                  <a:latin typeface="Consolas" panose="020B0609020204030204" pitchFamily="49" charset="0"/>
                </a:rPr>
                <a:t>Free</a:t>
              </a:r>
              <a:r>
                <a:rPr lang="en-US" sz="800">
                  <a:solidFill>
                    <a:schemeClr val="tx1"/>
                  </a:solidFill>
                  <a:latin typeface="Consolas" panose="020B0609020204030204" pitchFamily="49" charset="0"/>
                </a:rPr>
                <a:t>)		</a:t>
              </a:r>
            </a:p>
            <a:p>
              <a:pPr defTabSz="182880"/>
              <a:r>
                <a:rPr lang="en-US" sz="800">
                  <a:solidFill>
                    <a:schemeClr val="tx1"/>
                  </a:solidFill>
                  <a:latin typeface="Consolas" panose="020B0609020204030204" pitchFamily="49" charset="0"/>
                </a:rPr>
                <a:t>else:</a:t>
              </a:r>
            </a:p>
            <a:p>
              <a:pPr defTabSz="182880"/>
              <a:r>
                <a:rPr lang="en-US" sz="800">
                  <a:solidFill>
                    <a:schemeClr val="tx1"/>
                  </a:solidFill>
                  <a:latin typeface="Consolas" panose="020B0609020204030204" pitchFamily="49" charset="0"/>
                </a:rPr>
                <a:t>	if stage == 4:</a:t>
              </a:r>
            </a:p>
            <a:p>
              <a:pPr defTabSz="182880"/>
              <a:r>
                <a:rPr lang="en-US" sz="800">
                  <a:solidFill>
                    <a:schemeClr val="tx1"/>
                  </a:solidFill>
                  <a:latin typeface="Consolas" panose="020B0609020204030204" pitchFamily="49" charset="0"/>
                </a:rPr>
                <a:t>		pre_fre = db.get(“SYSTEM:FREQ”)</a:t>
              </a:r>
            </a:p>
            <a:p>
              <a:pPr defTabSz="182880"/>
              <a:r>
                <a:rPr lang="en-US" sz="800">
                  <a:solidFill>
                    <a:schemeClr val="tx1"/>
                  </a:solidFill>
                  <a:latin typeface="Consolas" panose="020B0609020204030204" pitchFamily="49" charset="0"/>
                </a:rPr>
                <a:t>		db.set(“Trans:FREQ:HOP”, json)</a:t>
              </a:r>
            </a:p>
            <a:p>
              <a:pPr defTabSz="182880"/>
              <a:r>
                <a:rPr lang="en-US" sz="800">
                  <a:solidFill>
                    <a:schemeClr val="tx1"/>
                  </a:solidFill>
                  <a:latin typeface="Consolas" panose="020B0609020204030204" pitchFamily="49" charset="0"/>
                </a:rPr>
                <a:t>		db.hset(“SYSTEM:HOPPING”, Stage, 5)</a:t>
              </a:r>
            </a:p>
            <a:p>
              <a:pPr defTabSz="182880"/>
              <a:r>
                <a:rPr lang="en-US" sz="800">
                  <a:solidFill>
                    <a:schemeClr val="tx1"/>
                  </a:solidFill>
                  <a:latin typeface="Consolas" panose="020B0609020204030204" pitchFamily="49" charset="0"/>
                </a:rPr>
                <a:t>		time.sleep(wait_time)</a:t>
              </a:r>
            </a:p>
            <a:p>
              <a:pPr defTabSz="182880"/>
              <a:r>
                <a:rPr lang="en-US" sz="800">
                  <a:solidFill>
                    <a:schemeClr val="tx1"/>
                  </a:solidFill>
                  <a:latin typeface="Consolas" panose="020B0609020204030204" pitchFamily="49" charset="0"/>
                </a:rPr>
                <a:t>		db.hset(“TuneRF:11”, Freq, hop_to)</a:t>
              </a:r>
            </a:p>
            <a:p>
              <a:pPr defTabSz="182880"/>
              <a:r>
                <a:rPr lang="en-US" sz="800">
                  <a:solidFill>
                    <a:schemeClr val="tx1"/>
                  </a:solidFill>
                  <a:latin typeface="Consolas" panose="020B0609020204030204" pitchFamily="49" charset="0"/>
                </a:rPr>
                <a:t>		db.hmset(“SYSTEM:HOPPING”, {Stage: 6, PreFreq: pre_freq, Freq: payload[“ControlAction”]})</a:t>
              </a:r>
            </a:p>
            <a:p>
              <a:pPr defTabSz="182880"/>
              <a:r>
                <a:rPr lang="en-US" sz="800">
                  <a:solidFill>
                    <a:schemeClr val="tx1"/>
                  </a:solidFill>
                  <a:latin typeface="Consolas" panose="020B0609020204030204" pitchFamily="49" charset="0"/>
                </a:rPr>
                <a:t>	elif stage == 6:</a:t>
              </a:r>
            </a:p>
            <a:p>
              <a:pPr defTabSz="182880"/>
              <a:r>
                <a:rPr lang="en-US" sz="800">
                  <a:solidFill>
                    <a:schemeClr val="tx1"/>
                  </a:solidFill>
                  <a:latin typeface="Consolas" panose="020B0609020204030204" pitchFamily="49" charset="0"/>
                </a:rPr>
                <a:t>		for i in range(5):</a:t>
              </a:r>
            </a:p>
            <a:p>
              <a:pPr defTabSz="182880"/>
              <a:r>
                <a:rPr lang="en-US" sz="800">
                  <a:solidFill>
                    <a:schemeClr val="tx1"/>
                  </a:solidFill>
                  <a:latin typeface="Consolas" panose="020B0609020204030204" pitchFamily="49" charset="0"/>
                </a:rPr>
                <a:t>			db.set(“Trans:FREQ:HOP”, json)</a:t>
              </a:r>
            </a:p>
            <a:p>
              <a:pPr defTabSz="182880"/>
              <a:r>
                <a:rPr lang="en-US" sz="800">
                  <a:solidFill>
                    <a:schemeClr val="tx1"/>
                  </a:solidFill>
                  <a:latin typeface="Consolas" panose="020B0609020204030204" pitchFamily="49" charset="0"/>
                </a:rPr>
                <a:t>			db.hset(“SYSTEM:HOPPING”, Stage, 9)</a:t>
              </a:r>
            </a:p>
            <a:p>
              <a:pPr defTabSz="182880"/>
              <a:r>
                <a:rPr lang="en-US" sz="800">
                  <a:solidFill>
                    <a:schemeClr val="tx1"/>
                  </a:solidFill>
                  <a:latin typeface="Consolas" panose="020B0609020204030204" pitchFamily="49" charset="0"/>
                </a:rPr>
                <a:t>			time.sleep(0.01)</a:t>
              </a:r>
            </a:p>
            <a:p>
              <a:pPr defTabSz="182880"/>
              <a:r>
                <a:rPr lang="en-US" sz="800">
                  <a:solidFill>
                    <a:schemeClr val="tx1"/>
                  </a:solidFill>
                  <a:latin typeface="Consolas" panose="020B0609020204030204" pitchFamily="49" charset="0"/>
                </a:rPr>
                <a:t>		time.sleep(0.5)</a:t>
              </a:r>
            </a:p>
            <a:p>
              <a:pPr defTabSz="182880"/>
              <a:r>
                <a:rPr lang="en-US" sz="800">
                  <a:solidFill>
                    <a:schemeClr val="tx1"/>
                  </a:solidFill>
                  <a:latin typeface="Consolas" panose="020B0609020204030204" pitchFamily="49" charset="0"/>
                </a:rPr>
                <a:t>		db.set(“RFSYSTEM:STATE”, </a:t>
              </a:r>
              <a:r>
                <a:rPr lang="en-US" sz="800" b="1">
                  <a:solidFill>
                    <a:schemeClr val="accent1"/>
                  </a:solidFill>
                  <a:latin typeface="Consolas" panose="020B0609020204030204" pitchFamily="49" charset="0"/>
                </a:rPr>
                <a:t>Free</a:t>
              </a:r>
              <a:r>
                <a:rPr lang="en-US" sz="800">
                  <a:solidFill>
                    <a:schemeClr val="tx1"/>
                  </a:solidFill>
                  <a:latin typeface="Consolas" panose="020B0609020204030204" pitchFamily="49" charset="0"/>
                </a:rPr>
                <a:t>)</a:t>
              </a:r>
            </a:p>
          </p:txBody>
        </p:sp>
        <p:sp>
          <p:nvSpPr>
            <p:cNvPr id="41" name="Rectangle 6">
              <a:extLst>
                <a:ext uri="{FF2B5EF4-FFF2-40B4-BE49-F238E27FC236}">
                  <a16:creationId xmlns:a16="http://schemas.microsoft.com/office/drawing/2014/main" id="{4AC094AB-89E5-2ED3-EC0B-3C5F45B059B1}"/>
                </a:ext>
              </a:extLst>
            </p:cNvPr>
            <p:cNvSpPr/>
            <p:nvPr/>
          </p:nvSpPr>
          <p:spPr>
            <a:xfrm>
              <a:off x="11264369" y="6576547"/>
              <a:ext cx="677636" cy="175317"/>
            </a:xfrm>
            <a:prstGeom prst="rect">
              <a:avLst/>
            </a:prstGeom>
          </p:spPr>
          <p:style>
            <a:lnRef idx="2">
              <a:schemeClr val="accent4">
                <a:shade val="50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800">
                  <a:latin typeface="Consolas" panose="020B0609020204030204" pitchFamily="49" charset="0"/>
                </a:rPr>
                <a:t>Queue</a:t>
              </a:r>
            </a:p>
          </p:txBody>
        </p:sp>
        <p:sp>
          <p:nvSpPr>
            <p:cNvPr id="42" name="Rectangle 6">
              <a:extLst>
                <a:ext uri="{FF2B5EF4-FFF2-40B4-BE49-F238E27FC236}">
                  <a16:creationId xmlns:a16="http://schemas.microsoft.com/office/drawing/2014/main" id="{9239C6D1-EB4F-1AE0-437B-C058C5D3F3A8}"/>
                </a:ext>
              </a:extLst>
            </p:cNvPr>
            <p:cNvSpPr/>
            <p:nvPr/>
          </p:nvSpPr>
          <p:spPr>
            <a:xfrm>
              <a:off x="11418024" y="3519733"/>
              <a:ext cx="677636" cy="175317"/>
            </a:xfrm>
            <a:prstGeom prst="rect">
              <a:avLst/>
            </a:prstGeom>
          </p:spPr>
          <p:style>
            <a:lnRef idx="2">
              <a:schemeClr val="accent6">
                <a:shade val="50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800">
                  <a:latin typeface="Consolas" panose="020B0609020204030204" pitchFamily="49" charset="0"/>
                </a:rPr>
                <a:t>Trans</a:t>
              </a:r>
            </a:p>
          </p:txBody>
        </p:sp>
        <p:sp>
          <p:nvSpPr>
            <p:cNvPr id="43" name="Rectangle 6">
              <a:extLst>
                <a:ext uri="{FF2B5EF4-FFF2-40B4-BE49-F238E27FC236}">
                  <a16:creationId xmlns:a16="http://schemas.microsoft.com/office/drawing/2014/main" id="{5E0C7CF9-A500-9A09-5E35-0438FD7936ED}"/>
                </a:ext>
              </a:extLst>
            </p:cNvPr>
            <p:cNvSpPr/>
            <p:nvPr/>
          </p:nvSpPr>
          <p:spPr>
            <a:xfrm>
              <a:off x="3526761" y="6470763"/>
              <a:ext cx="677636" cy="175317"/>
            </a:xfrm>
            <a:prstGeom prst="rect">
              <a:avLst/>
            </a:prstGeom>
          </p:spPr>
          <p:style>
            <a:lnRef idx="2">
              <a:schemeClr val="accent5">
                <a:shade val="50000"/>
              </a:schemeClr>
            </a:lnRef>
            <a:fillRef idx="1">
              <a:schemeClr val="accent5"/>
            </a:fillRef>
            <a:effectRef idx="0">
              <a:schemeClr val="accent5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800">
                  <a:latin typeface="Consolas" panose="020B0609020204030204" pitchFamily="49" charset="0"/>
                </a:rPr>
                <a:t>Action</a:t>
              </a:r>
            </a:p>
          </p:txBody>
        </p:sp>
        <p:sp>
          <p:nvSpPr>
            <p:cNvPr id="44" name="Rectangle 6">
              <a:extLst>
                <a:ext uri="{FF2B5EF4-FFF2-40B4-BE49-F238E27FC236}">
                  <a16:creationId xmlns:a16="http://schemas.microsoft.com/office/drawing/2014/main" id="{D6354779-0585-0980-A30D-94CC494ABAF6}"/>
                </a:ext>
              </a:extLst>
            </p:cNvPr>
            <p:cNvSpPr/>
            <p:nvPr/>
          </p:nvSpPr>
          <p:spPr>
            <a:xfrm>
              <a:off x="8180864" y="3533837"/>
              <a:ext cx="677636" cy="175317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800">
                  <a:latin typeface="Consolas" panose="020B0609020204030204" pitchFamily="49" charset="0"/>
                </a:rPr>
                <a:t>Sink</a:t>
              </a:r>
            </a:p>
          </p:txBody>
        </p:sp>
      </p:grpSp>
      <p:cxnSp>
        <p:nvCxnSpPr>
          <p:cNvPr id="16" name="Straight Arrow Connector 21">
            <a:extLst>
              <a:ext uri="{FF2B5EF4-FFF2-40B4-BE49-F238E27FC236}">
                <a16:creationId xmlns:a16="http://schemas.microsoft.com/office/drawing/2014/main" id="{AFB0C134-4F4F-D37B-1E22-4FBE40DF2949}"/>
              </a:ext>
            </a:extLst>
          </p:cNvPr>
          <p:cNvCxnSpPr>
            <a:cxnSpLocks/>
          </p:cNvCxnSpPr>
          <p:nvPr/>
        </p:nvCxnSpPr>
        <p:spPr>
          <a:xfrm>
            <a:off x="6717059" y="4262096"/>
            <a:ext cx="331738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Straight Connector 54">
            <a:extLst>
              <a:ext uri="{FF2B5EF4-FFF2-40B4-BE49-F238E27FC236}">
                <a16:creationId xmlns:a16="http://schemas.microsoft.com/office/drawing/2014/main" id="{77080DF0-3A44-1333-75EB-2305FB5BDA11}"/>
              </a:ext>
            </a:extLst>
          </p:cNvPr>
          <p:cNvCxnSpPr>
            <a:cxnSpLocks/>
          </p:cNvCxnSpPr>
          <p:nvPr/>
        </p:nvCxnSpPr>
        <p:spPr>
          <a:xfrm flipH="1">
            <a:off x="6283594" y="4257334"/>
            <a:ext cx="289550" cy="0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TextBox 30">
            <a:extLst>
              <a:ext uri="{FF2B5EF4-FFF2-40B4-BE49-F238E27FC236}">
                <a16:creationId xmlns:a16="http://schemas.microsoft.com/office/drawing/2014/main" id="{0292E08E-72FF-D8F1-CE9B-70F2866F93B3}"/>
              </a:ext>
            </a:extLst>
          </p:cNvPr>
          <p:cNvSpPr txBox="1"/>
          <p:nvPr/>
        </p:nvSpPr>
        <p:spPr>
          <a:xfrm>
            <a:off x="5744843" y="4134223"/>
            <a:ext cx="466794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00">
                <a:latin typeface="Consolas" panose="020B0609020204030204" pitchFamily="49" charset="0"/>
              </a:rPr>
              <a:t>text</a:t>
            </a:r>
          </a:p>
        </p:txBody>
      </p:sp>
      <p:cxnSp>
        <p:nvCxnSpPr>
          <p:cNvPr id="3" name="Straight Arrow Connector 21">
            <a:extLst>
              <a:ext uri="{FF2B5EF4-FFF2-40B4-BE49-F238E27FC236}">
                <a16:creationId xmlns:a16="http://schemas.microsoft.com/office/drawing/2014/main" id="{A17EB990-682C-0697-C3C7-C402BDC330FE}"/>
              </a:ext>
            </a:extLst>
          </p:cNvPr>
          <p:cNvCxnSpPr>
            <a:cxnSpLocks/>
          </p:cNvCxnSpPr>
          <p:nvPr/>
        </p:nvCxnSpPr>
        <p:spPr>
          <a:xfrm flipH="1">
            <a:off x="1331495" y="1066800"/>
            <a:ext cx="4034589" cy="1936447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" name="Straight Arrow Connector 21">
            <a:extLst>
              <a:ext uri="{FF2B5EF4-FFF2-40B4-BE49-F238E27FC236}">
                <a16:creationId xmlns:a16="http://schemas.microsoft.com/office/drawing/2014/main" id="{98A4CB37-17C1-CFAC-BCD2-CED9E71C6B76}"/>
              </a:ext>
            </a:extLst>
          </p:cNvPr>
          <p:cNvCxnSpPr>
            <a:cxnSpLocks/>
          </p:cNvCxnSpPr>
          <p:nvPr/>
        </p:nvCxnSpPr>
        <p:spPr>
          <a:xfrm>
            <a:off x="7270511" y="572412"/>
            <a:ext cx="2547257" cy="791167"/>
          </a:xfrm>
          <a:prstGeom prst="straightConnector1">
            <a:avLst/>
          </a:prstGeom>
          <a:ln>
            <a:solidFill>
              <a:schemeClr val="accent5">
                <a:lumMod val="60000"/>
                <a:lumOff val="40000"/>
              </a:schemeClr>
            </a:solidFill>
            <a:prstDash val="lg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Straight Arrow Connector 21">
            <a:extLst>
              <a:ext uri="{FF2B5EF4-FFF2-40B4-BE49-F238E27FC236}">
                <a16:creationId xmlns:a16="http://schemas.microsoft.com/office/drawing/2014/main" id="{E6CED597-A477-FC86-7ECE-FD7C1BAACC6F}"/>
              </a:ext>
            </a:extLst>
          </p:cNvPr>
          <p:cNvCxnSpPr>
            <a:cxnSpLocks/>
          </p:cNvCxnSpPr>
          <p:nvPr/>
        </p:nvCxnSpPr>
        <p:spPr>
          <a:xfrm>
            <a:off x="7270511" y="568701"/>
            <a:ext cx="1705047" cy="5599488"/>
          </a:xfrm>
          <a:prstGeom prst="straightConnector1">
            <a:avLst/>
          </a:prstGeom>
          <a:ln>
            <a:solidFill>
              <a:schemeClr val="accent5">
                <a:lumMod val="60000"/>
                <a:lumOff val="40000"/>
              </a:schemeClr>
            </a:solidFill>
            <a:prstDash val="lg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Arrow Connector 21">
            <a:extLst>
              <a:ext uri="{FF2B5EF4-FFF2-40B4-BE49-F238E27FC236}">
                <a16:creationId xmlns:a16="http://schemas.microsoft.com/office/drawing/2014/main" id="{371561FA-81B8-F08A-854D-99D50D23E1FA}"/>
              </a:ext>
            </a:extLst>
          </p:cNvPr>
          <p:cNvCxnSpPr>
            <a:cxnSpLocks/>
          </p:cNvCxnSpPr>
          <p:nvPr/>
        </p:nvCxnSpPr>
        <p:spPr>
          <a:xfrm flipV="1">
            <a:off x="2518611" y="6416842"/>
            <a:ext cx="6472989" cy="192505"/>
          </a:xfrm>
          <a:prstGeom prst="straightConnector1">
            <a:avLst/>
          </a:prstGeom>
          <a:ln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Straight Arrow Connector 21">
            <a:extLst>
              <a:ext uri="{FF2B5EF4-FFF2-40B4-BE49-F238E27FC236}">
                <a16:creationId xmlns:a16="http://schemas.microsoft.com/office/drawing/2014/main" id="{189A22C9-C0AF-1B17-276C-A99237EF647A}"/>
              </a:ext>
            </a:extLst>
          </p:cNvPr>
          <p:cNvCxnSpPr>
            <a:cxnSpLocks/>
          </p:cNvCxnSpPr>
          <p:nvPr/>
        </p:nvCxnSpPr>
        <p:spPr>
          <a:xfrm>
            <a:off x="6717059" y="6156945"/>
            <a:ext cx="2274541" cy="259897"/>
          </a:xfrm>
          <a:prstGeom prst="straightConnector1">
            <a:avLst/>
          </a:prstGeom>
          <a:ln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Straight Arrow Connector 21">
            <a:extLst>
              <a:ext uri="{FF2B5EF4-FFF2-40B4-BE49-F238E27FC236}">
                <a16:creationId xmlns:a16="http://schemas.microsoft.com/office/drawing/2014/main" id="{71D4B4DD-251A-6245-C33F-A76CAFE8642A}"/>
              </a:ext>
            </a:extLst>
          </p:cNvPr>
          <p:cNvCxnSpPr>
            <a:cxnSpLocks/>
          </p:cNvCxnSpPr>
          <p:nvPr/>
        </p:nvCxnSpPr>
        <p:spPr>
          <a:xfrm flipV="1">
            <a:off x="2518611" y="1342224"/>
            <a:ext cx="7299157" cy="39950"/>
          </a:xfrm>
          <a:prstGeom prst="straightConnector1">
            <a:avLst/>
          </a:prstGeom>
          <a:ln>
            <a:solidFill>
              <a:schemeClr val="accent5">
                <a:lumMod val="60000"/>
                <a:lumOff val="40000"/>
              </a:schemeClr>
            </a:solidFill>
            <a:prstDash val="lg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Straight Arrow Connector 21">
            <a:extLst>
              <a:ext uri="{FF2B5EF4-FFF2-40B4-BE49-F238E27FC236}">
                <a16:creationId xmlns:a16="http://schemas.microsoft.com/office/drawing/2014/main" id="{C5151249-7B7A-8DCB-2014-BD47B37B6D85}"/>
              </a:ext>
            </a:extLst>
          </p:cNvPr>
          <p:cNvCxnSpPr>
            <a:cxnSpLocks/>
          </p:cNvCxnSpPr>
          <p:nvPr/>
        </p:nvCxnSpPr>
        <p:spPr>
          <a:xfrm>
            <a:off x="2518611" y="1366495"/>
            <a:ext cx="6456947" cy="4763936"/>
          </a:xfrm>
          <a:prstGeom prst="straightConnector1">
            <a:avLst/>
          </a:prstGeom>
          <a:ln>
            <a:solidFill>
              <a:schemeClr val="accent5">
                <a:lumMod val="60000"/>
                <a:lumOff val="40000"/>
              </a:schemeClr>
            </a:solidFill>
            <a:prstDash val="lg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Straight Arrow Connector 21">
            <a:extLst>
              <a:ext uri="{FF2B5EF4-FFF2-40B4-BE49-F238E27FC236}">
                <a16:creationId xmlns:a16="http://schemas.microsoft.com/office/drawing/2014/main" id="{040BE460-E0DA-EA4C-C9CE-0EAB3BD858DE}"/>
              </a:ext>
            </a:extLst>
          </p:cNvPr>
          <p:cNvCxnSpPr>
            <a:cxnSpLocks/>
          </p:cNvCxnSpPr>
          <p:nvPr/>
        </p:nvCxnSpPr>
        <p:spPr>
          <a:xfrm>
            <a:off x="2518611" y="4666855"/>
            <a:ext cx="6456947" cy="1756403"/>
          </a:xfrm>
          <a:prstGeom prst="straightConnector1">
            <a:avLst/>
          </a:prstGeom>
          <a:ln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1" name="橢圓 50">
            <a:extLst>
              <a:ext uri="{FF2B5EF4-FFF2-40B4-BE49-F238E27FC236}">
                <a16:creationId xmlns:a16="http://schemas.microsoft.com/office/drawing/2014/main" id="{F06243A6-4737-3681-38EF-E0A8BBCFDCB5}"/>
              </a:ext>
            </a:extLst>
          </p:cNvPr>
          <p:cNvSpPr/>
          <p:nvPr/>
        </p:nvSpPr>
        <p:spPr>
          <a:xfrm>
            <a:off x="6536242" y="95565"/>
            <a:ext cx="153088" cy="15308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TW" sz="800">
                <a:solidFill>
                  <a:schemeClr val="tx1"/>
                </a:solidFill>
                <a:latin typeface="Consolas" panose="020B0609020204030204" pitchFamily="49" charset="0"/>
              </a:rPr>
              <a:t>1</a:t>
            </a:r>
            <a:endParaRPr lang="zh-TW" altLang="en-US" sz="800">
              <a:solidFill>
                <a:schemeClr val="tx1"/>
              </a:solidFill>
              <a:latin typeface="Consolas" panose="020B0609020204030204" pitchFamily="49" charset="0"/>
            </a:endParaRPr>
          </a:p>
        </p:txBody>
      </p:sp>
      <p:sp>
        <p:nvSpPr>
          <p:cNvPr id="52" name="橢圓 51">
            <a:extLst>
              <a:ext uri="{FF2B5EF4-FFF2-40B4-BE49-F238E27FC236}">
                <a16:creationId xmlns:a16="http://schemas.microsoft.com/office/drawing/2014/main" id="{C9FACF38-B8B2-FA28-55A1-B9DFEE9CB256}"/>
              </a:ext>
            </a:extLst>
          </p:cNvPr>
          <p:cNvSpPr/>
          <p:nvPr/>
        </p:nvSpPr>
        <p:spPr>
          <a:xfrm>
            <a:off x="472151" y="3468407"/>
            <a:ext cx="153088" cy="15308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TW" sz="800">
                <a:solidFill>
                  <a:schemeClr val="tx1"/>
                </a:solidFill>
                <a:latin typeface="Consolas" panose="020B0609020204030204" pitchFamily="49" charset="0"/>
              </a:rPr>
              <a:t>3</a:t>
            </a:r>
            <a:endParaRPr lang="zh-TW" altLang="en-US" sz="800">
              <a:solidFill>
                <a:schemeClr val="tx1"/>
              </a:solidFill>
              <a:latin typeface="Consolas" panose="020B0609020204030204" pitchFamily="49" charset="0"/>
            </a:endParaRPr>
          </a:p>
        </p:txBody>
      </p:sp>
      <p:sp>
        <p:nvSpPr>
          <p:cNvPr id="53" name="橢圓 52">
            <a:extLst>
              <a:ext uri="{FF2B5EF4-FFF2-40B4-BE49-F238E27FC236}">
                <a16:creationId xmlns:a16="http://schemas.microsoft.com/office/drawing/2014/main" id="{D2EC8C62-DC9C-3070-54F8-8817F0FD5367}"/>
              </a:ext>
            </a:extLst>
          </p:cNvPr>
          <p:cNvSpPr/>
          <p:nvPr/>
        </p:nvSpPr>
        <p:spPr>
          <a:xfrm>
            <a:off x="472151" y="4358744"/>
            <a:ext cx="153088" cy="15308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TW" sz="800">
                <a:solidFill>
                  <a:schemeClr val="tx1"/>
                </a:solidFill>
                <a:latin typeface="Consolas" panose="020B0609020204030204" pitchFamily="49" charset="0"/>
              </a:rPr>
              <a:t>8</a:t>
            </a:r>
            <a:endParaRPr lang="zh-TW" altLang="en-US" sz="800">
              <a:solidFill>
                <a:schemeClr val="tx1"/>
              </a:solidFill>
              <a:latin typeface="Consolas" panose="020B0609020204030204" pitchFamily="49" charset="0"/>
            </a:endParaRPr>
          </a:p>
        </p:txBody>
      </p:sp>
      <p:sp>
        <p:nvSpPr>
          <p:cNvPr id="54" name="橢圓 53">
            <a:extLst>
              <a:ext uri="{FF2B5EF4-FFF2-40B4-BE49-F238E27FC236}">
                <a16:creationId xmlns:a16="http://schemas.microsoft.com/office/drawing/2014/main" id="{387D5312-3825-2B13-5A04-897EFFDB6272}"/>
              </a:ext>
            </a:extLst>
          </p:cNvPr>
          <p:cNvSpPr/>
          <p:nvPr/>
        </p:nvSpPr>
        <p:spPr>
          <a:xfrm>
            <a:off x="472151" y="4831986"/>
            <a:ext cx="153088" cy="15308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TW" sz="800">
                <a:solidFill>
                  <a:schemeClr val="tx1"/>
                </a:solidFill>
                <a:latin typeface="Consolas" panose="020B0609020204030204" pitchFamily="49" charset="0"/>
              </a:rPr>
              <a:t>4</a:t>
            </a:r>
            <a:endParaRPr lang="zh-TW" altLang="en-US" sz="800">
              <a:solidFill>
                <a:schemeClr val="tx1"/>
              </a:solidFill>
              <a:latin typeface="Consolas" panose="020B0609020204030204" pitchFamily="49" charset="0"/>
            </a:endParaRPr>
          </a:p>
        </p:txBody>
      </p:sp>
      <p:sp>
        <p:nvSpPr>
          <p:cNvPr id="55" name="橢圓 54">
            <a:extLst>
              <a:ext uri="{FF2B5EF4-FFF2-40B4-BE49-F238E27FC236}">
                <a16:creationId xmlns:a16="http://schemas.microsoft.com/office/drawing/2014/main" id="{D408229D-6953-56BE-B2D4-C39E932C13A6}"/>
              </a:ext>
            </a:extLst>
          </p:cNvPr>
          <p:cNvSpPr/>
          <p:nvPr/>
        </p:nvSpPr>
        <p:spPr>
          <a:xfrm>
            <a:off x="472151" y="5810554"/>
            <a:ext cx="153088" cy="15308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TW" sz="800">
                <a:solidFill>
                  <a:schemeClr val="tx1"/>
                </a:solidFill>
                <a:latin typeface="Consolas" panose="020B0609020204030204" pitchFamily="49" charset="0"/>
              </a:rPr>
              <a:t>6</a:t>
            </a:r>
            <a:endParaRPr lang="zh-TW" altLang="en-US" sz="800">
              <a:solidFill>
                <a:schemeClr val="tx1"/>
              </a:solidFill>
              <a:latin typeface="Consolas" panose="020B0609020204030204" pitchFamily="49" charset="0"/>
            </a:endParaRPr>
          </a:p>
        </p:txBody>
      </p:sp>
      <p:sp>
        <p:nvSpPr>
          <p:cNvPr id="56" name="橢圓 55">
            <a:extLst>
              <a:ext uri="{FF2B5EF4-FFF2-40B4-BE49-F238E27FC236}">
                <a16:creationId xmlns:a16="http://schemas.microsoft.com/office/drawing/2014/main" id="{E5E54077-2112-B8F5-747B-4AE70F32A17B}"/>
              </a:ext>
            </a:extLst>
          </p:cNvPr>
          <p:cNvSpPr/>
          <p:nvPr/>
        </p:nvSpPr>
        <p:spPr>
          <a:xfrm>
            <a:off x="2799935" y="5180912"/>
            <a:ext cx="153088" cy="15308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TW" sz="800">
                <a:solidFill>
                  <a:schemeClr val="tx1"/>
                </a:solidFill>
                <a:latin typeface="Consolas" panose="020B0609020204030204" pitchFamily="49" charset="0"/>
              </a:rPr>
              <a:t>5</a:t>
            </a:r>
            <a:endParaRPr lang="zh-TW" altLang="en-US" sz="800">
              <a:solidFill>
                <a:schemeClr val="tx1"/>
              </a:solidFill>
              <a:latin typeface="Consolas" panose="020B0609020204030204" pitchFamily="49" charset="0"/>
            </a:endParaRPr>
          </a:p>
        </p:txBody>
      </p:sp>
      <p:cxnSp>
        <p:nvCxnSpPr>
          <p:cNvPr id="57" name="Straight Arrow Connector 21">
            <a:extLst>
              <a:ext uri="{FF2B5EF4-FFF2-40B4-BE49-F238E27FC236}">
                <a16:creationId xmlns:a16="http://schemas.microsoft.com/office/drawing/2014/main" id="{8778CFBC-8F12-3A57-F873-CD19837B60AD}"/>
              </a:ext>
            </a:extLst>
          </p:cNvPr>
          <p:cNvCxnSpPr>
            <a:cxnSpLocks/>
          </p:cNvCxnSpPr>
          <p:nvPr/>
        </p:nvCxnSpPr>
        <p:spPr>
          <a:xfrm flipV="1">
            <a:off x="3685101" y="409074"/>
            <a:ext cx="1560667" cy="1839738"/>
          </a:xfrm>
          <a:prstGeom prst="straightConnector1">
            <a:avLst/>
          </a:prstGeom>
          <a:ln>
            <a:solidFill>
              <a:srgbClr val="00B0F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69968815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" name="Rectangle 105">
            <a:extLst>
              <a:ext uri="{FF2B5EF4-FFF2-40B4-BE49-F238E27FC236}">
                <a16:creationId xmlns:a16="http://schemas.microsoft.com/office/drawing/2014/main" id="{41E56F60-4798-958F-A8C0-6F4C87891BE9}"/>
              </a:ext>
            </a:extLst>
          </p:cNvPr>
          <p:cNvSpPr/>
          <p:nvPr/>
        </p:nvSpPr>
        <p:spPr>
          <a:xfrm>
            <a:off x="7832599" y="1492688"/>
            <a:ext cx="913873" cy="3336731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000">
              <a:latin typeface="Consolas" panose="020B0609020204030204" pitchFamily="49" charset="0"/>
            </a:endParaRPr>
          </a:p>
        </p:txBody>
      </p:sp>
      <p:sp>
        <p:nvSpPr>
          <p:cNvPr id="64" name="Rectangle 63">
            <a:extLst>
              <a:ext uri="{FF2B5EF4-FFF2-40B4-BE49-F238E27FC236}">
                <a16:creationId xmlns:a16="http://schemas.microsoft.com/office/drawing/2014/main" id="{0BEFE7CD-CC68-9A3C-1C96-CE8BD4D053AC}"/>
              </a:ext>
            </a:extLst>
          </p:cNvPr>
          <p:cNvSpPr/>
          <p:nvPr/>
        </p:nvSpPr>
        <p:spPr>
          <a:xfrm>
            <a:off x="606996" y="1492688"/>
            <a:ext cx="1755141" cy="3336731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000">
              <a:latin typeface="Consolas" panose="020B0609020204030204" pitchFamily="49" charset="0"/>
            </a:endParaRPr>
          </a:p>
        </p:txBody>
      </p:sp>
      <p:sp>
        <p:nvSpPr>
          <p:cNvPr id="66" name="Rectangle 65">
            <a:extLst>
              <a:ext uri="{FF2B5EF4-FFF2-40B4-BE49-F238E27FC236}">
                <a16:creationId xmlns:a16="http://schemas.microsoft.com/office/drawing/2014/main" id="{5B387D04-B5FE-C94A-C321-D2FCC661B7C3}"/>
              </a:ext>
            </a:extLst>
          </p:cNvPr>
          <p:cNvSpPr/>
          <p:nvPr/>
        </p:nvSpPr>
        <p:spPr>
          <a:xfrm>
            <a:off x="1550719" y="1480071"/>
            <a:ext cx="1854427" cy="1501137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000">
              <a:latin typeface="Consolas" panose="020B0609020204030204" pitchFamily="49" charset="0"/>
            </a:endParaRPr>
          </a:p>
        </p:txBody>
      </p:sp>
      <p:sp>
        <p:nvSpPr>
          <p:cNvPr id="65" name="Rectangle 64">
            <a:extLst>
              <a:ext uri="{FF2B5EF4-FFF2-40B4-BE49-F238E27FC236}">
                <a16:creationId xmlns:a16="http://schemas.microsoft.com/office/drawing/2014/main" id="{CBCDFBDC-7273-637C-0A98-1AA1B2E6E792}"/>
              </a:ext>
            </a:extLst>
          </p:cNvPr>
          <p:cNvSpPr/>
          <p:nvPr/>
        </p:nvSpPr>
        <p:spPr>
          <a:xfrm>
            <a:off x="2366339" y="2973592"/>
            <a:ext cx="1038808" cy="1855827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000">
              <a:latin typeface="Consolas" panose="020B0609020204030204" pitchFamily="49" charset="0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1EE59ACC-83F2-09C2-B9A4-B66E6616E42E}"/>
              </a:ext>
            </a:extLst>
          </p:cNvPr>
          <p:cNvSpPr/>
          <p:nvPr/>
        </p:nvSpPr>
        <p:spPr>
          <a:xfrm>
            <a:off x="604157" y="106136"/>
            <a:ext cx="677636" cy="28575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000">
              <a:latin typeface="Consolas" panose="020B0609020204030204" pitchFamily="49" charset="0"/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69F9025E-7A14-7F1C-CEA3-EE888D75434E}"/>
              </a:ext>
            </a:extLst>
          </p:cNvPr>
          <p:cNvSpPr/>
          <p:nvPr/>
        </p:nvSpPr>
        <p:spPr>
          <a:xfrm>
            <a:off x="1550719" y="106136"/>
            <a:ext cx="677636" cy="285750"/>
          </a:xfrm>
          <a:prstGeom prst="rect">
            <a:avLst/>
          </a:prstGeom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000">
              <a:latin typeface="Consolas" panose="020B0609020204030204" pitchFamily="49" charset="0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EECA05D0-C50F-4ADA-339E-67B3FCB13038}"/>
              </a:ext>
            </a:extLst>
          </p:cNvPr>
          <p:cNvSpPr/>
          <p:nvPr/>
        </p:nvSpPr>
        <p:spPr>
          <a:xfrm>
            <a:off x="2497281" y="106136"/>
            <a:ext cx="677636" cy="285750"/>
          </a:xfrm>
          <a:prstGeom prst="rect">
            <a:avLst/>
          </a:prstGeom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000">
              <a:latin typeface="Consolas" panose="020B0609020204030204" pitchFamily="49" charset="0"/>
            </a:endParaRP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64C4BE32-FC2E-C2FA-0FB7-DFF47A050F64}"/>
              </a:ext>
            </a:extLst>
          </p:cNvPr>
          <p:cNvSpPr/>
          <p:nvPr/>
        </p:nvSpPr>
        <p:spPr>
          <a:xfrm>
            <a:off x="3443843" y="106136"/>
            <a:ext cx="677636" cy="285750"/>
          </a:xfrm>
          <a:prstGeom prst="rect">
            <a:avLst/>
          </a:prstGeom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000">
              <a:latin typeface="Consolas" panose="020B0609020204030204" pitchFamily="49" charset="0"/>
            </a:endParaRP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335EBA41-915D-0631-ACC0-A830D48241CB}"/>
              </a:ext>
            </a:extLst>
          </p:cNvPr>
          <p:cNvSpPr/>
          <p:nvPr/>
        </p:nvSpPr>
        <p:spPr>
          <a:xfrm>
            <a:off x="4390405" y="106136"/>
            <a:ext cx="677636" cy="285750"/>
          </a:xfrm>
          <a:prstGeom prst="rect">
            <a:avLst/>
          </a:prstGeom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000">
              <a:latin typeface="Consolas" panose="020B0609020204030204" pitchFamily="49" charset="0"/>
            </a:endParaRP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389E25FA-DCCA-C9D2-2063-3DEAAF9400D5}"/>
              </a:ext>
            </a:extLst>
          </p:cNvPr>
          <p:cNvSpPr/>
          <p:nvPr/>
        </p:nvSpPr>
        <p:spPr>
          <a:xfrm>
            <a:off x="5336967" y="106136"/>
            <a:ext cx="677636" cy="285750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000">
              <a:latin typeface="Consolas" panose="020B0609020204030204" pitchFamily="49" charset="0"/>
            </a:endParaRP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D232BB8F-9882-73CC-C401-9E56D7CFA88F}"/>
              </a:ext>
            </a:extLst>
          </p:cNvPr>
          <p:cNvSpPr/>
          <p:nvPr/>
        </p:nvSpPr>
        <p:spPr>
          <a:xfrm>
            <a:off x="6283529" y="106136"/>
            <a:ext cx="677636" cy="285750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sz="1000">
              <a:latin typeface="Consolas" panose="020B0609020204030204" pitchFamily="49" charset="0"/>
            </a:endParaRP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AD886C84-8E96-2B57-4E56-64521AED7977}"/>
              </a:ext>
            </a:extLst>
          </p:cNvPr>
          <p:cNvSpPr/>
          <p:nvPr/>
        </p:nvSpPr>
        <p:spPr>
          <a:xfrm>
            <a:off x="7230091" y="106136"/>
            <a:ext cx="677636" cy="285750"/>
          </a:xfrm>
          <a:prstGeom prst="rect">
            <a:avLst/>
          </a:prstGeom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sz="1000">
              <a:latin typeface="Consolas" panose="020B0609020204030204" pitchFamily="49" charset="0"/>
            </a:endParaRP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0A5C88DF-1EE5-67B7-10DC-C1FA0517080B}"/>
              </a:ext>
            </a:extLst>
          </p:cNvPr>
          <p:cNvSpPr/>
          <p:nvPr/>
        </p:nvSpPr>
        <p:spPr>
          <a:xfrm>
            <a:off x="8176653" y="106136"/>
            <a:ext cx="677636" cy="285750"/>
          </a:xfrm>
          <a:prstGeom prst="rect">
            <a:avLst/>
          </a:prstGeom>
        </p:spPr>
        <p:style>
          <a:lnRef idx="2">
            <a:schemeClr val="accent3"/>
          </a:lnRef>
          <a:fillRef idx="1">
            <a:schemeClr val="lt1"/>
          </a:fillRef>
          <a:effectRef idx="0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sz="1000">
              <a:latin typeface="Consolas" panose="020B0609020204030204" pitchFamily="49" charset="0"/>
            </a:endParaRP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FAFA4B68-C5FE-C2C8-0EF3-4016F0B74B13}"/>
              </a:ext>
            </a:extLst>
          </p:cNvPr>
          <p:cNvSpPr/>
          <p:nvPr/>
        </p:nvSpPr>
        <p:spPr>
          <a:xfrm>
            <a:off x="9123215" y="106136"/>
            <a:ext cx="677636" cy="285750"/>
          </a:xfrm>
          <a:prstGeom prst="rect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sz="1000">
              <a:latin typeface="Consolas" panose="020B0609020204030204" pitchFamily="49" charset="0"/>
            </a:endParaRP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73BACCFF-B462-06D1-09C2-FE208C682DBA}"/>
              </a:ext>
            </a:extLst>
          </p:cNvPr>
          <p:cNvSpPr/>
          <p:nvPr/>
        </p:nvSpPr>
        <p:spPr>
          <a:xfrm>
            <a:off x="10069777" y="106136"/>
            <a:ext cx="677636" cy="285750"/>
          </a:xfrm>
          <a:prstGeom prst="rect">
            <a:avLst/>
          </a:prstGeom>
        </p:spPr>
        <p:style>
          <a:lnRef idx="2">
            <a:schemeClr val="accent5"/>
          </a:lnRef>
          <a:fillRef idx="1">
            <a:schemeClr val="lt1"/>
          </a:fillRef>
          <a:effectRef idx="0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sz="1000">
              <a:latin typeface="Consolas" panose="020B0609020204030204" pitchFamily="49" charset="0"/>
            </a:endParaRP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F0577746-49D2-F3F8-3384-AA60E53AD546}"/>
              </a:ext>
            </a:extLst>
          </p:cNvPr>
          <p:cNvSpPr/>
          <p:nvPr/>
        </p:nvSpPr>
        <p:spPr>
          <a:xfrm>
            <a:off x="11016342" y="106136"/>
            <a:ext cx="677636" cy="285750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sz="1000">
              <a:latin typeface="Consolas" panose="020B0609020204030204" pitchFamily="49" charset="0"/>
            </a:endParaRPr>
          </a:p>
        </p:txBody>
      </p: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156E3B45-64FF-5829-38E2-AC7F3F09DC90}"/>
              </a:ext>
            </a:extLst>
          </p:cNvPr>
          <p:cNvCxnSpPr>
            <a:cxnSpLocks/>
          </p:cNvCxnSpPr>
          <p:nvPr/>
        </p:nvCxnSpPr>
        <p:spPr>
          <a:xfrm>
            <a:off x="10415675" y="876424"/>
            <a:ext cx="331738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TextBox 23">
            <a:extLst>
              <a:ext uri="{FF2B5EF4-FFF2-40B4-BE49-F238E27FC236}">
                <a16:creationId xmlns:a16="http://schemas.microsoft.com/office/drawing/2014/main" id="{72594E81-C97A-E944-FF9C-1BC24F11ECF0}"/>
              </a:ext>
            </a:extLst>
          </p:cNvPr>
          <p:cNvSpPr txBox="1"/>
          <p:nvPr/>
        </p:nvSpPr>
        <p:spPr>
          <a:xfrm rot="3600000">
            <a:off x="2464734" y="5562543"/>
            <a:ext cx="2089033" cy="5539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TW" sz="1000">
                <a:latin typeface="Consolas" panose="020B0609020204030204" pitchFamily="49" charset="0"/>
              </a:rPr>
              <a:t>Hop to new frequency.</a:t>
            </a:r>
          </a:p>
          <a:p>
            <a:r>
              <a:rPr lang="en-US" altLang="zh-TW" sz="1000">
                <a:latin typeface="Consolas" panose="020B0609020204030204" pitchFamily="49" charset="0"/>
              </a:rPr>
              <a:t>Trying a predefined packet.</a:t>
            </a:r>
          </a:p>
          <a:p>
            <a:r>
              <a:rPr lang="en-US" sz="1000">
                <a:latin typeface="Consolas" panose="020B0609020204030204" pitchFamily="49" charset="0"/>
              </a:rPr>
              <a:t>Wait for ACK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9E2FBFC1-7C2B-48C7-675D-9793EF3C7581}"/>
              </a:ext>
            </a:extLst>
          </p:cNvPr>
          <p:cNvSpPr txBox="1"/>
          <p:nvPr/>
        </p:nvSpPr>
        <p:spPr>
          <a:xfrm rot="3600000">
            <a:off x="237797" y="5530991"/>
            <a:ext cx="1242648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00">
                <a:latin typeface="Consolas" panose="020B0609020204030204" pitchFamily="49" charset="0"/>
              </a:rPr>
              <a:t>Sending Packets</a:t>
            </a:r>
          </a:p>
        </p:txBody>
      </p:sp>
      <p:cxnSp>
        <p:nvCxnSpPr>
          <p:cNvPr id="30" name="Straight Arrow Connector 29">
            <a:extLst>
              <a:ext uri="{FF2B5EF4-FFF2-40B4-BE49-F238E27FC236}">
                <a16:creationId xmlns:a16="http://schemas.microsoft.com/office/drawing/2014/main" id="{0E0C1896-2900-D4B1-A9D8-4BD5E6BD6B88}"/>
              </a:ext>
            </a:extLst>
          </p:cNvPr>
          <p:cNvCxnSpPr>
            <a:cxnSpLocks/>
          </p:cNvCxnSpPr>
          <p:nvPr/>
        </p:nvCxnSpPr>
        <p:spPr>
          <a:xfrm flipV="1">
            <a:off x="604157" y="1480071"/>
            <a:ext cx="237104" cy="3345181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" name="TextBox 30">
            <a:extLst>
              <a:ext uri="{FF2B5EF4-FFF2-40B4-BE49-F238E27FC236}">
                <a16:creationId xmlns:a16="http://schemas.microsoft.com/office/drawing/2014/main" id="{9CEE1DF2-255C-D84B-F01E-2B601F834B11}"/>
              </a:ext>
            </a:extLst>
          </p:cNvPr>
          <p:cNvSpPr txBox="1"/>
          <p:nvPr/>
        </p:nvSpPr>
        <p:spPr>
          <a:xfrm>
            <a:off x="137363" y="1233851"/>
            <a:ext cx="325730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00">
                <a:latin typeface="Consolas" panose="020B0609020204030204" pitchFamily="49" charset="0"/>
              </a:rPr>
              <a:t>Rx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F119CB1F-0B7E-7EE3-B69A-0B4085F2DDB9}"/>
              </a:ext>
            </a:extLst>
          </p:cNvPr>
          <p:cNvSpPr txBox="1"/>
          <p:nvPr/>
        </p:nvSpPr>
        <p:spPr>
          <a:xfrm>
            <a:off x="137363" y="4595700"/>
            <a:ext cx="325730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TW" sz="1000">
                <a:latin typeface="Consolas" panose="020B0609020204030204" pitchFamily="49" charset="0"/>
              </a:rPr>
              <a:t>T</a:t>
            </a:r>
            <a:r>
              <a:rPr lang="en-US" sz="1000">
                <a:latin typeface="Consolas" panose="020B0609020204030204" pitchFamily="49" charset="0"/>
              </a:rPr>
              <a:t>x</a:t>
            </a:r>
          </a:p>
        </p:txBody>
      </p:sp>
      <p:cxnSp>
        <p:nvCxnSpPr>
          <p:cNvPr id="41" name="Straight Arrow Connector 40">
            <a:extLst>
              <a:ext uri="{FF2B5EF4-FFF2-40B4-BE49-F238E27FC236}">
                <a16:creationId xmlns:a16="http://schemas.microsoft.com/office/drawing/2014/main" id="{D9EE59DF-4119-EC29-5462-7DF71257F22C}"/>
              </a:ext>
            </a:extLst>
          </p:cNvPr>
          <p:cNvCxnSpPr>
            <a:cxnSpLocks/>
          </p:cNvCxnSpPr>
          <p:nvPr/>
        </p:nvCxnSpPr>
        <p:spPr>
          <a:xfrm>
            <a:off x="841261" y="1488407"/>
            <a:ext cx="266169" cy="3332678"/>
          </a:xfrm>
          <a:prstGeom prst="straightConnector1">
            <a:avLst/>
          </a:prstGeom>
          <a:ln>
            <a:solidFill>
              <a:schemeClr val="tx1"/>
            </a:solidFill>
            <a:prstDash val="lg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8" name="Straight Arrow Connector 47">
            <a:extLst>
              <a:ext uri="{FF2B5EF4-FFF2-40B4-BE49-F238E27FC236}">
                <a16:creationId xmlns:a16="http://schemas.microsoft.com/office/drawing/2014/main" id="{C78DB082-1745-C1F3-1F96-8D938B268ED2}"/>
              </a:ext>
            </a:extLst>
          </p:cNvPr>
          <p:cNvCxnSpPr>
            <a:cxnSpLocks/>
          </p:cNvCxnSpPr>
          <p:nvPr/>
        </p:nvCxnSpPr>
        <p:spPr>
          <a:xfrm flipV="1">
            <a:off x="1106033" y="1480071"/>
            <a:ext cx="237104" cy="3345181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Straight Arrow Connector 48">
            <a:extLst>
              <a:ext uri="{FF2B5EF4-FFF2-40B4-BE49-F238E27FC236}">
                <a16:creationId xmlns:a16="http://schemas.microsoft.com/office/drawing/2014/main" id="{3A08B760-8E52-5F78-3071-0BFB6542254A}"/>
              </a:ext>
            </a:extLst>
          </p:cNvPr>
          <p:cNvCxnSpPr>
            <a:cxnSpLocks/>
          </p:cNvCxnSpPr>
          <p:nvPr/>
        </p:nvCxnSpPr>
        <p:spPr>
          <a:xfrm>
            <a:off x="1347455" y="1488407"/>
            <a:ext cx="203264" cy="2237540"/>
          </a:xfrm>
          <a:prstGeom prst="straightConnector1">
            <a:avLst/>
          </a:prstGeom>
          <a:ln>
            <a:solidFill>
              <a:schemeClr val="tx1"/>
            </a:solidFill>
            <a:prstDash val="lg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0" name="Straight Arrow Connector 49">
            <a:extLst>
              <a:ext uri="{FF2B5EF4-FFF2-40B4-BE49-F238E27FC236}">
                <a16:creationId xmlns:a16="http://schemas.microsoft.com/office/drawing/2014/main" id="{72AFF21C-2670-2A0D-0F01-3357596AB88F}"/>
              </a:ext>
            </a:extLst>
          </p:cNvPr>
          <p:cNvCxnSpPr>
            <a:cxnSpLocks/>
          </p:cNvCxnSpPr>
          <p:nvPr/>
        </p:nvCxnSpPr>
        <p:spPr>
          <a:xfrm flipV="1">
            <a:off x="1988458" y="2341132"/>
            <a:ext cx="168002" cy="2500789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2" name="Cross 51">
            <a:extLst>
              <a:ext uri="{FF2B5EF4-FFF2-40B4-BE49-F238E27FC236}">
                <a16:creationId xmlns:a16="http://schemas.microsoft.com/office/drawing/2014/main" id="{3DBECFB8-452C-2A06-C2A0-677D47A9033D}"/>
              </a:ext>
            </a:extLst>
          </p:cNvPr>
          <p:cNvSpPr/>
          <p:nvPr/>
        </p:nvSpPr>
        <p:spPr>
          <a:xfrm rot="2700000">
            <a:off x="1420219" y="3600688"/>
            <a:ext cx="250519" cy="250519"/>
          </a:xfrm>
          <a:prstGeom prst="plus">
            <a:avLst>
              <a:gd name="adj" fmla="val 40209"/>
            </a:avLst>
          </a:prstGeom>
          <a:solidFill>
            <a:srgbClr val="FF0000"/>
          </a:solidFill>
          <a:ln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4" name="Cross 53">
            <a:extLst>
              <a:ext uri="{FF2B5EF4-FFF2-40B4-BE49-F238E27FC236}">
                <a16:creationId xmlns:a16="http://schemas.microsoft.com/office/drawing/2014/main" id="{00E2228C-6CA1-8BB8-B02D-05BD88EECE3A}"/>
              </a:ext>
            </a:extLst>
          </p:cNvPr>
          <p:cNvSpPr/>
          <p:nvPr/>
        </p:nvSpPr>
        <p:spPr>
          <a:xfrm rot="2700000">
            <a:off x="2046579" y="2212034"/>
            <a:ext cx="250519" cy="250519"/>
          </a:xfrm>
          <a:prstGeom prst="plus">
            <a:avLst>
              <a:gd name="adj" fmla="val 40209"/>
            </a:avLst>
          </a:prstGeom>
          <a:solidFill>
            <a:srgbClr val="FF0000"/>
          </a:solidFill>
          <a:ln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55" name="Straight Connector 54">
            <a:extLst>
              <a:ext uri="{FF2B5EF4-FFF2-40B4-BE49-F238E27FC236}">
                <a16:creationId xmlns:a16="http://schemas.microsoft.com/office/drawing/2014/main" id="{23324540-E2C2-7E40-3B94-3BD8CFDC0815}"/>
              </a:ext>
            </a:extLst>
          </p:cNvPr>
          <p:cNvCxnSpPr>
            <a:cxnSpLocks/>
          </p:cNvCxnSpPr>
          <p:nvPr/>
        </p:nvCxnSpPr>
        <p:spPr>
          <a:xfrm flipH="1">
            <a:off x="9982210" y="871662"/>
            <a:ext cx="289550" cy="0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8" name="Straight Connector 57">
            <a:extLst>
              <a:ext uri="{FF2B5EF4-FFF2-40B4-BE49-F238E27FC236}">
                <a16:creationId xmlns:a16="http://schemas.microsoft.com/office/drawing/2014/main" id="{4917E17E-3B57-107A-D020-518F13F91DB4}"/>
              </a:ext>
            </a:extLst>
          </p:cNvPr>
          <p:cNvCxnSpPr>
            <a:cxnSpLocks/>
          </p:cNvCxnSpPr>
          <p:nvPr/>
        </p:nvCxnSpPr>
        <p:spPr>
          <a:xfrm>
            <a:off x="2362144" y="1356961"/>
            <a:ext cx="0" cy="3730130"/>
          </a:xfrm>
          <a:prstGeom prst="line">
            <a:avLst/>
          </a:prstGeom>
          <a:ln w="6350">
            <a:solidFill>
              <a:schemeClr val="tx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1" name="Straight Connector 60">
            <a:extLst>
              <a:ext uri="{FF2B5EF4-FFF2-40B4-BE49-F238E27FC236}">
                <a16:creationId xmlns:a16="http://schemas.microsoft.com/office/drawing/2014/main" id="{88261C51-9F01-E96E-CA74-5E1B68F21956}"/>
              </a:ext>
            </a:extLst>
          </p:cNvPr>
          <p:cNvCxnSpPr>
            <a:cxnSpLocks/>
          </p:cNvCxnSpPr>
          <p:nvPr/>
        </p:nvCxnSpPr>
        <p:spPr>
          <a:xfrm>
            <a:off x="604157" y="1152412"/>
            <a:ext cx="0" cy="3934679"/>
          </a:xfrm>
          <a:prstGeom prst="line">
            <a:avLst/>
          </a:prstGeom>
          <a:ln w="6350">
            <a:solidFill>
              <a:schemeClr val="tx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2" name="TextBox 61">
            <a:extLst>
              <a:ext uri="{FF2B5EF4-FFF2-40B4-BE49-F238E27FC236}">
                <a16:creationId xmlns:a16="http://schemas.microsoft.com/office/drawing/2014/main" id="{D3A9DC95-0604-BEC2-A732-6CC949861DCE}"/>
              </a:ext>
            </a:extLst>
          </p:cNvPr>
          <p:cNvSpPr txBox="1"/>
          <p:nvPr/>
        </p:nvSpPr>
        <p:spPr>
          <a:xfrm rot="3600000">
            <a:off x="763374" y="5530991"/>
            <a:ext cx="1242648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00">
                <a:latin typeface="Consolas" panose="020B0609020204030204" pitchFamily="49" charset="0"/>
              </a:rPr>
              <a:t>Sending Packets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401FA190-37E4-C170-B9E3-82CAD76B03B1}"/>
              </a:ext>
            </a:extLst>
          </p:cNvPr>
          <p:cNvSpPr txBox="1"/>
          <p:nvPr/>
        </p:nvSpPr>
        <p:spPr>
          <a:xfrm rot="3600000">
            <a:off x="1787522" y="5530991"/>
            <a:ext cx="1665841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00">
                <a:latin typeface="Consolas" panose="020B0609020204030204" pitchFamily="49" charset="0"/>
              </a:rPr>
              <a:t>Timeout receiving ACK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79BA57E9-57D4-F0FA-8416-FDCF45B75B98}"/>
              </a:ext>
            </a:extLst>
          </p:cNvPr>
          <p:cNvSpPr txBox="1"/>
          <p:nvPr/>
        </p:nvSpPr>
        <p:spPr>
          <a:xfrm>
            <a:off x="1545478" y="584817"/>
            <a:ext cx="2653290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TW" sz="1000">
                <a:latin typeface="Consolas" panose="020B0609020204030204" pitchFamily="49" charset="0"/>
              </a:rPr>
              <a:t>Detect Interference</a:t>
            </a:r>
          </a:p>
          <a:p>
            <a:r>
              <a:rPr lang="en-US" sz="1000">
                <a:latin typeface="Consolas" panose="020B0609020204030204" pitchFamily="49" charset="0"/>
              </a:rPr>
              <a:t>Jump to the new frequency and wait.</a:t>
            </a:r>
          </a:p>
        </p:txBody>
      </p:sp>
      <p:cxnSp>
        <p:nvCxnSpPr>
          <p:cNvPr id="68" name="Straight Arrow Connector 67">
            <a:extLst>
              <a:ext uri="{FF2B5EF4-FFF2-40B4-BE49-F238E27FC236}">
                <a16:creationId xmlns:a16="http://schemas.microsoft.com/office/drawing/2014/main" id="{6458D492-2728-D46D-B9E3-ED30096A2D7A}"/>
              </a:ext>
            </a:extLst>
          </p:cNvPr>
          <p:cNvCxnSpPr>
            <a:cxnSpLocks/>
          </p:cNvCxnSpPr>
          <p:nvPr/>
        </p:nvCxnSpPr>
        <p:spPr>
          <a:xfrm flipV="1">
            <a:off x="2366330" y="1488407"/>
            <a:ext cx="465568" cy="3336845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9" name="Straight Arrow Connector 68">
            <a:extLst>
              <a:ext uri="{FF2B5EF4-FFF2-40B4-BE49-F238E27FC236}">
                <a16:creationId xmlns:a16="http://schemas.microsoft.com/office/drawing/2014/main" id="{D6982E61-1649-19C7-E004-2FA437DD536C}"/>
              </a:ext>
            </a:extLst>
          </p:cNvPr>
          <p:cNvCxnSpPr>
            <a:cxnSpLocks/>
          </p:cNvCxnSpPr>
          <p:nvPr/>
        </p:nvCxnSpPr>
        <p:spPr>
          <a:xfrm>
            <a:off x="2836099" y="1471737"/>
            <a:ext cx="569047" cy="3349348"/>
          </a:xfrm>
          <a:prstGeom prst="straightConnector1">
            <a:avLst/>
          </a:prstGeom>
          <a:ln>
            <a:solidFill>
              <a:schemeClr val="tx1"/>
            </a:solidFill>
            <a:prstDash val="lg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5" name="TextBox 74">
            <a:extLst>
              <a:ext uri="{FF2B5EF4-FFF2-40B4-BE49-F238E27FC236}">
                <a16:creationId xmlns:a16="http://schemas.microsoft.com/office/drawing/2014/main" id="{9C1D6211-8418-7852-7CD8-DA4D280727F8}"/>
              </a:ext>
            </a:extLst>
          </p:cNvPr>
          <p:cNvSpPr txBox="1"/>
          <p:nvPr/>
        </p:nvSpPr>
        <p:spPr>
          <a:xfrm>
            <a:off x="2838305" y="1014424"/>
            <a:ext cx="180690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TW" sz="1000">
                <a:latin typeface="Consolas" panose="020B0609020204030204" pitchFamily="49" charset="0"/>
              </a:rPr>
              <a:t>Receive on new channel.</a:t>
            </a:r>
          </a:p>
          <a:p>
            <a:r>
              <a:rPr lang="en-US" sz="1000">
                <a:latin typeface="Consolas" panose="020B0609020204030204" pitchFamily="49" charset="0"/>
              </a:rPr>
              <a:t>Must be successful.</a:t>
            </a: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2F69CBA0-8B24-030D-6531-92B19C5E5402}"/>
              </a:ext>
            </a:extLst>
          </p:cNvPr>
          <p:cNvSpPr txBox="1"/>
          <p:nvPr/>
        </p:nvSpPr>
        <p:spPr>
          <a:xfrm rot="3600000">
            <a:off x="3076871" y="5625632"/>
            <a:ext cx="2089033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TW" sz="1000">
                <a:latin typeface="Consolas" panose="020B0609020204030204" pitchFamily="49" charset="0"/>
              </a:rPr>
              <a:t>Receive ACK on new channel.</a:t>
            </a:r>
          </a:p>
          <a:p>
            <a:r>
              <a:rPr lang="en-US" sz="1000">
                <a:latin typeface="Consolas" panose="020B0609020204030204" pitchFamily="49" charset="0"/>
              </a:rPr>
              <a:t>Must be successful.</a:t>
            </a:r>
          </a:p>
        </p:txBody>
      </p:sp>
      <p:sp>
        <p:nvSpPr>
          <p:cNvPr id="77" name="Rectangle 76">
            <a:extLst>
              <a:ext uri="{FF2B5EF4-FFF2-40B4-BE49-F238E27FC236}">
                <a16:creationId xmlns:a16="http://schemas.microsoft.com/office/drawing/2014/main" id="{56366121-5040-3053-769D-0FF8F60D823E}"/>
              </a:ext>
            </a:extLst>
          </p:cNvPr>
          <p:cNvSpPr/>
          <p:nvPr/>
        </p:nvSpPr>
        <p:spPr>
          <a:xfrm>
            <a:off x="5045769" y="1492688"/>
            <a:ext cx="1755141" cy="3336731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000">
              <a:latin typeface="Consolas" panose="020B0609020204030204" pitchFamily="49" charset="0"/>
            </a:endParaRPr>
          </a:p>
        </p:txBody>
      </p:sp>
      <p:sp>
        <p:nvSpPr>
          <p:cNvPr id="78" name="Rectangle 77">
            <a:extLst>
              <a:ext uri="{FF2B5EF4-FFF2-40B4-BE49-F238E27FC236}">
                <a16:creationId xmlns:a16="http://schemas.microsoft.com/office/drawing/2014/main" id="{597801B4-AE4E-A23F-04BC-CF16DD55D2EE}"/>
              </a:ext>
            </a:extLst>
          </p:cNvPr>
          <p:cNvSpPr/>
          <p:nvPr/>
        </p:nvSpPr>
        <p:spPr>
          <a:xfrm>
            <a:off x="5989492" y="1480071"/>
            <a:ext cx="1854428" cy="1501137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000">
              <a:latin typeface="Consolas" panose="020B0609020204030204" pitchFamily="49" charset="0"/>
            </a:endParaRPr>
          </a:p>
        </p:txBody>
      </p:sp>
      <p:sp>
        <p:nvSpPr>
          <p:cNvPr id="79" name="Rectangle 78">
            <a:extLst>
              <a:ext uri="{FF2B5EF4-FFF2-40B4-BE49-F238E27FC236}">
                <a16:creationId xmlns:a16="http://schemas.microsoft.com/office/drawing/2014/main" id="{CD91494A-2BE6-739C-E450-45B53547D1D5}"/>
              </a:ext>
            </a:extLst>
          </p:cNvPr>
          <p:cNvSpPr/>
          <p:nvPr/>
        </p:nvSpPr>
        <p:spPr>
          <a:xfrm>
            <a:off x="6805112" y="2973592"/>
            <a:ext cx="1038808" cy="1855827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000">
              <a:latin typeface="Consolas" panose="020B0609020204030204" pitchFamily="49" charset="0"/>
            </a:endParaRP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046E2F9A-7C4B-CBFA-F6F4-5D749FC14043}"/>
              </a:ext>
            </a:extLst>
          </p:cNvPr>
          <p:cNvSpPr txBox="1"/>
          <p:nvPr/>
        </p:nvSpPr>
        <p:spPr>
          <a:xfrm rot="3600000">
            <a:off x="6903507" y="5562543"/>
            <a:ext cx="2089033" cy="5539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TW" sz="1000">
                <a:latin typeface="Consolas" panose="020B0609020204030204" pitchFamily="49" charset="0"/>
              </a:rPr>
              <a:t>Hop to new frequency.</a:t>
            </a:r>
          </a:p>
          <a:p>
            <a:r>
              <a:rPr lang="en-US" altLang="zh-TW" sz="1000">
                <a:latin typeface="Consolas" panose="020B0609020204030204" pitchFamily="49" charset="0"/>
              </a:rPr>
              <a:t>Trying a predefined packet.</a:t>
            </a:r>
          </a:p>
          <a:p>
            <a:r>
              <a:rPr lang="en-US" sz="1000">
                <a:latin typeface="Consolas" panose="020B0609020204030204" pitchFamily="49" charset="0"/>
              </a:rPr>
              <a:t>Wait for ACK</a:t>
            </a:r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A05AD266-606A-11B1-8AFC-0E4CEF66C4D8}"/>
              </a:ext>
            </a:extLst>
          </p:cNvPr>
          <p:cNvSpPr txBox="1"/>
          <p:nvPr/>
        </p:nvSpPr>
        <p:spPr>
          <a:xfrm rot="3600000">
            <a:off x="4676570" y="5530991"/>
            <a:ext cx="1242648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00">
                <a:latin typeface="Consolas" panose="020B0609020204030204" pitchFamily="49" charset="0"/>
              </a:rPr>
              <a:t>Sending Packets</a:t>
            </a:r>
          </a:p>
        </p:txBody>
      </p:sp>
      <p:cxnSp>
        <p:nvCxnSpPr>
          <p:cNvPr id="82" name="Straight Arrow Connector 81">
            <a:extLst>
              <a:ext uri="{FF2B5EF4-FFF2-40B4-BE49-F238E27FC236}">
                <a16:creationId xmlns:a16="http://schemas.microsoft.com/office/drawing/2014/main" id="{93C5CDBB-F759-9652-9295-2AF37F04DBDC}"/>
              </a:ext>
            </a:extLst>
          </p:cNvPr>
          <p:cNvCxnSpPr>
            <a:cxnSpLocks/>
          </p:cNvCxnSpPr>
          <p:nvPr/>
        </p:nvCxnSpPr>
        <p:spPr>
          <a:xfrm flipV="1">
            <a:off x="5042930" y="1480071"/>
            <a:ext cx="237104" cy="3345181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3" name="Straight Arrow Connector 82">
            <a:extLst>
              <a:ext uri="{FF2B5EF4-FFF2-40B4-BE49-F238E27FC236}">
                <a16:creationId xmlns:a16="http://schemas.microsoft.com/office/drawing/2014/main" id="{C3BAA41F-97A0-19F9-19BB-F4A8D1287D87}"/>
              </a:ext>
            </a:extLst>
          </p:cNvPr>
          <p:cNvCxnSpPr>
            <a:cxnSpLocks/>
          </p:cNvCxnSpPr>
          <p:nvPr/>
        </p:nvCxnSpPr>
        <p:spPr>
          <a:xfrm>
            <a:off x="5280034" y="1488407"/>
            <a:ext cx="266169" cy="3332678"/>
          </a:xfrm>
          <a:prstGeom prst="straightConnector1">
            <a:avLst/>
          </a:prstGeom>
          <a:ln>
            <a:solidFill>
              <a:schemeClr val="tx1"/>
            </a:solidFill>
            <a:prstDash val="lg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4" name="Straight Arrow Connector 83">
            <a:extLst>
              <a:ext uri="{FF2B5EF4-FFF2-40B4-BE49-F238E27FC236}">
                <a16:creationId xmlns:a16="http://schemas.microsoft.com/office/drawing/2014/main" id="{7446C6AF-576D-D389-238A-DFDFADBD3ED3}"/>
              </a:ext>
            </a:extLst>
          </p:cNvPr>
          <p:cNvCxnSpPr>
            <a:cxnSpLocks/>
          </p:cNvCxnSpPr>
          <p:nvPr/>
        </p:nvCxnSpPr>
        <p:spPr>
          <a:xfrm flipV="1">
            <a:off x="5544806" y="1480071"/>
            <a:ext cx="237104" cy="3345181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5" name="Straight Arrow Connector 84">
            <a:extLst>
              <a:ext uri="{FF2B5EF4-FFF2-40B4-BE49-F238E27FC236}">
                <a16:creationId xmlns:a16="http://schemas.microsoft.com/office/drawing/2014/main" id="{62753FD6-4081-F178-FD0A-0F4290788F75}"/>
              </a:ext>
            </a:extLst>
          </p:cNvPr>
          <p:cNvCxnSpPr>
            <a:cxnSpLocks/>
          </p:cNvCxnSpPr>
          <p:nvPr/>
        </p:nvCxnSpPr>
        <p:spPr>
          <a:xfrm>
            <a:off x="5786228" y="1488407"/>
            <a:ext cx="203264" cy="2237540"/>
          </a:xfrm>
          <a:prstGeom prst="straightConnector1">
            <a:avLst/>
          </a:prstGeom>
          <a:ln>
            <a:solidFill>
              <a:schemeClr val="tx1"/>
            </a:solidFill>
            <a:prstDash val="lg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6" name="Straight Arrow Connector 85">
            <a:extLst>
              <a:ext uri="{FF2B5EF4-FFF2-40B4-BE49-F238E27FC236}">
                <a16:creationId xmlns:a16="http://schemas.microsoft.com/office/drawing/2014/main" id="{5D94DE52-DC26-FC98-6E95-E6E0F66DFC7B}"/>
              </a:ext>
            </a:extLst>
          </p:cNvPr>
          <p:cNvCxnSpPr>
            <a:cxnSpLocks/>
          </p:cNvCxnSpPr>
          <p:nvPr/>
        </p:nvCxnSpPr>
        <p:spPr>
          <a:xfrm flipV="1">
            <a:off x="6427231" y="2341132"/>
            <a:ext cx="168002" cy="2500789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7" name="Cross 86">
            <a:extLst>
              <a:ext uri="{FF2B5EF4-FFF2-40B4-BE49-F238E27FC236}">
                <a16:creationId xmlns:a16="http://schemas.microsoft.com/office/drawing/2014/main" id="{CCE02CA9-BF88-72D1-A433-F9623652E7F3}"/>
              </a:ext>
            </a:extLst>
          </p:cNvPr>
          <p:cNvSpPr/>
          <p:nvPr/>
        </p:nvSpPr>
        <p:spPr>
          <a:xfrm rot="2700000">
            <a:off x="5858992" y="3600688"/>
            <a:ext cx="250519" cy="250519"/>
          </a:xfrm>
          <a:prstGeom prst="plus">
            <a:avLst>
              <a:gd name="adj" fmla="val 40209"/>
            </a:avLst>
          </a:prstGeom>
          <a:solidFill>
            <a:srgbClr val="FF0000"/>
          </a:solidFill>
          <a:ln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8" name="Cross 87">
            <a:extLst>
              <a:ext uri="{FF2B5EF4-FFF2-40B4-BE49-F238E27FC236}">
                <a16:creationId xmlns:a16="http://schemas.microsoft.com/office/drawing/2014/main" id="{28CDF4A1-9EFB-710E-0983-3C2AC3BC3D40}"/>
              </a:ext>
            </a:extLst>
          </p:cNvPr>
          <p:cNvSpPr/>
          <p:nvPr/>
        </p:nvSpPr>
        <p:spPr>
          <a:xfrm rot="2700000">
            <a:off x="6485352" y="2212034"/>
            <a:ext cx="250519" cy="250519"/>
          </a:xfrm>
          <a:prstGeom prst="plus">
            <a:avLst>
              <a:gd name="adj" fmla="val 40209"/>
            </a:avLst>
          </a:prstGeom>
          <a:solidFill>
            <a:srgbClr val="FF0000"/>
          </a:solidFill>
          <a:ln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89" name="Straight Connector 88">
            <a:extLst>
              <a:ext uri="{FF2B5EF4-FFF2-40B4-BE49-F238E27FC236}">
                <a16:creationId xmlns:a16="http://schemas.microsoft.com/office/drawing/2014/main" id="{802E015A-33EC-1A03-0AB3-31C18ADF22B5}"/>
              </a:ext>
            </a:extLst>
          </p:cNvPr>
          <p:cNvCxnSpPr>
            <a:cxnSpLocks/>
          </p:cNvCxnSpPr>
          <p:nvPr/>
        </p:nvCxnSpPr>
        <p:spPr>
          <a:xfrm>
            <a:off x="6800917" y="1356961"/>
            <a:ext cx="0" cy="3730130"/>
          </a:xfrm>
          <a:prstGeom prst="line">
            <a:avLst/>
          </a:prstGeom>
          <a:ln w="6350">
            <a:solidFill>
              <a:schemeClr val="tx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0" name="Straight Connector 89">
            <a:extLst>
              <a:ext uri="{FF2B5EF4-FFF2-40B4-BE49-F238E27FC236}">
                <a16:creationId xmlns:a16="http://schemas.microsoft.com/office/drawing/2014/main" id="{3861120C-40E3-0709-9384-A07D9D5DF284}"/>
              </a:ext>
            </a:extLst>
          </p:cNvPr>
          <p:cNvCxnSpPr>
            <a:cxnSpLocks/>
          </p:cNvCxnSpPr>
          <p:nvPr/>
        </p:nvCxnSpPr>
        <p:spPr>
          <a:xfrm>
            <a:off x="5042930" y="1152412"/>
            <a:ext cx="0" cy="3934679"/>
          </a:xfrm>
          <a:prstGeom prst="line">
            <a:avLst/>
          </a:prstGeom>
          <a:ln w="6350">
            <a:solidFill>
              <a:schemeClr val="tx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1" name="TextBox 90">
            <a:extLst>
              <a:ext uri="{FF2B5EF4-FFF2-40B4-BE49-F238E27FC236}">
                <a16:creationId xmlns:a16="http://schemas.microsoft.com/office/drawing/2014/main" id="{F00C95DD-5146-A13C-E995-C5C263C07668}"/>
              </a:ext>
            </a:extLst>
          </p:cNvPr>
          <p:cNvSpPr txBox="1"/>
          <p:nvPr/>
        </p:nvSpPr>
        <p:spPr>
          <a:xfrm rot="3600000">
            <a:off x="5202147" y="5530991"/>
            <a:ext cx="1242648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00">
                <a:latin typeface="Consolas" panose="020B0609020204030204" pitchFamily="49" charset="0"/>
              </a:rPr>
              <a:t>Sending Packets</a:t>
            </a:r>
          </a:p>
        </p:txBody>
      </p:sp>
      <p:sp>
        <p:nvSpPr>
          <p:cNvPr id="92" name="TextBox 91">
            <a:extLst>
              <a:ext uri="{FF2B5EF4-FFF2-40B4-BE49-F238E27FC236}">
                <a16:creationId xmlns:a16="http://schemas.microsoft.com/office/drawing/2014/main" id="{DD06A245-01E0-849E-5911-B84F89C6CDB7}"/>
              </a:ext>
            </a:extLst>
          </p:cNvPr>
          <p:cNvSpPr txBox="1"/>
          <p:nvPr/>
        </p:nvSpPr>
        <p:spPr>
          <a:xfrm rot="3600000">
            <a:off x="6226295" y="5530991"/>
            <a:ext cx="1665841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00">
                <a:latin typeface="Consolas" panose="020B0609020204030204" pitchFamily="49" charset="0"/>
              </a:rPr>
              <a:t>Timeout receiving ACK</a:t>
            </a:r>
          </a:p>
        </p:txBody>
      </p:sp>
      <p:sp>
        <p:nvSpPr>
          <p:cNvPr id="93" name="TextBox 92">
            <a:extLst>
              <a:ext uri="{FF2B5EF4-FFF2-40B4-BE49-F238E27FC236}">
                <a16:creationId xmlns:a16="http://schemas.microsoft.com/office/drawing/2014/main" id="{FF743336-0CE4-BC62-BB38-9C2FAD5E1E14}"/>
              </a:ext>
            </a:extLst>
          </p:cNvPr>
          <p:cNvSpPr txBox="1"/>
          <p:nvPr/>
        </p:nvSpPr>
        <p:spPr>
          <a:xfrm>
            <a:off x="5984251" y="584817"/>
            <a:ext cx="2653290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TW" sz="1000">
                <a:latin typeface="Consolas" panose="020B0609020204030204" pitchFamily="49" charset="0"/>
              </a:rPr>
              <a:t>Detect Interference</a:t>
            </a:r>
          </a:p>
          <a:p>
            <a:r>
              <a:rPr lang="en-US" sz="1000">
                <a:latin typeface="Consolas" panose="020B0609020204030204" pitchFamily="49" charset="0"/>
              </a:rPr>
              <a:t>Jump to the new frequency and wait.</a:t>
            </a:r>
          </a:p>
        </p:txBody>
      </p:sp>
      <p:cxnSp>
        <p:nvCxnSpPr>
          <p:cNvPr id="94" name="Straight Arrow Connector 93">
            <a:extLst>
              <a:ext uri="{FF2B5EF4-FFF2-40B4-BE49-F238E27FC236}">
                <a16:creationId xmlns:a16="http://schemas.microsoft.com/office/drawing/2014/main" id="{40FC24CE-B15A-4544-B7D9-39E111E79C79}"/>
              </a:ext>
            </a:extLst>
          </p:cNvPr>
          <p:cNvCxnSpPr>
            <a:cxnSpLocks/>
          </p:cNvCxnSpPr>
          <p:nvPr/>
        </p:nvCxnSpPr>
        <p:spPr>
          <a:xfrm flipV="1">
            <a:off x="6805103" y="2190483"/>
            <a:ext cx="367612" cy="2634769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6" name="TextBox 95">
            <a:extLst>
              <a:ext uri="{FF2B5EF4-FFF2-40B4-BE49-F238E27FC236}">
                <a16:creationId xmlns:a16="http://schemas.microsoft.com/office/drawing/2014/main" id="{0F34AF91-369E-F986-8815-731D0E32CD4A}"/>
              </a:ext>
            </a:extLst>
          </p:cNvPr>
          <p:cNvSpPr txBox="1"/>
          <p:nvPr/>
        </p:nvSpPr>
        <p:spPr>
          <a:xfrm>
            <a:off x="7156499" y="930493"/>
            <a:ext cx="2230098" cy="5539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TW" sz="1000">
                <a:latin typeface="Consolas" panose="020B0609020204030204" pitchFamily="49" charset="0"/>
              </a:rPr>
              <a:t>Don’t receive on new channel.</a:t>
            </a:r>
          </a:p>
          <a:p>
            <a:r>
              <a:rPr lang="en-US" sz="1000">
                <a:latin typeface="Consolas" panose="020B0609020204030204" pitchFamily="49" charset="0"/>
              </a:rPr>
              <a:t>Might be failed.</a:t>
            </a:r>
          </a:p>
          <a:p>
            <a:r>
              <a:rPr lang="en-US" sz="1000">
                <a:latin typeface="Consolas" panose="020B0609020204030204" pitchFamily="49" charset="0"/>
              </a:rPr>
              <a:t>Return to last channel</a:t>
            </a:r>
          </a:p>
        </p:txBody>
      </p:sp>
      <p:sp>
        <p:nvSpPr>
          <p:cNvPr id="97" name="TextBox 96">
            <a:extLst>
              <a:ext uri="{FF2B5EF4-FFF2-40B4-BE49-F238E27FC236}">
                <a16:creationId xmlns:a16="http://schemas.microsoft.com/office/drawing/2014/main" id="{80192BEE-1526-C564-92C7-5B6E22B18722}"/>
              </a:ext>
            </a:extLst>
          </p:cNvPr>
          <p:cNvSpPr txBox="1"/>
          <p:nvPr/>
        </p:nvSpPr>
        <p:spPr>
          <a:xfrm rot="3600000">
            <a:off x="7304048" y="5625632"/>
            <a:ext cx="251222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TW" sz="1000">
                <a:latin typeface="Consolas" panose="020B0609020204030204" pitchFamily="49" charset="0"/>
              </a:rPr>
              <a:t>Not receiving ACK on new channel.</a:t>
            </a:r>
          </a:p>
          <a:p>
            <a:r>
              <a:rPr lang="en-US" sz="1000">
                <a:latin typeface="Consolas" panose="020B0609020204030204" pitchFamily="49" charset="0"/>
              </a:rPr>
              <a:t>Might be failed.</a:t>
            </a:r>
          </a:p>
        </p:txBody>
      </p:sp>
      <p:cxnSp>
        <p:nvCxnSpPr>
          <p:cNvPr id="20" name="Straight Connector 19">
            <a:extLst>
              <a:ext uri="{FF2B5EF4-FFF2-40B4-BE49-F238E27FC236}">
                <a16:creationId xmlns:a16="http://schemas.microsoft.com/office/drawing/2014/main" id="{0FB4B619-41C4-0049-55EA-A13D9CD6538B}"/>
              </a:ext>
            </a:extLst>
          </p:cNvPr>
          <p:cNvCxnSpPr>
            <a:cxnSpLocks/>
          </p:cNvCxnSpPr>
          <p:nvPr/>
        </p:nvCxnSpPr>
        <p:spPr>
          <a:xfrm flipH="1">
            <a:off x="371673" y="1480072"/>
            <a:ext cx="11322305" cy="0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420D1005-1AB2-EA08-12F8-976703C2C65A}"/>
              </a:ext>
            </a:extLst>
          </p:cNvPr>
          <p:cNvCxnSpPr>
            <a:cxnSpLocks/>
          </p:cNvCxnSpPr>
          <p:nvPr/>
        </p:nvCxnSpPr>
        <p:spPr>
          <a:xfrm flipH="1">
            <a:off x="371673" y="4825252"/>
            <a:ext cx="11322305" cy="0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9" name="Cross 98">
            <a:extLst>
              <a:ext uri="{FF2B5EF4-FFF2-40B4-BE49-F238E27FC236}">
                <a16:creationId xmlns:a16="http://schemas.microsoft.com/office/drawing/2014/main" id="{153A21DF-F32B-B47D-48C6-ACD82E5F7420}"/>
              </a:ext>
            </a:extLst>
          </p:cNvPr>
          <p:cNvSpPr/>
          <p:nvPr/>
        </p:nvSpPr>
        <p:spPr>
          <a:xfrm rot="2700000">
            <a:off x="7060616" y="2050829"/>
            <a:ext cx="250519" cy="250519"/>
          </a:xfrm>
          <a:prstGeom prst="plus">
            <a:avLst>
              <a:gd name="adj" fmla="val 40209"/>
            </a:avLst>
          </a:prstGeom>
          <a:solidFill>
            <a:srgbClr val="FF0000"/>
          </a:solidFill>
          <a:ln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02" name="Straight Arrow Connector 101">
            <a:extLst>
              <a:ext uri="{FF2B5EF4-FFF2-40B4-BE49-F238E27FC236}">
                <a16:creationId xmlns:a16="http://schemas.microsoft.com/office/drawing/2014/main" id="{81BD21D9-B806-0E88-E263-97A0D6F1EB0D}"/>
              </a:ext>
            </a:extLst>
          </p:cNvPr>
          <p:cNvCxnSpPr>
            <a:cxnSpLocks/>
          </p:cNvCxnSpPr>
          <p:nvPr/>
        </p:nvCxnSpPr>
        <p:spPr>
          <a:xfrm flipV="1">
            <a:off x="7149575" y="2190483"/>
            <a:ext cx="367612" cy="2634769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3" name="Cross 102">
            <a:extLst>
              <a:ext uri="{FF2B5EF4-FFF2-40B4-BE49-F238E27FC236}">
                <a16:creationId xmlns:a16="http://schemas.microsoft.com/office/drawing/2014/main" id="{81198DE9-08C5-36D6-1CFF-7BE50898BCB6}"/>
              </a:ext>
            </a:extLst>
          </p:cNvPr>
          <p:cNvSpPr/>
          <p:nvPr/>
        </p:nvSpPr>
        <p:spPr>
          <a:xfrm rot="2700000">
            <a:off x="7405088" y="2050829"/>
            <a:ext cx="250519" cy="250519"/>
          </a:xfrm>
          <a:prstGeom prst="plus">
            <a:avLst>
              <a:gd name="adj" fmla="val 40209"/>
            </a:avLst>
          </a:prstGeom>
          <a:solidFill>
            <a:srgbClr val="FF0000"/>
          </a:solidFill>
          <a:ln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04" name="Straight Arrow Connector 103">
            <a:extLst>
              <a:ext uri="{FF2B5EF4-FFF2-40B4-BE49-F238E27FC236}">
                <a16:creationId xmlns:a16="http://schemas.microsoft.com/office/drawing/2014/main" id="{E3EE5732-E8BC-A583-9633-E5DB077068E2}"/>
              </a:ext>
            </a:extLst>
          </p:cNvPr>
          <p:cNvCxnSpPr>
            <a:cxnSpLocks/>
          </p:cNvCxnSpPr>
          <p:nvPr/>
        </p:nvCxnSpPr>
        <p:spPr>
          <a:xfrm flipV="1">
            <a:off x="7417707" y="2190483"/>
            <a:ext cx="367612" cy="2634769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5" name="Cross 104">
            <a:extLst>
              <a:ext uri="{FF2B5EF4-FFF2-40B4-BE49-F238E27FC236}">
                <a16:creationId xmlns:a16="http://schemas.microsoft.com/office/drawing/2014/main" id="{23393508-A1FD-3B7D-3A69-3DD33F06BFD4}"/>
              </a:ext>
            </a:extLst>
          </p:cNvPr>
          <p:cNvSpPr/>
          <p:nvPr/>
        </p:nvSpPr>
        <p:spPr>
          <a:xfrm rot="2700000">
            <a:off x="7673220" y="2050829"/>
            <a:ext cx="250519" cy="250519"/>
          </a:xfrm>
          <a:prstGeom prst="plus">
            <a:avLst>
              <a:gd name="adj" fmla="val 40209"/>
            </a:avLst>
          </a:prstGeom>
          <a:solidFill>
            <a:srgbClr val="FF0000"/>
          </a:solidFill>
          <a:ln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884093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6" name="Straight Arrow Connector 21">
            <a:extLst>
              <a:ext uri="{FF2B5EF4-FFF2-40B4-BE49-F238E27FC236}">
                <a16:creationId xmlns:a16="http://schemas.microsoft.com/office/drawing/2014/main" id="{AFB0C134-4F4F-D37B-1E22-4FBE40DF2949}"/>
              </a:ext>
            </a:extLst>
          </p:cNvPr>
          <p:cNvCxnSpPr>
            <a:cxnSpLocks/>
          </p:cNvCxnSpPr>
          <p:nvPr/>
        </p:nvCxnSpPr>
        <p:spPr>
          <a:xfrm>
            <a:off x="6717059" y="4262096"/>
            <a:ext cx="331738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Straight Connector 54">
            <a:extLst>
              <a:ext uri="{FF2B5EF4-FFF2-40B4-BE49-F238E27FC236}">
                <a16:creationId xmlns:a16="http://schemas.microsoft.com/office/drawing/2014/main" id="{77080DF0-3A44-1333-75EB-2305FB5BDA11}"/>
              </a:ext>
            </a:extLst>
          </p:cNvPr>
          <p:cNvCxnSpPr>
            <a:cxnSpLocks/>
          </p:cNvCxnSpPr>
          <p:nvPr/>
        </p:nvCxnSpPr>
        <p:spPr>
          <a:xfrm flipH="1">
            <a:off x="6283594" y="4257334"/>
            <a:ext cx="289550" cy="0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TextBox 30">
            <a:extLst>
              <a:ext uri="{FF2B5EF4-FFF2-40B4-BE49-F238E27FC236}">
                <a16:creationId xmlns:a16="http://schemas.microsoft.com/office/drawing/2014/main" id="{0292E08E-72FF-D8F1-CE9B-70F2866F93B3}"/>
              </a:ext>
            </a:extLst>
          </p:cNvPr>
          <p:cNvSpPr txBox="1"/>
          <p:nvPr/>
        </p:nvSpPr>
        <p:spPr>
          <a:xfrm>
            <a:off x="5744843" y="4134223"/>
            <a:ext cx="466794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00">
                <a:latin typeface="Consolas" panose="020B0609020204030204" pitchFamily="49" charset="0"/>
              </a:rPr>
              <a:t>text</a:t>
            </a:r>
          </a:p>
        </p:txBody>
      </p:sp>
      <p:grpSp>
        <p:nvGrpSpPr>
          <p:cNvPr id="45" name="群組 44">
            <a:extLst>
              <a:ext uri="{FF2B5EF4-FFF2-40B4-BE49-F238E27FC236}">
                <a16:creationId xmlns:a16="http://schemas.microsoft.com/office/drawing/2014/main" id="{2B874AB3-D10D-2F72-71D1-70DFB8BFC717}"/>
              </a:ext>
            </a:extLst>
          </p:cNvPr>
          <p:cNvGrpSpPr/>
          <p:nvPr/>
        </p:nvGrpSpPr>
        <p:grpSpPr>
          <a:xfrm>
            <a:off x="96340" y="83933"/>
            <a:ext cx="12038838" cy="6730240"/>
            <a:chOff x="96340" y="83933"/>
            <a:chExt cx="12038838" cy="6730240"/>
          </a:xfrm>
        </p:grpSpPr>
        <p:grpSp>
          <p:nvGrpSpPr>
            <p:cNvPr id="26" name="群組 25">
              <a:extLst>
                <a:ext uri="{FF2B5EF4-FFF2-40B4-BE49-F238E27FC236}">
                  <a16:creationId xmlns:a16="http://schemas.microsoft.com/office/drawing/2014/main" id="{37D42E78-D5E3-8DF6-054F-3DB7AA8756F3}"/>
                </a:ext>
              </a:extLst>
            </p:cNvPr>
            <p:cNvGrpSpPr/>
            <p:nvPr/>
          </p:nvGrpSpPr>
          <p:grpSpPr>
            <a:xfrm>
              <a:off x="4845322" y="1217011"/>
              <a:ext cx="4070957" cy="1574239"/>
              <a:chOff x="412810" y="2805256"/>
              <a:chExt cx="4070957" cy="1574239"/>
            </a:xfrm>
          </p:grpSpPr>
          <p:sp>
            <p:nvSpPr>
              <p:cNvPr id="20" name="Rectangle 4">
                <a:extLst>
                  <a:ext uri="{FF2B5EF4-FFF2-40B4-BE49-F238E27FC236}">
                    <a16:creationId xmlns:a16="http://schemas.microsoft.com/office/drawing/2014/main" id="{CCC25B2D-3F90-8C9A-9B99-38E513C72134}"/>
                  </a:ext>
                </a:extLst>
              </p:cNvPr>
              <p:cNvSpPr/>
              <p:nvPr/>
            </p:nvSpPr>
            <p:spPr>
              <a:xfrm>
                <a:off x="412810" y="2805256"/>
                <a:ext cx="4070957" cy="1574239"/>
              </a:xfrm>
              <a:prstGeom prst="rect">
                <a:avLst/>
              </a:prstGeom>
              <a:solidFill>
                <a:schemeClr val="accent2">
                  <a:lumMod val="20000"/>
                  <a:lumOff val="80000"/>
                </a:schemeClr>
              </a:solidFill>
              <a:ln>
                <a:noFill/>
              </a:ln>
            </p:spPr>
            <p:style>
              <a:lnRef idx="2">
                <a:schemeClr val="accent2">
                  <a:shade val="50000"/>
                </a:schemeClr>
              </a:lnRef>
              <a:fillRef idx="1">
                <a:schemeClr val="accent2"/>
              </a:fillRef>
              <a:effectRef idx="0">
                <a:schemeClr val="accent2"/>
              </a:effectRef>
              <a:fontRef idx="minor">
                <a:schemeClr val="lt1"/>
              </a:fontRef>
            </p:style>
            <p:txBody>
              <a:bodyPr rtlCol="0" anchor="t"/>
              <a:lstStyle/>
              <a:p>
                <a:pPr defTabSz="182880"/>
                <a:r>
                  <a:rPr lang="en-US" sz="800">
                    <a:solidFill>
                      <a:sysClr val="windowText" lastClr="000000"/>
                    </a:solidFill>
                    <a:latin typeface="Consolas" panose="020B0609020204030204" pitchFamily="49" charset="0"/>
                  </a:rPr>
                  <a:t>elif header is DATA_FRAME:</a:t>
                </a:r>
              </a:p>
              <a:p>
                <a:pPr defTabSz="182880"/>
                <a:r>
                  <a:rPr lang="en-US" sz="800">
                    <a:solidFill>
                      <a:sysClr val="windowText" lastClr="000000"/>
                    </a:solidFill>
                    <a:latin typeface="Consolas" panose="020B0609020204030204" pitchFamily="49" charset="0"/>
                  </a:rPr>
                  <a:t>	reply_with_ack()</a:t>
                </a:r>
              </a:p>
              <a:p>
                <a:pPr defTabSz="182880"/>
                <a:endParaRPr lang="en-US" sz="800">
                  <a:solidFill>
                    <a:sysClr val="windowText" lastClr="000000"/>
                  </a:solidFill>
                  <a:latin typeface="Consolas" panose="020B0609020204030204" pitchFamily="49" charset="0"/>
                </a:endParaRPr>
              </a:p>
              <a:p>
                <a:pPr defTabSz="182880"/>
                <a:endParaRPr lang="en-US" sz="800">
                  <a:solidFill>
                    <a:sysClr val="windowText" lastClr="000000"/>
                  </a:solidFill>
                  <a:latin typeface="Consolas" panose="020B0609020204030204" pitchFamily="49" charset="0"/>
                </a:endParaRPr>
              </a:p>
              <a:p>
                <a:pPr defTabSz="182880"/>
                <a:endParaRPr lang="en-US" sz="800">
                  <a:solidFill>
                    <a:sysClr val="windowText" lastClr="000000"/>
                  </a:solidFill>
                  <a:latin typeface="Consolas" panose="020B0609020204030204" pitchFamily="49" charset="0"/>
                </a:endParaRPr>
              </a:p>
              <a:p>
                <a:pPr defTabSz="182880"/>
                <a:endParaRPr lang="en-US" sz="800">
                  <a:solidFill>
                    <a:sysClr val="windowText" lastClr="000000"/>
                  </a:solidFill>
                  <a:latin typeface="Consolas" panose="020B0609020204030204" pitchFamily="49" charset="0"/>
                </a:endParaRPr>
              </a:p>
              <a:p>
                <a:pPr defTabSz="182880"/>
                <a:r>
                  <a:rPr lang="en-US" sz="800">
                    <a:solidFill>
                      <a:sysClr val="windowText" lastClr="000000"/>
                    </a:solidFill>
                    <a:latin typeface="Consolas" panose="020B0609020204030204" pitchFamily="49" charset="0"/>
                  </a:rPr>
                  <a:t>	set_to_db()</a:t>
                </a:r>
              </a:p>
            </p:txBody>
          </p:sp>
          <p:sp>
            <p:nvSpPr>
              <p:cNvPr id="22" name="矩形 21">
                <a:extLst>
                  <a:ext uri="{FF2B5EF4-FFF2-40B4-BE49-F238E27FC236}">
                    <a16:creationId xmlns:a16="http://schemas.microsoft.com/office/drawing/2014/main" id="{DA6216EF-00A9-2D48-B128-9970C5D7EB58}"/>
                  </a:ext>
                </a:extLst>
              </p:cNvPr>
              <p:cNvSpPr/>
              <p:nvPr/>
            </p:nvSpPr>
            <p:spPr>
              <a:xfrm>
                <a:off x="680935" y="3115532"/>
                <a:ext cx="3802831" cy="404536"/>
              </a:xfrm>
              <a:prstGeom prst="rect">
                <a:avLst/>
              </a:prstGeom>
              <a:solidFill>
                <a:schemeClr val="accent2">
                  <a:lumMod val="40000"/>
                  <a:lumOff val="6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defTabSz="182880"/>
                <a:r>
                  <a:rPr lang="en-US" altLang="zh-TW" sz="800">
                    <a:solidFill>
                      <a:schemeClr val="tx1"/>
                    </a:solidFill>
                    <a:latin typeface="Consolas" panose="020B0609020204030204" pitchFamily="49" charset="0"/>
                  </a:rPr>
                  <a:t>ack_frame = scapy.Dot11FCS(addr1=addr, type=1, subtype=13, FCfield=0)</a:t>
                </a:r>
              </a:p>
              <a:p>
                <a:pPr defTabSz="182880"/>
                <a:r>
                  <a:rPr lang="en-US" altLang="zh-TW" sz="800">
                    <a:solidFill>
                      <a:schemeClr val="tx1"/>
                    </a:solidFill>
                    <a:latin typeface="Consolas" panose="020B0609020204030204" pitchFamily="49" charset="0"/>
                  </a:rPr>
                  <a:t>sock.sendto(bytes(ack_frame), (localhost, 52001))</a:t>
                </a:r>
                <a:endParaRPr lang="zh-TW" altLang="en-US" sz="800">
                  <a:solidFill>
                    <a:schemeClr val="tx1"/>
                  </a:solidFill>
                  <a:latin typeface="Consolas" panose="020B0609020204030204" pitchFamily="49" charset="0"/>
                </a:endParaRPr>
              </a:p>
            </p:txBody>
          </p:sp>
          <p:sp>
            <p:nvSpPr>
              <p:cNvPr id="23" name="矩形 22">
                <a:extLst>
                  <a:ext uri="{FF2B5EF4-FFF2-40B4-BE49-F238E27FC236}">
                    <a16:creationId xmlns:a16="http://schemas.microsoft.com/office/drawing/2014/main" id="{F54B0698-4C04-5775-0F11-CBDE7AB11891}"/>
                  </a:ext>
                </a:extLst>
              </p:cNvPr>
              <p:cNvSpPr/>
              <p:nvPr/>
            </p:nvSpPr>
            <p:spPr>
              <a:xfrm>
                <a:off x="680934" y="3753749"/>
                <a:ext cx="3802832" cy="564956"/>
              </a:xfrm>
              <a:prstGeom prst="rect">
                <a:avLst/>
              </a:prstGeom>
              <a:solidFill>
                <a:schemeClr val="accent2">
                  <a:lumMod val="40000"/>
                  <a:lumOff val="6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defTabSz="182880"/>
                <a:r>
                  <a:rPr lang="en-US" altLang="zh-TW" sz="800">
                    <a:solidFill>
                      <a:schemeClr val="tx1"/>
                    </a:solidFill>
                    <a:latin typeface="Consolas" panose="020B0609020204030204" pitchFamily="49" charset="0"/>
                  </a:rPr>
                  <a:t>timestamp = time.time()</a:t>
                </a:r>
              </a:p>
              <a:p>
                <a:pPr defTabSz="182880"/>
                <a:r>
                  <a:rPr lang="en-US" altLang="zh-TW" sz="800">
                    <a:solidFill>
                      <a:schemeClr val="tx1"/>
                    </a:solidFill>
                    <a:latin typeface="Consolas" panose="020B0609020204030204" pitchFamily="49" charset="0"/>
                  </a:rPr>
                  <a:t>db.hmset(“Recv:seq:timestamp”, {“payload”: payload, “info”:info})</a:t>
                </a:r>
              </a:p>
              <a:p>
                <a:pPr defTabSz="182880"/>
                <a:r>
                  <a:rPr lang="en-US" altLang="zh-TW" sz="800">
                    <a:solidFill>
                      <a:schemeClr val="tx1"/>
                    </a:solidFill>
                    <a:latin typeface="Consolas" panose="020B0609020204030204" pitchFamily="49" charset="0"/>
                  </a:rPr>
                  <a:t>db.set(“CSI:timestamp”, csi_json)</a:t>
                </a:r>
              </a:p>
              <a:p>
                <a:pPr defTabSz="182880"/>
                <a:r>
                  <a:rPr lang="en-US" altLang="zh-TW" sz="800">
                    <a:solidFill>
                      <a:schemeClr val="tx1"/>
                    </a:solidFill>
                    <a:latin typeface="Consolas" panose="020B0609020204030204" pitchFamily="49" charset="0"/>
                  </a:rPr>
                  <a:t>db.set(“CSI:ACTION:CSI”, “CSI:timestamp”)</a:t>
                </a:r>
                <a:endParaRPr lang="zh-TW" altLang="en-US" sz="800">
                  <a:solidFill>
                    <a:schemeClr val="tx1"/>
                  </a:solidFill>
                  <a:latin typeface="Consolas" panose="020B0609020204030204" pitchFamily="49" charset="0"/>
                </a:endParaRPr>
              </a:p>
            </p:txBody>
          </p:sp>
        </p:grpSp>
        <p:sp>
          <p:nvSpPr>
            <p:cNvPr id="24" name="Rectangle 4">
              <a:extLst>
                <a:ext uri="{FF2B5EF4-FFF2-40B4-BE49-F238E27FC236}">
                  <a16:creationId xmlns:a16="http://schemas.microsoft.com/office/drawing/2014/main" id="{A3B5125B-ECB5-B21C-AB92-B1FA751DBFD6}"/>
                </a:ext>
              </a:extLst>
            </p:cNvPr>
            <p:cNvSpPr/>
            <p:nvPr/>
          </p:nvSpPr>
          <p:spPr>
            <a:xfrm>
              <a:off x="4845321" y="83933"/>
              <a:ext cx="4070957" cy="1133078"/>
            </a:xfrm>
            <a:prstGeom prst="rect">
              <a:avLst/>
            </a:prstGeom>
            <a:solidFill>
              <a:schemeClr val="accent2">
                <a:lumMod val="20000"/>
                <a:lumOff val="80000"/>
              </a:schemeClr>
            </a:solidFill>
            <a:ln>
              <a:noFill/>
            </a:ln>
          </p:spPr>
          <p:style>
            <a:lnRef idx="2">
              <a:schemeClr val="accent2">
                <a:shade val="50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defTabSz="182880"/>
              <a:r>
                <a:rPr lang="en-US" sz="800">
                  <a:solidFill>
                    <a:sysClr val="windowText" lastClr="000000"/>
                  </a:solidFill>
                  <a:latin typeface="Consolas" panose="020B0609020204030204" pitchFamily="49" charset="0"/>
                </a:rPr>
                <a:t>if payload has ControlType:</a:t>
              </a:r>
            </a:p>
            <a:p>
              <a:pPr defTabSz="182880"/>
              <a:r>
                <a:rPr lang="en-US" sz="800">
                  <a:solidFill>
                    <a:sysClr val="windowText" lastClr="000000"/>
                  </a:solidFill>
                  <a:latin typeface="Consolas" panose="020B0609020204030204" pitchFamily="49" charset="0"/>
                </a:rPr>
                <a:t>	if payload[“ControlType”] == “HOP”:</a:t>
              </a:r>
            </a:p>
            <a:p>
              <a:pPr defTabSz="182880"/>
              <a:r>
                <a:rPr lang="en-US" sz="800">
                  <a:solidFill>
                    <a:sysClr val="windowText" lastClr="000000"/>
                  </a:solidFill>
                  <a:latin typeface="Consolas" panose="020B0609020204030204" pitchFamily="49" charset="0"/>
                </a:rPr>
                <a:t>		if payload[“ControlAction”].isdigit():</a:t>
              </a:r>
            </a:p>
            <a:p>
              <a:pPr defTabSz="182880"/>
              <a:r>
                <a:rPr lang="en-US" sz="800">
                  <a:solidFill>
                    <a:sysClr val="windowText" lastClr="000000"/>
                  </a:solidFill>
                  <a:latin typeface="Consolas" panose="020B0609020204030204" pitchFamily="49" charset="0"/>
                </a:rPr>
                <a:t>			db.set(“RFSYSTEM:STATE”, “Hold”)</a:t>
              </a:r>
            </a:p>
            <a:p>
              <a:pPr defTabSz="182880"/>
              <a:r>
                <a:rPr lang="en-US" sz="800">
                  <a:solidFill>
                    <a:sysClr val="windowText" lastClr="000000"/>
                  </a:solidFill>
                  <a:latin typeface="Consolas" panose="020B0609020204030204" pitchFamily="49" charset="0"/>
                </a:rPr>
                <a:t>			db.hset(“SYSTEM:HOPPING”, “Stage”, 4)</a:t>
              </a:r>
            </a:p>
            <a:p>
              <a:pPr defTabSz="182880"/>
              <a:r>
                <a:rPr lang="en-US" sz="800">
                  <a:solidFill>
                    <a:sysClr val="windowText" lastClr="000000"/>
                  </a:solidFill>
                  <a:latin typeface="Consolas" panose="020B0609020204030204" pitchFamily="49" charset="0"/>
                </a:rPr>
                <a:t>		action_to_hop(payload)</a:t>
              </a:r>
            </a:p>
            <a:p>
              <a:pPr defTabSz="182880"/>
              <a:r>
                <a:rPr lang="en-US" sz="800">
                  <a:solidFill>
                    <a:sysClr val="windowText" lastClr="000000"/>
                  </a:solidFill>
                  <a:latin typeface="Consolas" panose="020B0609020204030204" pitchFamily="49" charset="0"/>
                </a:rPr>
                <a:t>		</a:t>
              </a:r>
            </a:p>
            <a:p>
              <a:pPr defTabSz="182880"/>
              <a:r>
                <a:rPr lang="en-US" sz="800">
                  <a:solidFill>
                    <a:sysClr val="windowText" lastClr="000000"/>
                  </a:solidFill>
                  <a:latin typeface="Consolas" panose="020B0609020204030204" pitchFamily="49" charset="0"/>
                </a:rPr>
                <a:t>	</a:t>
              </a:r>
            </a:p>
          </p:txBody>
        </p:sp>
        <p:grpSp>
          <p:nvGrpSpPr>
            <p:cNvPr id="27" name="群組 26">
              <a:extLst>
                <a:ext uri="{FF2B5EF4-FFF2-40B4-BE49-F238E27FC236}">
                  <a16:creationId xmlns:a16="http://schemas.microsoft.com/office/drawing/2014/main" id="{CD45926D-0E16-29ED-1849-41B7AE4921EC}"/>
                </a:ext>
              </a:extLst>
            </p:cNvPr>
            <p:cNvGrpSpPr/>
            <p:nvPr/>
          </p:nvGrpSpPr>
          <p:grpSpPr>
            <a:xfrm>
              <a:off x="4845320" y="2791250"/>
              <a:ext cx="4070957" cy="1050146"/>
              <a:chOff x="412808" y="3810612"/>
              <a:chExt cx="4070957" cy="1050146"/>
            </a:xfrm>
          </p:grpSpPr>
          <p:sp>
            <p:nvSpPr>
              <p:cNvPr id="25" name="Rectangle 4">
                <a:extLst>
                  <a:ext uri="{FF2B5EF4-FFF2-40B4-BE49-F238E27FC236}">
                    <a16:creationId xmlns:a16="http://schemas.microsoft.com/office/drawing/2014/main" id="{52436147-4230-6B2D-7974-843A81211452}"/>
                  </a:ext>
                </a:extLst>
              </p:cNvPr>
              <p:cNvSpPr/>
              <p:nvPr/>
            </p:nvSpPr>
            <p:spPr>
              <a:xfrm>
                <a:off x="412808" y="3810612"/>
                <a:ext cx="4070957" cy="1050146"/>
              </a:xfrm>
              <a:prstGeom prst="rect">
                <a:avLst/>
              </a:prstGeom>
              <a:solidFill>
                <a:schemeClr val="accent2">
                  <a:lumMod val="20000"/>
                  <a:lumOff val="80000"/>
                </a:schemeClr>
              </a:solidFill>
              <a:ln>
                <a:noFill/>
              </a:ln>
            </p:spPr>
            <p:style>
              <a:lnRef idx="2">
                <a:schemeClr val="accent2">
                  <a:shade val="50000"/>
                </a:schemeClr>
              </a:lnRef>
              <a:fillRef idx="1">
                <a:schemeClr val="accent2"/>
              </a:fillRef>
              <a:effectRef idx="0">
                <a:schemeClr val="accent2"/>
              </a:effectRef>
              <a:fontRef idx="minor">
                <a:schemeClr val="lt1"/>
              </a:fontRef>
            </p:style>
            <p:txBody>
              <a:bodyPr rtlCol="0" anchor="t"/>
              <a:lstStyle/>
              <a:p>
                <a:pPr defTabSz="182880"/>
                <a:r>
                  <a:rPr lang="en-US" sz="800">
                    <a:solidFill>
                      <a:sysClr val="windowText" lastClr="000000"/>
                    </a:solidFill>
                    <a:latin typeface="Consolas" panose="020B0609020204030204" pitchFamily="49" charset="0"/>
                  </a:rPr>
                  <a:t>elif header is CTRL_FRAME:</a:t>
                </a:r>
              </a:p>
              <a:p>
                <a:pPr defTabSz="182880"/>
                <a:r>
                  <a:rPr lang="en-US" sz="800">
                    <a:solidFill>
                      <a:sysClr val="windowText" lastClr="000000"/>
                    </a:solidFill>
                    <a:latin typeface="Consolas" panose="020B0609020204030204" pitchFamily="49" charset="0"/>
                  </a:rPr>
                  <a:t>	action_to_ack()</a:t>
                </a:r>
              </a:p>
            </p:txBody>
          </p:sp>
          <p:sp>
            <p:nvSpPr>
              <p:cNvPr id="21" name="矩形 20">
                <a:extLst>
                  <a:ext uri="{FF2B5EF4-FFF2-40B4-BE49-F238E27FC236}">
                    <a16:creationId xmlns:a16="http://schemas.microsoft.com/office/drawing/2014/main" id="{B3ABBAD7-651C-712D-0139-E04AE081EDF5}"/>
                  </a:ext>
                </a:extLst>
              </p:cNvPr>
              <p:cNvSpPr/>
              <p:nvPr/>
            </p:nvSpPr>
            <p:spPr>
              <a:xfrm>
                <a:off x="684365" y="4139687"/>
                <a:ext cx="3799400" cy="649706"/>
              </a:xfrm>
              <a:prstGeom prst="rect">
                <a:avLst/>
              </a:prstGeom>
              <a:solidFill>
                <a:schemeClr val="accent2">
                  <a:lumMod val="40000"/>
                  <a:lumOff val="6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defTabSz="182880"/>
                <a:r>
                  <a:rPr lang="en-US" altLang="zh-TW" sz="800">
                    <a:solidFill>
                      <a:schemeClr val="tx1"/>
                    </a:solidFill>
                    <a:latin typeface="Consolas" panose="020B0609020204030204" pitchFamily="49" charset="0"/>
                  </a:rPr>
                  <a:t>ACK_STATE = db.get(“TRANS:ACK”)</a:t>
                </a:r>
              </a:p>
              <a:p>
                <a:pPr defTabSz="182880"/>
                <a:r>
                  <a:rPr lang="en-US" altLang="zh-TW" sz="800">
                    <a:solidFill>
                      <a:schemeClr val="tx1"/>
                    </a:solidFill>
                    <a:latin typeface="Consolas" panose="020B0609020204030204" pitchFamily="49" charset="0"/>
                  </a:rPr>
                  <a:t>if ACK_STATE == “Waiting”:</a:t>
                </a:r>
              </a:p>
              <a:p>
                <a:pPr defTabSz="182880"/>
                <a:r>
                  <a:rPr lang="en-US" altLang="zh-TW" sz="800">
                    <a:solidFill>
                      <a:schemeClr val="tx1"/>
                    </a:solidFill>
                    <a:latin typeface="Consolas" panose="020B0609020204030204" pitchFamily="49" charset="0"/>
                  </a:rPr>
                  <a:t>	db.set(“TRANS:ACK”, “Success”)</a:t>
                </a:r>
              </a:p>
              <a:p>
                <a:pPr defTabSz="182880"/>
                <a:r>
                  <a:rPr lang="en-US" altLang="zh-TW" sz="800">
                    <a:solidFill>
                      <a:schemeClr val="tx1"/>
                    </a:solidFill>
                    <a:latin typeface="Consolas" panose="020B0609020204030204" pitchFamily="49" charset="0"/>
                  </a:rPr>
                  <a:t>	db.set(“RFDEVICE:STATE”, “Idle”)</a:t>
                </a:r>
              </a:p>
              <a:p>
                <a:pPr defTabSz="182880"/>
                <a:r>
                  <a:rPr lang="en-US" altLang="zh-TW" sz="800">
                    <a:solidFill>
                      <a:schemeClr val="tx1"/>
                    </a:solidFill>
                    <a:latin typeface="Consolas" panose="020B0609020204030204" pitchFamily="49" charset="0"/>
                  </a:rPr>
                  <a:t>	db.rpop(“QUEUE:LIST:TRANS”)</a:t>
                </a:r>
                <a:endParaRPr lang="zh-TW" altLang="en-US" sz="800">
                  <a:solidFill>
                    <a:schemeClr val="tx1"/>
                  </a:solidFill>
                  <a:latin typeface="Consolas" panose="020B0609020204030204" pitchFamily="49" charset="0"/>
                </a:endParaRPr>
              </a:p>
            </p:txBody>
          </p:sp>
        </p:grpSp>
        <p:sp>
          <p:nvSpPr>
            <p:cNvPr id="28" name="矩形 27">
              <a:extLst>
                <a:ext uri="{FF2B5EF4-FFF2-40B4-BE49-F238E27FC236}">
                  <a16:creationId xmlns:a16="http://schemas.microsoft.com/office/drawing/2014/main" id="{6EE1C805-C942-5811-7865-38C835D36687}"/>
                </a:ext>
              </a:extLst>
            </p:cNvPr>
            <p:cNvSpPr/>
            <p:nvPr/>
          </p:nvSpPr>
          <p:spPr>
            <a:xfrm>
              <a:off x="5316553" y="872981"/>
              <a:ext cx="3599724" cy="268490"/>
            </a:xfrm>
            <a:prstGeom prst="rect">
              <a:avLst/>
            </a:prstGeom>
            <a:solidFill>
              <a:schemeClr val="accent2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defTabSz="182880"/>
              <a:r>
                <a:rPr lang="en-US" altLang="zh-TW" sz="800">
                  <a:solidFill>
                    <a:schemeClr val="tx1"/>
                  </a:solidFill>
                  <a:latin typeface="Consolas" panose="020B0609020204030204" pitchFamily="49" charset="0"/>
                </a:rPr>
                <a:t>db.set(“SYSTEM:ACTION:HOP”, payload)</a:t>
              </a:r>
              <a:endParaRPr lang="zh-TW" altLang="en-US" sz="800">
                <a:solidFill>
                  <a:schemeClr val="tx1"/>
                </a:solidFill>
                <a:latin typeface="Consolas" panose="020B0609020204030204" pitchFamily="49" charset="0"/>
              </a:endParaRPr>
            </a:p>
          </p:txBody>
        </p:sp>
        <p:sp>
          <p:nvSpPr>
            <p:cNvPr id="30" name="Rectangle 5">
              <a:extLst>
                <a:ext uri="{FF2B5EF4-FFF2-40B4-BE49-F238E27FC236}">
                  <a16:creationId xmlns:a16="http://schemas.microsoft.com/office/drawing/2014/main" id="{0C4B8A75-9DC0-9E19-9FCC-CC1B17BE5D20}"/>
                </a:ext>
              </a:extLst>
            </p:cNvPr>
            <p:cNvSpPr/>
            <p:nvPr/>
          </p:nvSpPr>
          <p:spPr>
            <a:xfrm>
              <a:off x="8721530" y="4261369"/>
              <a:ext cx="3374130" cy="2552804"/>
            </a:xfrm>
            <a:prstGeom prst="rect">
              <a:avLst/>
            </a:prstGeom>
            <a:solidFill>
              <a:schemeClr val="accent3">
                <a:lumMod val="20000"/>
                <a:lumOff val="80000"/>
              </a:schemeClr>
            </a:solidFill>
            <a:ln>
              <a:noFill/>
            </a:ln>
          </p:spPr>
          <p:style>
            <a:lnRef idx="2">
              <a:schemeClr val="accent3">
                <a:shade val="50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defTabSz="182880"/>
              <a:r>
                <a:rPr lang="en-US" sz="800">
                  <a:solidFill>
                    <a:schemeClr val="tx1"/>
                  </a:solidFill>
                  <a:latin typeface="Consolas" panose="020B0609020204030204" pitchFamily="49" charset="0"/>
                </a:rPr>
                <a:t>while db.exists(“QUEUE:LIST:TRANS”):</a:t>
              </a:r>
            </a:p>
            <a:p>
              <a:pPr defTabSz="182880"/>
              <a:r>
                <a:rPr lang="en-US" sz="800">
                  <a:solidFill>
                    <a:schemeClr val="tx1"/>
                  </a:solidFill>
                  <a:latin typeface="Consolas" panose="020B0609020204030204" pitchFamily="49" charset="0"/>
                </a:rPr>
                <a:t>	rf_state = db.get(“RFDEVICE:STATE”)</a:t>
              </a:r>
            </a:p>
            <a:p>
              <a:pPr defTabSz="182880"/>
              <a:r>
                <a:rPr lang="en-US" altLang="zh-TW" sz="800">
                  <a:solidFill>
                    <a:schemeClr val="tx1"/>
                  </a:solidFill>
                  <a:latin typeface="Consolas" panose="020B0609020204030204" pitchFamily="49" charset="0"/>
                </a:rPr>
                <a:t>	sys_state = db.get(“RFSYSTEM:STATE”)</a:t>
              </a:r>
              <a:endParaRPr lang="en-US" sz="800">
                <a:solidFill>
                  <a:schemeClr val="tx1"/>
                </a:solidFill>
                <a:latin typeface="Consolas" panose="020B0609020204030204" pitchFamily="49" charset="0"/>
              </a:endParaRPr>
            </a:p>
            <a:p>
              <a:pPr defTabSz="182880"/>
              <a:r>
                <a:rPr lang="en-US" sz="800">
                  <a:solidFill>
                    <a:schemeClr val="tx1"/>
                  </a:solidFill>
                  <a:latin typeface="Consolas" panose="020B0609020204030204" pitchFamily="49" charset="0"/>
                </a:rPr>
                <a:t>	oldest_key = db.lrange(“QUEUE:LIST:TRANS”, -1, -1)</a:t>
              </a:r>
            </a:p>
            <a:p>
              <a:pPr defTabSz="182880"/>
              <a:r>
                <a:rPr lang="en-US" sz="800">
                  <a:solidFill>
                    <a:schemeClr val="tx1"/>
                  </a:solidFill>
                  <a:latin typeface="Consolas" panose="020B0609020204030204" pitchFamily="49" charset="0"/>
                </a:rPr>
                <a:t>	ack_for_key = db.get(“</a:t>
              </a:r>
              <a:r>
                <a:rPr lang="en-US" altLang="zh-TW" sz="800">
                  <a:solidFill>
                    <a:schemeClr val="tx1"/>
                  </a:solidFill>
                  <a:latin typeface="Consolas" panose="020B0609020204030204" pitchFamily="49" charset="0"/>
                </a:rPr>
                <a:t>oldest_key:ACK”</a:t>
              </a:r>
              <a:r>
                <a:rPr lang="en-US" sz="800">
                  <a:solidFill>
                    <a:schemeClr val="tx1"/>
                  </a:solidFill>
                  <a:latin typeface="Consolas" panose="020B0609020204030204" pitchFamily="49" charset="0"/>
                </a:rPr>
                <a:t>)</a:t>
              </a:r>
            </a:p>
            <a:p>
              <a:pPr defTabSz="182880"/>
              <a:r>
                <a:rPr lang="en-US" sz="800">
                  <a:solidFill>
                    <a:schemeClr val="tx1"/>
                  </a:solidFill>
                  <a:latin typeface="Consolas" panose="020B0609020204030204" pitchFamily="49" charset="0"/>
                </a:rPr>
                <a:t>	</a:t>
              </a:r>
            </a:p>
            <a:p>
              <a:pPr defTabSz="182880"/>
              <a:r>
                <a:rPr lang="en-US" sz="800">
                  <a:solidFill>
                    <a:schemeClr val="tx1"/>
                  </a:solidFill>
                  <a:latin typeface="Consolas" panose="020B0609020204030204" pitchFamily="49" charset="0"/>
                </a:rPr>
                <a:t>	if </a:t>
              </a:r>
              <a:r>
                <a:rPr lang="en-US" altLang="zh-TW" sz="800">
                  <a:solidFill>
                    <a:schemeClr val="tx1"/>
                  </a:solidFill>
                  <a:latin typeface="Consolas" panose="020B0609020204030204" pitchFamily="49" charset="0"/>
                </a:rPr>
                <a:t>ack_for_key is not None:</a:t>
              </a:r>
            </a:p>
            <a:p>
              <a:pPr defTabSz="182880"/>
              <a:r>
                <a:rPr lang="en-US" sz="800">
                  <a:solidFill>
                    <a:schemeClr val="tx1"/>
                  </a:solidFill>
                  <a:latin typeface="Consolas" panose="020B0609020204030204" pitchFamily="49" charset="0"/>
                </a:rPr>
                <a:t>		if db.get(</a:t>
              </a:r>
              <a:r>
                <a:rPr lang="en-US" altLang="zh-TW" sz="800">
                  <a:solidFill>
                    <a:schemeClr val="tx1"/>
                  </a:solidFill>
                  <a:latin typeface="Consolas" panose="020B0609020204030204" pitchFamily="49" charset="0"/>
                </a:rPr>
                <a:t>ack_for_key</a:t>
              </a:r>
              <a:r>
                <a:rPr lang="en-US" sz="800">
                  <a:solidFill>
                    <a:schemeClr val="tx1"/>
                  </a:solidFill>
                  <a:latin typeface="Consolas" panose="020B0609020204030204" pitchFamily="49" charset="0"/>
                </a:rPr>
                <a:t>) == “Failed”:</a:t>
              </a:r>
            </a:p>
            <a:p>
              <a:pPr defTabSz="182880"/>
              <a:r>
                <a:rPr lang="en-US" sz="800">
                  <a:solidFill>
                    <a:schemeClr val="tx1"/>
                  </a:solidFill>
                  <a:latin typeface="Consolas" panose="020B0609020204030204" pitchFamily="49" charset="0"/>
                </a:rPr>
                <a:t>			db.rpop(“QUEUE:LIST:TRANS”)</a:t>
              </a:r>
            </a:p>
            <a:p>
              <a:pPr defTabSz="182880"/>
              <a:r>
                <a:rPr lang="en-US" sz="800">
                  <a:solidFill>
                    <a:schemeClr val="tx1"/>
                  </a:solidFill>
                  <a:latin typeface="Consolas" panose="020B0609020204030204" pitchFamily="49" charset="0"/>
                </a:rPr>
                <a:t>	</a:t>
              </a:r>
            </a:p>
            <a:p>
              <a:pPr defTabSz="182880"/>
              <a:r>
                <a:rPr lang="en-US" sz="800">
                  <a:solidFill>
                    <a:schemeClr val="tx1"/>
                  </a:solidFill>
                  <a:latin typeface="Consolas" panose="020B0609020204030204" pitchFamily="49" charset="0"/>
                </a:rPr>
                <a:t>	elif </a:t>
              </a:r>
              <a:r>
                <a:rPr lang="en-US" altLang="zh-TW" sz="800">
                  <a:solidFill>
                    <a:schemeClr val="tx1"/>
                  </a:solidFill>
                  <a:latin typeface="Consolas" panose="020B0609020204030204" pitchFamily="49" charset="0"/>
                </a:rPr>
                <a:t>rf_state == “Idle”:</a:t>
              </a:r>
            </a:p>
            <a:p>
              <a:pPr defTabSz="182880"/>
              <a:r>
                <a:rPr lang="en-US" sz="800">
                  <a:solidFill>
                    <a:schemeClr val="tx1"/>
                  </a:solidFill>
                  <a:latin typeface="Consolas" panose="020B0609020204030204" pitchFamily="49" charset="0"/>
                </a:rPr>
                <a:t>		</a:t>
              </a:r>
              <a:r>
                <a:rPr lang="en-US" altLang="zh-TW" sz="800">
                  <a:solidFill>
                    <a:schemeClr val="tx1"/>
                  </a:solidFill>
                  <a:latin typeface="Consolas" panose="020B0609020204030204" pitchFamily="49" charset="0"/>
                </a:rPr>
                <a:t>oldest_key = db.lrange(“QUEUE:LIST:TRANS”, -1, -1)</a:t>
              </a:r>
            </a:p>
            <a:p>
              <a:pPr defTabSz="182880"/>
              <a:r>
                <a:rPr lang="en-US" altLang="zh-TW" sz="800">
                  <a:solidFill>
                    <a:schemeClr val="tx1"/>
                  </a:solidFill>
                  <a:latin typeface="Consolas" panose="020B0609020204030204" pitchFamily="49" charset="0"/>
                </a:rPr>
                <a:t>		db.set(“Transmission”, oldest_key)</a:t>
              </a:r>
            </a:p>
            <a:p>
              <a:pPr defTabSz="182880"/>
              <a:r>
                <a:rPr lang="en-US" altLang="zh-TW" sz="800">
                  <a:solidFill>
                    <a:schemeClr val="tx1"/>
                  </a:solidFill>
                  <a:latin typeface="Consolas" panose="020B0609020204030204" pitchFamily="49" charset="0"/>
                </a:rPr>
                <a:t>		db.set(“RFDEVICE:STATE”, “Busy”)</a:t>
              </a:r>
            </a:p>
            <a:p>
              <a:pPr defTabSz="182880"/>
              <a:endParaRPr lang="en-US" sz="800">
                <a:solidFill>
                  <a:schemeClr val="tx1"/>
                </a:solidFill>
                <a:latin typeface="Consolas" panose="020B0609020204030204" pitchFamily="49" charset="0"/>
              </a:endParaRPr>
            </a:p>
            <a:p>
              <a:pPr defTabSz="182880"/>
              <a:r>
                <a:rPr lang="en-US" sz="800">
                  <a:solidFill>
                    <a:schemeClr val="tx1"/>
                  </a:solidFill>
                  <a:latin typeface="Consolas" panose="020B0609020204030204" pitchFamily="49" charset="0"/>
                </a:rPr>
                <a:t>	elif </a:t>
              </a:r>
              <a:r>
                <a:rPr lang="en-US" altLang="zh-TW" sz="800">
                  <a:solidFill>
                    <a:schemeClr val="tx1"/>
                  </a:solidFill>
                  <a:latin typeface="Consolas" panose="020B0609020204030204" pitchFamily="49" charset="0"/>
                </a:rPr>
                <a:t>sys_state == “Hold”:</a:t>
              </a:r>
            </a:p>
            <a:p>
              <a:pPr defTabSz="182880"/>
              <a:r>
                <a:rPr lang="en-US" sz="800">
                  <a:solidFill>
                    <a:schemeClr val="tx1"/>
                  </a:solidFill>
                  <a:latin typeface="Consolas" panose="020B0609020204030204" pitchFamily="49" charset="0"/>
                </a:rPr>
                <a:t>		time.sleep(0.01)</a:t>
              </a:r>
            </a:p>
            <a:p>
              <a:pPr defTabSz="182880"/>
              <a:endParaRPr lang="en-US" sz="800">
                <a:solidFill>
                  <a:schemeClr val="tx1"/>
                </a:solidFill>
                <a:latin typeface="Consolas" panose="020B0609020204030204" pitchFamily="49" charset="0"/>
              </a:endParaRPr>
            </a:p>
            <a:p>
              <a:pPr defTabSz="182880"/>
              <a:r>
                <a:rPr lang="en-US" sz="800">
                  <a:solidFill>
                    <a:schemeClr val="tx1"/>
                  </a:solidFill>
                  <a:latin typeface="Consolas" panose="020B0609020204030204" pitchFamily="49" charset="0"/>
                </a:rPr>
                <a:t>	else:</a:t>
              </a:r>
            </a:p>
            <a:p>
              <a:pPr defTabSz="182880"/>
              <a:r>
                <a:rPr lang="en-US" sz="800">
                  <a:solidFill>
                    <a:schemeClr val="tx1"/>
                  </a:solidFill>
                  <a:latin typeface="Consolas" panose="020B0609020204030204" pitchFamily="49" charset="0"/>
                </a:rPr>
                <a:t>		time.sleep(0.001)</a:t>
              </a:r>
            </a:p>
          </p:txBody>
        </p:sp>
        <p:sp>
          <p:nvSpPr>
            <p:cNvPr id="31" name="Rectangle 5">
              <a:extLst>
                <a:ext uri="{FF2B5EF4-FFF2-40B4-BE49-F238E27FC236}">
                  <a16:creationId xmlns:a16="http://schemas.microsoft.com/office/drawing/2014/main" id="{7351F57B-E1F3-6B48-A555-1AD361B2EC4F}"/>
                </a:ext>
              </a:extLst>
            </p:cNvPr>
            <p:cNvSpPr/>
            <p:nvPr/>
          </p:nvSpPr>
          <p:spPr>
            <a:xfrm>
              <a:off x="9478358" y="83933"/>
              <a:ext cx="2656820" cy="3748726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  <a:ln>
              <a:noFill/>
            </a:ln>
          </p:spPr>
          <p:style>
            <a:lnRef idx="2">
              <a:schemeClr val="accent3">
                <a:shade val="50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defTabSz="182880"/>
              <a:r>
                <a:rPr lang="en-US" altLang="zh-TW" sz="800">
                  <a:solidFill>
                    <a:schemeClr val="tx1"/>
                  </a:solidFill>
                  <a:latin typeface="Consolas" panose="020B0609020204030204" pitchFamily="49" charset="0"/>
                </a:rPr>
                <a:t>db_key = self.get(“Transmission”)</a:t>
              </a:r>
              <a:endParaRPr lang="en-US" sz="800">
                <a:solidFill>
                  <a:schemeClr val="tx1"/>
                </a:solidFill>
                <a:latin typeface="Consolas" panose="020B0609020204030204" pitchFamily="49" charset="0"/>
              </a:endParaRPr>
            </a:p>
            <a:p>
              <a:pPr defTabSz="182880"/>
              <a:r>
                <a:rPr lang="en-US" sz="800">
                  <a:solidFill>
                    <a:schemeClr val="tx1"/>
                  </a:solidFill>
                  <a:latin typeface="Consolas" panose="020B0609020204030204" pitchFamily="49" charset="0"/>
                </a:rPr>
                <a:t>if db.get(“RFDEVICE:STATE”) != “Busy”:</a:t>
              </a:r>
            </a:p>
            <a:p>
              <a:pPr defTabSz="182880"/>
              <a:r>
                <a:rPr lang="en-US" sz="800">
                  <a:solidFill>
                    <a:schemeClr val="tx1"/>
                  </a:solidFill>
                  <a:latin typeface="Consolas" panose="020B0609020204030204" pitchFamily="49" charset="0"/>
                </a:rPr>
                <a:t>	db.set</a:t>
              </a:r>
              <a:r>
                <a:rPr lang="en-US" altLang="zh-TW" sz="800">
                  <a:solidFill>
                    <a:schemeClr val="tx1"/>
                  </a:solidFill>
                  <a:latin typeface="Consolas" panose="020B0609020204030204" pitchFamily="49" charset="0"/>
                </a:rPr>
                <a:t>(“RFDEVICE:STATE”, “Busy”)</a:t>
              </a:r>
            </a:p>
            <a:p>
              <a:pPr defTabSz="182880"/>
              <a:endParaRPr lang="en-US" sz="800">
                <a:solidFill>
                  <a:schemeClr val="tx1"/>
                </a:solidFill>
                <a:latin typeface="Consolas" panose="020B0609020204030204" pitchFamily="49" charset="0"/>
              </a:endParaRPr>
            </a:p>
            <a:p>
              <a:pPr defTabSz="182880"/>
              <a:r>
                <a:rPr lang="en-US" sz="800">
                  <a:solidFill>
                    <a:schemeClr val="tx1"/>
                  </a:solidFill>
                  <a:latin typeface="Consolas" panose="020B0609020204030204" pitchFamily="49" charset="0"/>
                </a:rPr>
                <a:t>db.set(“Trans:db_key”, trans_msg)</a:t>
              </a:r>
            </a:p>
            <a:p>
              <a:pPr defTabSz="182880"/>
              <a:r>
                <a:rPr lang="en-US" sz="800">
                  <a:solidFill>
                    <a:schemeClr val="tx1"/>
                  </a:solidFill>
                  <a:latin typeface="Consolas" panose="020B0609020204030204" pitchFamily="49" charset="0"/>
                </a:rPr>
                <a:t>db.set(“TRANS:ACK”, “Waiting”)</a:t>
              </a:r>
            </a:p>
            <a:p>
              <a:pPr defTabSz="182880"/>
              <a:endParaRPr lang="en-US" sz="800">
                <a:solidFill>
                  <a:schemeClr val="tx1"/>
                </a:solidFill>
                <a:latin typeface="Consolas" panose="020B0609020204030204" pitchFamily="49" charset="0"/>
              </a:endParaRPr>
            </a:p>
            <a:p>
              <a:pPr defTabSz="182880"/>
              <a:r>
                <a:rPr lang="en-US" sz="800">
                  <a:solidFill>
                    <a:schemeClr val="tx1"/>
                  </a:solidFill>
                  <a:latin typeface="Consolas" panose="020B0609020204030204" pitchFamily="49" charset="0"/>
                </a:rPr>
                <a:t>monitor_key()</a:t>
              </a:r>
            </a:p>
          </p:txBody>
        </p:sp>
        <p:sp>
          <p:nvSpPr>
            <p:cNvPr id="32" name="Rectangle 5">
              <a:extLst>
                <a:ext uri="{FF2B5EF4-FFF2-40B4-BE49-F238E27FC236}">
                  <a16:creationId xmlns:a16="http://schemas.microsoft.com/office/drawing/2014/main" id="{4E034A51-4F61-86F6-252A-512686F0CED7}"/>
                </a:ext>
              </a:extLst>
            </p:cNvPr>
            <p:cNvSpPr/>
            <p:nvPr/>
          </p:nvSpPr>
          <p:spPr>
            <a:xfrm>
              <a:off x="9566820" y="1116623"/>
              <a:ext cx="2568358" cy="2646622"/>
            </a:xfrm>
            <a:prstGeom prst="rect">
              <a:avLst/>
            </a:prstGeom>
            <a:solidFill>
              <a:schemeClr val="accent6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3">
                <a:shade val="50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defTabSz="182880"/>
              <a:r>
                <a:rPr lang="en-US" sz="800">
                  <a:solidFill>
                    <a:schemeClr val="tx1"/>
                  </a:solidFill>
                  <a:latin typeface="Consolas" panose="020B0609020204030204" pitchFamily="49" charset="0"/>
                </a:rPr>
                <a:t>while retry &lt; RETRY_MAX:</a:t>
              </a:r>
            </a:p>
            <a:p>
              <a:pPr defTabSz="182880"/>
              <a:r>
                <a:rPr lang="en-US" sz="800">
                  <a:solidFill>
                    <a:schemeClr val="tx1"/>
                  </a:solidFill>
                  <a:latin typeface="Consolas" panose="020B0609020204030204" pitchFamily="49" charset="0"/>
                </a:rPr>
                <a:t>	if db.get(“RFSYSTEM:STATE”) == “Hold”:</a:t>
              </a:r>
            </a:p>
            <a:p>
              <a:pPr defTabSz="182880"/>
              <a:r>
                <a:rPr lang="en-US" sz="800">
                  <a:solidFill>
                    <a:schemeClr val="tx1"/>
                  </a:solidFill>
                  <a:latin typeface="Consolas" panose="020B0609020204030204" pitchFamily="49" charset="0"/>
                </a:rPr>
                <a:t>		return</a:t>
              </a:r>
            </a:p>
            <a:p>
              <a:pPr defTabSz="182880"/>
              <a:r>
                <a:rPr lang="en-US" sz="800">
                  <a:solidFill>
                    <a:schemeClr val="tx1"/>
                  </a:solidFill>
                  <a:latin typeface="Consolas" panose="020B0609020204030204" pitchFamily="49" charset="0"/>
                </a:rPr>
                <a:t>	elif db.get(“TRANS:ACK”) != “</a:t>
              </a:r>
              <a:r>
                <a:rPr lang="en-US" altLang="zh-TW" sz="800">
                  <a:solidFill>
                    <a:schemeClr val="tx1"/>
                  </a:solidFill>
                  <a:latin typeface="Consolas" panose="020B0609020204030204" pitchFamily="49" charset="0"/>
                </a:rPr>
                <a:t>Waiting</a:t>
              </a:r>
              <a:r>
                <a:rPr lang="en-US" sz="800">
                  <a:solidFill>
                    <a:schemeClr val="tx1"/>
                  </a:solidFill>
                  <a:latin typeface="Consolas" panose="020B0609020204030204" pitchFamily="49" charset="0"/>
                </a:rPr>
                <a:t>”</a:t>
              </a:r>
            </a:p>
            <a:p>
              <a:pPr defTabSz="182880"/>
              <a:r>
                <a:rPr lang="en-US" sz="800">
                  <a:solidFill>
                    <a:schemeClr val="tx1"/>
                  </a:solidFill>
                  <a:latin typeface="Consolas" panose="020B0609020204030204" pitchFamily="49" charset="0"/>
                </a:rPr>
                <a:t>		return</a:t>
              </a:r>
            </a:p>
            <a:p>
              <a:pPr defTabSz="182880"/>
              <a:r>
                <a:rPr lang="en-US" sz="800">
                  <a:solidFill>
                    <a:schemeClr val="tx1"/>
                  </a:solidFill>
                  <a:latin typeface="Consolas" panose="020B0609020204030204" pitchFamily="49" charset="0"/>
                </a:rPr>
                <a:t>	elif wait_time &lt; MAX_TIME:</a:t>
              </a:r>
            </a:p>
            <a:p>
              <a:pPr defTabSz="182880"/>
              <a:r>
                <a:rPr lang="en-US" sz="800">
                  <a:solidFill>
                    <a:schemeClr val="tx1"/>
                  </a:solidFill>
                  <a:latin typeface="Consolas" panose="020B0609020204030204" pitchFamily="49" charset="0"/>
                </a:rPr>
                <a:t>		time.sleep(wait_</a:t>
              </a:r>
              <a:r>
                <a:rPr lang="en-US" altLang="zh-TW" sz="800">
                  <a:solidFill>
                    <a:schemeClr val="tx1"/>
                  </a:solidFill>
                  <a:latin typeface="Consolas" panose="020B0609020204030204" pitchFamily="49" charset="0"/>
                </a:rPr>
                <a:t> interval</a:t>
              </a:r>
              <a:r>
                <a:rPr lang="en-US" sz="800">
                  <a:solidFill>
                    <a:schemeClr val="tx1"/>
                  </a:solidFill>
                  <a:latin typeface="Consolas" panose="020B0609020204030204" pitchFamily="49" charset="0"/>
                </a:rPr>
                <a:t>)</a:t>
              </a:r>
            </a:p>
            <a:p>
              <a:pPr defTabSz="182880"/>
              <a:r>
                <a:rPr lang="en-US" sz="800">
                  <a:solidFill>
                    <a:schemeClr val="tx1"/>
                  </a:solidFill>
                  <a:latin typeface="Consolas" panose="020B0609020204030204" pitchFamily="49" charset="0"/>
                </a:rPr>
                <a:t>		</a:t>
              </a:r>
              <a:r>
                <a:rPr lang="en-US" altLang="zh-TW" sz="800">
                  <a:solidFill>
                    <a:schemeClr val="tx1"/>
                  </a:solidFill>
                  <a:latin typeface="Consolas" panose="020B0609020204030204" pitchFamily="49" charset="0"/>
                </a:rPr>
                <a:t> wait_time += wait_interval</a:t>
              </a:r>
            </a:p>
            <a:p>
              <a:pPr defTabSz="182880"/>
              <a:r>
                <a:rPr lang="en-US" sz="800">
                  <a:solidFill>
                    <a:schemeClr val="tx1"/>
                  </a:solidFill>
                  <a:latin typeface="Consolas" panose="020B0609020204030204" pitchFamily="49" charset="0"/>
                </a:rPr>
                <a:t>	else:</a:t>
              </a:r>
            </a:p>
            <a:p>
              <a:pPr defTabSz="182880"/>
              <a:r>
                <a:rPr lang="en-US" sz="800">
                  <a:solidFill>
                    <a:schemeClr val="tx1"/>
                  </a:solidFill>
                  <a:latin typeface="Consolas" panose="020B0609020204030204" pitchFamily="49" charset="0"/>
                </a:rPr>
                <a:t>		retry += 1</a:t>
              </a:r>
            </a:p>
            <a:p>
              <a:pPr defTabSz="182880"/>
              <a:r>
                <a:rPr lang="en-US" sz="800">
                  <a:solidFill>
                    <a:schemeClr val="tx1"/>
                  </a:solidFill>
                  <a:latin typeface="Consolas" panose="020B0609020204030204" pitchFamily="49" charset="0"/>
                </a:rPr>
                <a:t>		wait_time = 0</a:t>
              </a:r>
            </a:p>
            <a:p>
              <a:pPr defTabSz="182880"/>
              <a:r>
                <a:rPr lang="en-US" sz="800">
                  <a:solidFill>
                    <a:schemeClr val="tx1"/>
                  </a:solidFill>
                  <a:latin typeface="Consolas" panose="020B0609020204030204" pitchFamily="49" charset="0"/>
                </a:rPr>
                <a:t>		db.delete(</a:t>
              </a:r>
              <a:r>
                <a:rPr lang="en-US" altLang="zh-TW" sz="800">
                  <a:solidFill>
                    <a:schemeClr val="tx1"/>
                  </a:solidFill>
                  <a:latin typeface="Consolas" panose="020B0609020204030204" pitchFamily="49" charset="0"/>
                </a:rPr>
                <a:t>“Trans:db_key”</a:t>
              </a:r>
              <a:r>
                <a:rPr lang="en-US" sz="800">
                  <a:solidFill>
                    <a:schemeClr val="tx1"/>
                  </a:solidFill>
                  <a:latin typeface="Consolas" panose="020B0609020204030204" pitchFamily="49" charset="0"/>
                </a:rPr>
                <a:t>)</a:t>
              </a:r>
            </a:p>
            <a:p>
              <a:pPr defTabSz="182880"/>
              <a:r>
                <a:rPr lang="en-US" sz="800">
                  <a:solidFill>
                    <a:schemeClr val="tx1"/>
                  </a:solidFill>
                  <a:latin typeface="Consolas" panose="020B0609020204030204" pitchFamily="49" charset="0"/>
                </a:rPr>
                <a:t>		db.set(</a:t>
              </a:r>
              <a:r>
                <a:rPr lang="en-US" altLang="zh-TW" sz="800">
                  <a:solidFill>
                    <a:schemeClr val="tx1"/>
                  </a:solidFill>
                  <a:latin typeface="Consolas" panose="020B0609020204030204" pitchFamily="49" charset="0"/>
                </a:rPr>
                <a:t>“Trans:db_key”, trans_msg)</a:t>
              </a:r>
            </a:p>
            <a:p>
              <a:pPr defTabSz="182880"/>
              <a:endParaRPr lang="en-US" sz="800">
                <a:solidFill>
                  <a:schemeClr val="tx1"/>
                </a:solidFill>
                <a:latin typeface="Consolas" panose="020B0609020204030204" pitchFamily="49" charset="0"/>
              </a:endParaRPr>
            </a:p>
            <a:p>
              <a:pPr defTabSz="182880"/>
              <a:r>
                <a:rPr lang="en-US" sz="800">
                  <a:solidFill>
                    <a:schemeClr val="tx1"/>
                  </a:solidFill>
                  <a:latin typeface="Consolas" panose="020B0609020204030204" pitchFamily="49" charset="0"/>
                </a:rPr>
                <a:t>abort_monitor()</a:t>
              </a:r>
            </a:p>
          </p:txBody>
        </p:sp>
        <p:sp>
          <p:nvSpPr>
            <p:cNvPr id="33" name="Rectangle 5">
              <a:extLst>
                <a:ext uri="{FF2B5EF4-FFF2-40B4-BE49-F238E27FC236}">
                  <a16:creationId xmlns:a16="http://schemas.microsoft.com/office/drawing/2014/main" id="{413CEC89-9595-FC03-451D-B26F84FBE0F0}"/>
                </a:ext>
              </a:extLst>
            </p:cNvPr>
            <p:cNvSpPr/>
            <p:nvPr/>
          </p:nvSpPr>
          <p:spPr>
            <a:xfrm>
              <a:off x="9650272" y="3003247"/>
              <a:ext cx="2484906" cy="721071"/>
            </a:xfrm>
            <a:prstGeom prst="rect">
              <a:avLst/>
            </a:prstGeom>
            <a:solidFill>
              <a:schemeClr val="accent6">
                <a:lumMod val="60000"/>
                <a:lumOff val="40000"/>
              </a:schemeClr>
            </a:solidFill>
            <a:ln>
              <a:noFill/>
            </a:ln>
          </p:spPr>
          <p:style>
            <a:lnRef idx="2">
              <a:schemeClr val="accent3">
                <a:shade val="50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defTabSz="182880"/>
              <a:r>
                <a:rPr lang="en-US" sz="800">
                  <a:solidFill>
                    <a:schemeClr val="tx1"/>
                  </a:solidFill>
                  <a:latin typeface="Consolas" panose="020B0609020204030204" pitchFamily="49" charset="0"/>
                </a:rPr>
                <a:t>db.set(“RECEPTION”, db_key)</a:t>
              </a:r>
            </a:p>
            <a:p>
              <a:pPr defTabSz="182880"/>
              <a:r>
                <a:rPr lang="en-US" sz="800">
                  <a:solidFill>
                    <a:schemeClr val="tx1"/>
                  </a:solidFill>
                  <a:latin typeface="Consolas" panose="020B0609020204030204" pitchFamily="49" charset="0"/>
                </a:rPr>
                <a:t>db.set(“db_key:ACK”, “Fail”)</a:t>
              </a:r>
            </a:p>
            <a:p>
              <a:pPr defTabSz="182880"/>
              <a:r>
                <a:rPr lang="en-US" sz="800">
                  <a:solidFill>
                    <a:schemeClr val="tx1"/>
                  </a:solidFill>
                  <a:latin typeface="Consolas" panose="020B0609020204030204" pitchFamily="49" charset="0"/>
                </a:rPr>
                <a:t>db.set(“RFDEVICE:STATE”, “Idle”)</a:t>
              </a:r>
            </a:p>
            <a:p>
              <a:pPr defTabSz="182880"/>
              <a:r>
                <a:rPr lang="en-US" sz="800">
                  <a:solidFill>
                    <a:schemeClr val="tx1"/>
                  </a:solidFill>
                  <a:latin typeface="Consolas" panose="020B0609020204030204" pitchFamily="49" charset="0"/>
                </a:rPr>
                <a:t>db.set(“TRANS:ACK”, “Failed”)</a:t>
              </a:r>
            </a:p>
            <a:p>
              <a:pPr defTabSz="182880"/>
              <a:r>
                <a:rPr lang="en-US" sz="800">
                  <a:solidFill>
                    <a:schemeClr val="tx1"/>
                  </a:solidFill>
                  <a:latin typeface="Consolas" panose="020B0609020204030204" pitchFamily="49" charset="0"/>
                </a:rPr>
                <a:t>db.rpop(“QUEUE:LIST:TRANS”)</a:t>
              </a:r>
            </a:p>
          </p:txBody>
        </p:sp>
        <p:sp>
          <p:nvSpPr>
            <p:cNvPr id="35" name="Rectangle 5">
              <a:extLst>
                <a:ext uri="{FF2B5EF4-FFF2-40B4-BE49-F238E27FC236}">
                  <a16:creationId xmlns:a16="http://schemas.microsoft.com/office/drawing/2014/main" id="{4C6FC070-F134-6018-9144-98A5C39A4A7C}"/>
                </a:ext>
              </a:extLst>
            </p:cNvPr>
            <p:cNvSpPr/>
            <p:nvPr/>
          </p:nvSpPr>
          <p:spPr>
            <a:xfrm>
              <a:off x="96341" y="83933"/>
              <a:ext cx="4186902" cy="2827709"/>
            </a:xfrm>
            <a:prstGeom prst="rect">
              <a:avLst/>
            </a:prstGeom>
            <a:solidFill>
              <a:schemeClr val="accent5">
                <a:lumMod val="20000"/>
                <a:lumOff val="80000"/>
              </a:schemeClr>
            </a:solidFill>
            <a:ln>
              <a:noFill/>
            </a:ln>
          </p:spPr>
          <p:style>
            <a:lnRef idx="2">
              <a:schemeClr val="accent3">
                <a:shade val="50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defTabSz="182880"/>
              <a:r>
                <a:rPr lang="en-US" sz="800">
                  <a:solidFill>
                    <a:schemeClr val="tx1"/>
                  </a:solidFill>
                  <a:latin typeface="Consolas" panose="020B0609020204030204" pitchFamily="49" charset="0"/>
                </a:rPr>
                <a:t>if action == “CSI”:</a:t>
              </a:r>
            </a:p>
            <a:p>
              <a:pPr defTabSz="182880"/>
              <a:r>
                <a:rPr lang="en-US" sz="800">
                  <a:solidFill>
                    <a:schemeClr val="tx1"/>
                  </a:solidFill>
                  <a:latin typeface="Consolas" panose="020B0609020204030204" pitchFamily="49" charset="0"/>
                </a:rPr>
                <a:t>	csi_key = db.get(“SYSTEM:ACTION:CSI”)</a:t>
              </a:r>
            </a:p>
            <a:p>
              <a:pPr defTabSz="182880"/>
              <a:r>
                <a:rPr lang="en-US" sz="800">
                  <a:solidFill>
                    <a:schemeClr val="tx1"/>
                  </a:solidFill>
                  <a:latin typeface="Consolas" panose="020B0609020204030204" pitchFamily="49" charset="0"/>
                </a:rPr>
                <a:t>	db.lpush(“SYSTEM:CSI:QUEUE”, </a:t>
              </a:r>
              <a:r>
                <a:rPr lang="en-US" altLang="zh-TW" sz="800">
                  <a:solidFill>
                    <a:schemeClr val="tx1"/>
                  </a:solidFill>
                  <a:latin typeface="Consolas" panose="020B0609020204030204" pitchFamily="49" charset="0"/>
                </a:rPr>
                <a:t>csi_key</a:t>
              </a:r>
              <a:r>
                <a:rPr lang="en-US" sz="800">
                  <a:solidFill>
                    <a:schemeClr val="tx1"/>
                  </a:solidFill>
                  <a:latin typeface="Consolas" panose="020B0609020204030204" pitchFamily="49" charset="0"/>
                </a:rPr>
                <a:t>)</a:t>
              </a:r>
            </a:p>
            <a:p>
              <a:pPr defTabSz="182880"/>
              <a:r>
                <a:rPr lang="en-US" sz="800">
                  <a:solidFill>
                    <a:schemeClr val="tx1"/>
                  </a:solidFill>
                  <a:latin typeface="Consolas" panose="020B0609020204030204" pitchFamily="49" charset="0"/>
                </a:rPr>
                <a:t>	if len(db.lrange(“SYSTEM:CSI:QUEUE”, 0, -1)) &gt; CSI_Q_MAX:</a:t>
              </a:r>
            </a:p>
            <a:p>
              <a:pPr defTabSz="182880"/>
              <a:r>
                <a:rPr lang="en-US" sz="800">
                  <a:solidFill>
                    <a:schemeClr val="tx1"/>
                  </a:solidFill>
                  <a:latin typeface="Consolas" panose="020B0609020204030204" pitchFamily="49" charset="0"/>
                </a:rPr>
                <a:t>		oldest_csi_key = </a:t>
              </a:r>
              <a:r>
                <a:rPr lang="en-US" altLang="zh-TW" sz="800">
                  <a:solidFill>
                    <a:schemeClr val="tx1"/>
                  </a:solidFill>
                  <a:latin typeface="Consolas" panose="020B0609020204030204" pitchFamily="49" charset="0"/>
                </a:rPr>
                <a:t>db.rpop(“SYSTEM:CSI:QUEUE”)</a:t>
              </a:r>
            </a:p>
            <a:p>
              <a:pPr defTabSz="182880"/>
              <a:r>
                <a:rPr lang="en-US" sz="800">
                  <a:solidFill>
                    <a:schemeClr val="tx1"/>
                  </a:solidFill>
                  <a:latin typeface="Consolas" panose="020B0609020204030204" pitchFamily="49" charset="0"/>
                </a:rPr>
                <a:t>		db.delete(</a:t>
              </a:r>
              <a:r>
                <a:rPr lang="en-US" altLang="zh-TW" sz="800">
                  <a:solidFill>
                    <a:schemeClr val="tx1"/>
                  </a:solidFill>
                  <a:latin typeface="Consolas" panose="020B0609020204030204" pitchFamily="49" charset="0"/>
                </a:rPr>
                <a:t>oldest_csi_key</a:t>
              </a:r>
              <a:r>
                <a:rPr lang="en-US" sz="800">
                  <a:solidFill>
                    <a:schemeClr val="tx1"/>
                  </a:solidFill>
                  <a:latin typeface="Consolas" panose="020B0609020204030204" pitchFamily="49" charset="0"/>
                </a:rPr>
                <a:t>)</a:t>
              </a:r>
            </a:p>
            <a:p>
              <a:pPr defTabSz="182880"/>
              <a:r>
                <a:rPr lang="en-US" sz="800">
                  <a:solidFill>
                    <a:schemeClr val="tx1"/>
                  </a:solidFill>
                  <a:latin typeface="Consolas" panose="020B0609020204030204" pitchFamily="49" charset="0"/>
                </a:rPr>
                <a:t>		detect_interference()</a:t>
              </a:r>
            </a:p>
          </p:txBody>
        </p:sp>
        <p:sp>
          <p:nvSpPr>
            <p:cNvPr id="36" name="Rectangle 5">
              <a:extLst>
                <a:ext uri="{FF2B5EF4-FFF2-40B4-BE49-F238E27FC236}">
                  <a16:creationId xmlns:a16="http://schemas.microsoft.com/office/drawing/2014/main" id="{B9844FD0-75E9-1256-A849-A6F65F4B0A1F}"/>
                </a:ext>
              </a:extLst>
            </p:cNvPr>
            <p:cNvSpPr/>
            <p:nvPr/>
          </p:nvSpPr>
          <p:spPr>
            <a:xfrm>
              <a:off x="96340" y="2911642"/>
              <a:ext cx="4186902" cy="3902531"/>
            </a:xfrm>
            <a:prstGeom prst="rect">
              <a:avLst/>
            </a:prstGeom>
            <a:solidFill>
              <a:schemeClr val="accent5">
                <a:lumMod val="20000"/>
                <a:lumOff val="80000"/>
              </a:schemeClr>
            </a:solidFill>
            <a:ln>
              <a:noFill/>
            </a:ln>
          </p:spPr>
          <p:style>
            <a:lnRef idx="2">
              <a:schemeClr val="accent3">
                <a:shade val="50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defTabSz="182880"/>
              <a:r>
                <a:rPr lang="en-US" sz="800">
                  <a:solidFill>
                    <a:schemeClr val="tx1"/>
                  </a:solidFill>
                  <a:latin typeface="Consolas" panose="020B0609020204030204" pitchFamily="49" charset="0"/>
                </a:rPr>
                <a:t>elif action == “HOP”:</a:t>
              </a:r>
            </a:p>
            <a:p>
              <a:pPr defTabSz="182880"/>
              <a:r>
                <a:rPr lang="en-US" sz="800">
                  <a:solidFill>
                    <a:schemeClr val="tx1"/>
                  </a:solidFill>
                  <a:latin typeface="Consolas" panose="020B0609020204030204" pitchFamily="49" charset="0"/>
                </a:rPr>
                <a:t>	action_to_hop()</a:t>
              </a:r>
            </a:p>
          </p:txBody>
        </p:sp>
        <p:sp>
          <p:nvSpPr>
            <p:cNvPr id="37" name="Rectangle 5">
              <a:extLst>
                <a:ext uri="{FF2B5EF4-FFF2-40B4-BE49-F238E27FC236}">
                  <a16:creationId xmlns:a16="http://schemas.microsoft.com/office/drawing/2014/main" id="{92933343-09AA-0E9D-7185-5EFCE31A8213}"/>
                </a:ext>
              </a:extLst>
            </p:cNvPr>
            <p:cNvSpPr/>
            <p:nvPr/>
          </p:nvSpPr>
          <p:spPr>
            <a:xfrm>
              <a:off x="4283242" y="4685121"/>
              <a:ext cx="3641789" cy="2066743"/>
            </a:xfrm>
            <a:prstGeom prst="rect">
              <a:avLst/>
            </a:prstGeom>
            <a:solidFill>
              <a:schemeClr val="accent5">
                <a:lumMod val="20000"/>
                <a:lumOff val="80000"/>
              </a:schemeClr>
            </a:solidFill>
            <a:ln>
              <a:noFill/>
            </a:ln>
          </p:spPr>
          <p:style>
            <a:lnRef idx="2">
              <a:schemeClr val="accent3">
                <a:shade val="50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defTabSz="182880"/>
              <a:r>
                <a:rPr lang="en-US" sz="800">
                  <a:solidFill>
                    <a:schemeClr val="tx1"/>
                  </a:solidFill>
                  <a:latin typeface="Consolas" panose="020B0609020204030204" pitchFamily="49" charset="0"/>
                </a:rPr>
                <a:t>elif action == “CEHCK”:</a:t>
              </a:r>
            </a:p>
            <a:p>
              <a:pPr defTabSz="182880"/>
              <a:r>
                <a:rPr lang="en-US" sz="800">
                  <a:solidFill>
                    <a:schemeClr val="tx1"/>
                  </a:solidFill>
                  <a:latin typeface="Consolas" panose="020B0609020204030204" pitchFamily="49" charset="0"/>
                </a:rPr>
                <a:t>	if msg[“data”] != “expired”:</a:t>
              </a:r>
            </a:p>
            <a:p>
              <a:pPr defTabSz="182880"/>
              <a:r>
                <a:rPr lang="en-US" sz="800">
                  <a:solidFill>
                    <a:schemeClr val="tx1"/>
                  </a:solidFill>
                  <a:latin typeface="Consolas" panose="020B0609020204030204" pitchFamily="49" charset="0"/>
                </a:rPr>
                <a:t>		return</a:t>
              </a:r>
            </a:p>
            <a:p>
              <a:pPr defTabSz="182880"/>
              <a:r>
                <a:rPr lang="en-US" sz="800">
                  <a:solidFill>
                    <a:schemeClr val="tx1"/>
                  </a:solidFill>
                  <a:latin typeface="Consolas" panose="020B0609020204030204" pitchFamily="49" charset="0"/>
                </a:rPr>
                <a:t>	if db.get(“SYSTEM:ACTION:CHECK”) is not None:</a:t>
              </a:r>
            </a:p>
            <a:p>
              <a:pPr defTabSz="182880"/>
              <a:r>
                <a:rPr lang="en-US" sz="800">
                  <a:solidFill>
                    <a:schemeClr val="tx1"/>
                  </a:solidFill>
                  <a:latin typeface="Consolas" panose="020B0609020204030204" pitchFamily="49" charset="0"/>
                </a:rPr>
                <a:t>		return</a:t>
              </a:r>
            </a:p>
            <a:p>
              <a:pPr defTabSz="182880"/>
              <a:endParaRPr lang="en-US" sz="800">
                <a:solidFill>
                  <a:schemeClr val="tx1"/>
                </a:solidFill>
                <a:latin typeface="Consolas" panose="020B0609020204030204" pitchFamily="49" charset="0"/>
              </a:endParaRPr>
            </a:p>
            <a:p>
              <a:pPr defTabSz="182880"/>
              <a:r>
                <a:rPr lang="en-US" sz="800">
                  <a:solidFill>
                    <a:schemeClr val="tx1"/>
                  </a:solidFill>
                  <a:latin typeface="Consolas" panose="020B0609020204030204" pitchFamily="49" charset="0"/>
                </a:rPr>
                <a:t>	if db.get(“HOPPING_CTRL_ACT_NEW_FREQ_ACK”) is not None:</a:t>
              </a:r>
            </a:p>
            <a:p>
              <a:pPr defTabSz="182880"/>
              <a:r>
                <a:rPr lang="en-US" sz="800">
                  <a:solidFill>
                    <a:schemeClr val="tx1"/>
                  </a:solidFill>
                  <a:latin typeface="Consolas" panose="020B0609020204030204" pitchFamily="49" charset="0"/>
                </a:rPr>
                <a:t>		return</a:t>
              </a:r>
            </a:p>
            <a:p>
              <a:pPr defTabSz="182880"/>
              <a:r>
                <a:rPr lang="en-US" sz="800">
                  <a:solidFill>
                    <a:schemeClr val="tx1"/>
                  </a:solidFill>
                  <a:latin typeface="Consolas" panose="020B0609020204030204" pitchFamily="49" charset="0"/>
                </a:rPr>
                <a:t>	else:</a:t>
              </a:r>
            </a:p>
            <a:p>
              <a:pPr defTabSz="182880"/>
              <a:r>
                <a:rPr lang="en-US" sz="800">
                  <a:solidFill>
                    <a:schemeClr val="tx1"/>
                  </a:solidFill>
                  <a:latin typeface="Consolas" panose="020B0609020204030204" pitchFamily="49" charset="0"/>
                </a:rPr>
                <a:t>		old_freq = db.get(“SYSTEM:FREQ”)</a:t>
              </a:r>
            </a:p>
            <a:p>
              <a:pPr defTabSz="182880"/>
              <a:r>
                <a:rPr lang="en-US" sz="800">
                  <a:solidFill>
                    <a:schemeClr val="tx1"/>
                  </a:solidFill>
                  <a:latin typeface="Consolas" panose="020B0609020204030204" pitchFamily="49" charset="0"/>
                </a:rPr>
                <a:t>		db.hset(“TuneRF:11”, “Freq”, old_freq)</a:t>
              </a:r>
            </a:p>
            <a:p>
              <a:pPr defTabSz="182880"/>
              <a:r>
                <a:rPr lang="en-US" sz="800">
                  <a:solidFill>
                    <a:schemeClr val="tx1"/>
                  </a:solidFill>
                  <a:latin typeface="Consolas" panose="020B0609020204030204" pitchFamily="49" charset="0"/>
                </a:rPr>
                <a:t>		db.set(“RFSYSTEM:STATE”, “Free”)</a:t>
              </a:r>
            </a:p>
            <a:p>
              <a:pPr defTabSz="182880"/>
              <a:r>
                <a:rPr lang="en-US" sz="800">
                  <a:solidFill>
                    <a:schemeClr val="tx1"/>
                  </a:solidFill>
                  <a:latin typeface="Consolas" panose="020B0609020204030204" pitchFamily="49" charset="0"/>
                </a:rPr>
                <a:t>		db.set(“RFDEVICE:STATE”, “Idle”)</a:t>
              </a:r>
            </a:p>
            <a:p>
              <a:pPr defTabSz="182880"/>
              <a:endParaRPr lang="en-US" sz="800">
                <a:solidFill>
                  <a:schemeClr val="tx1"/>
                </a:solidFill>
                <a:latin typeface="Consolas" panose="020B0609020204030204" pitchFamily="49" charset="0"/>
              </a:endParaRPr>
            </a:p>
            <a:p>
              <a:pPr defTabSz="182880"/>
              <a:r>
                <a:rPr lang="en-US" sz="800">
                  <a:solidFill>
                    <a:schemeClr val="tx1"/>
                  </a:solidFill>
                  <a:latin typeface="Consolas" panose="020B0609020204030204" pitchFamily="49" charset="0"/>
                </a:rPr>
                <a:t>elif action == “DEBUG”:</a:t>
              </a:r>
            </a:p>
            <a:p>
              <a:pPr defTabSz="182880"/>
              <a:r>
                <a:rPr lang="en-US" altLang="zh-TW" sz="800">
                  <a:solidFill>
                    <a:schemeClr val="tx1"/>
                  </a:solidFill>
                  <a:latin typeface="Consolas" panose="020B0609020204030204" pitchFamily="49" charset="0"/>
                </a:rPr>
                <a:t>	detect_interference()</a:t>
              </a:r>
            </a:p>
            <a:p>
              <a:pPr defTabSz="182880"/>
              <a:endParaRPr lang="en-US" sz="800">
                <a:solidFill>
                  <a:schemeClr val="tx1"/>
                </a:solidFill>
                <a:latin typeface="Consolas" panose="020B0609020204030204" pitchFamily="49" charset="0"/>
              </a:endParaRPr>
            </a:p>
          </p:txBody>
        </p:sp>
        <p:sp>
          <p:nvSpPr>
            <p:cNvPr id="38" name="Rectangle 5">
              <a:extLst>
                <a:ext uri="{FF2B5EF4-FFF2-40B4-BE49-F238E27FC236}">
                  <a16:creationId xmlns:a16="http://schemas.microsoft.com/office/drawing/2014/main" id="{D98B896F-AC76-61BE-04F4-1CCC5C3CAC70}"/>
                </a:ext>
              </a:extLst>
            </p:cNvPr>
            <p:cNvSpPr/>
            <p:nvPr/>
          </p:nvSpPr>
          <p:spPr>
            <a:xfrm>
              <a:off x="548695" y="1017853"/>
              <a:ext cx="3734547" cy="1829622"/>
            </a:xfrm>
            <a:prstGeom prst="rect">
              <a:avLst/>
            </a:prstGeom>
            <a:solidFill>
              <a:schemeClr val="accent5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3">
                <a:shade val="50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defTabSz="182880"/>
              <a:r>
                <a:rPr lang="en-US" sz="800">
                  <a:solidFill>
                    <a:schemeClr val="tx1"/>
                  </a:solidFill>
                  <a:latin typeface="Consolas" panose="020B0609020204030204" pitchFamily="49" charset="0"/>
                </a:rPr>
                <a:t>if detected:</a:t>
              </a:r>
            </a:p>
            <a:p>
              <a:pPr defTabSz="182880"/>
              <a:r>
                <a:rPr lang="en-US" sz="800">
                  <a:solidFill>
                    <a:schemeClr val="tx1"/>
                  </a:solidFill>
                  <a:latin typeface="Consolas" panose="020B0609020204030204" pitchFamily="49" charset="0"/>
                </a:rPr>
                <a:t>	db.hset(“SYSTEM:HOPPING”, “Stage”, 2)</a:t>
              </a:r>
            </a:p>
            <a:p>
              <a:pPr defTabSz="182880"/>
              <a:r>
                <a:rPr lang="en-US" sz="800">
                  <a:solidFill>
                    <a:schemeClr val="tx1"/>
                  </a:solidFill>
                  <a:latin typeface="Consolas" panose="020B0609020204030204" pitchFamily="49" charset="0"/>
                </a:rPr>
                <a:t>	db.set(“SYSTEM:STATE”, “Hold”)</a:t>
              </a:r>
            </a:p>
            <a:p>
              <a:pPr defTabSz="182880"/>
              <a:r>
                <a:rPr lang="en-US" sz="800">
                  <a:solidFill>
                    <a:schemeClr val="tx1"/>
                  </a:solidFill>
                  <a:latin typeface="Consolas" panose="020B0609020204030204" pitchFamily="49" charset="0"/>
                </a:rPr>
                <a:t>	hop_to = 2442000000</a:t>
              </a:r>
            </a:p>
            <a:p>
              <a:pPr defTabSz="182880"/>
              <a:r>
                <a:rPr lang="en-US" sz="800">
                  <a:solidFill>
                    <a:schemeClr val="tx1"/>
                  </a:solidFill>
                  <a:latin typeface="Consolas" panose="020B0609020204030204" pitchFamily="49" charset="0"/>
                </a:rPr>
                <a:t>	pre_freq = db.get(“SYSTEM:FREQ”)</a:t>
              </a:r>
            </a:p>
            <a:p>
              <a:pPr defTabSz="182880"/>
              <a:r>
                <a:rPr lang="en-US" sz="800">
                  <a:solidFill>
                    <a:schemeClr val="tx1"/>
                  </a:solidFill>
                  <a:latin typeface="Consolas" panose="020B0609020204030204" pitchFamily="49" charset="0"/>
                </a:rPr>
                <a:t>	</a:t>
              </a:r>
            </a:p>
            <a:p>
              <a:pPr defTabSz="182880"/>
              <a:r>
                <a:rPr lang="en-US" sz="800">
                  <a:solidFill>
                    <a:schemeClr val="tx1"/>
                  </a:solidFill>
                  <a:latin typeface="Consolas" panose="020B0609020204030204" pitchFamily="49" charset="0"/>
                </a:rPr>
                <a:t>	for i in range(5):</a:t>
              </a:r>
            </a:p>
            <a:p>
              <a:pPr defTabSz="182880"/>
              <a:r>
                <a:rPr lang="en-US" sz="800">
                  <a:solidFill>
                    <a:schemeClr val="tx1"/>
                  </a:solidFill>
                  <a:latin typeface="Consolas" panose="020B0609020204030204" pitchFamily="49" charset="0"/>
                </a:rPr>
                <a:t>		db.hmset(“SYSTEM:HOPPING”, {“Role”: “Initiator”, “Stage”: 3, “Freq”: hop_to, “PreFreq”: pre_freq})</a:t>
              </a:r>
            </a:p>
            <a:p>
              <a:pPr defTabSz="182880"/>
              <a:r>
                <a:rPr lang="en-US" sz="800">
                  <a:solidFill>
                    <a:schemeClr val="tx1"/>
                  </a:solidFill>
                  <a:latin typeface="Consolas" panose="020B0609020204030204" pitchFamily="49" charset="0"/>
                </a:rPr>
                <a:t>		db.set(“Trans:FREQ:HOP”, {“ControlType”: “HOP”, “ControlAction”: hop_to}, “Role”: “Follower”)</a:t>
              </a:r>
            </a:p>
            <a:p>
              <a:pPr defTabSz="182880"/>
              <a:r>
                <a:rPr lang="en-US" sz="800">
                  <a:solidFill>
                    <a:schemeClr val="tx1"/>
                  </a:solidFill>
                  <a:latin typeface="Consolas" panose="020B0609020204030204" pitchFamily="49" charset="0"/>
                </a:rPr>
                <a:t>		time.sleep(0.01)</a:t>
              </a:r>
            </a:p>
            <a:p>
              <a:pPr defTabSz="182880"/>
              <a:r>
                <a:rPr lang="en-US" sz="800">
                  <a:solidFill>
                    <a:schemeClr val="tx1"/>
                  </a:solidFill>
                  <a:latin typeface="Consolas" panose="020B0609020204030204" pitchFamily="49" charset="0"/>
                </a:rPr>
                <a:t>	db.hmset(“TuneRF:11”, {“Freq”: hop_to, “Gain”: 0.4})</a:t>
              </a:r>
            </a:p>
            <a:p>
              <a:pPr defTabSz="182880"/>
              <a:r>
                <a:rPr lang="en-US" sz="800">
                  <a:solidFill>
                    <a:schemeClr val="tx1"/>
                  </a:solidFill>
                  <a:latin typeface="Consolas" panose="020B0609020204030204" pitchFamily="49" charset="0"/>
                </a:rPr>
                <a:t>	db.set(“SYSTEM:ACTION:CHECK”, “True”, ex=10)</a:t>
              </a:r>
            </a:p>
            <a:p>
              <a:pPr defTabSz="182880"/>
              <a:r>
                <a:rPr lang="en-US" sz="800">
                  <a:solidFill>
                    <a:schemeClr val="tx1"/>
                  </a:solidFill>
                  <a:latin typeface="Consolas" panose="020B0609020204030204" pitchFamily="49" charset="0"/>
                </a:rPr>
                <a:t>	</a:t>
              </a:r>
            </a:p>
            <a:p>
              <a:pPr defTabSz="182880"/>
              <a:endParaRPr lang="en-US" sz="800">
                <a:solidFill>
                  <a:schemeClr val="tx1"/>
                </a:solidFill>
                <a:latin typeface="Consolas" panose="020B0609020204030204" pitchFamily="49" charset="0"/>
              </a:endParaRPr>
            </a:p>
          </p:txBody>
        </p:sp>
        <p:sp>
          <p:nvSpPr>
            <p:cNvPr id="39" name="Rectangle 5">
              <a:extLst>
                <a:ext uri="{FF2B5EF4-FFF2-40B4-BE49-F238E27FC236}">
                  <a16:creationId xmlns:a16="http://schemas.microsoft.com/office/drawing/2014/main" id="{E728C183-FB76-7B35-A254-341B6EFE73DA}"/>
                </a:ext>
              </a:extLst>
            </p:cNvPr>
            <p:cNvSpPr/>
            <p:nvPr/>
          </p:nvSpPr>
          <p:spPr>
            <a:xfrm>
              <a:off x="379545" y="3204000"/>
              <a:ext cx="3903697" cy="3547864"/>
            </a:xfrm>
            <a:prstGeom prst="rect">
              <a:avLst/>
            </a:prstGeom>
            <a:solidFill>
              <a:schemeClr val="accent5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3">
                <a:shade val="50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defTabSz="182880"/>
              <a:r>
                <a:rPr lang="en-US" sz="800">
                  <a:solidFill>
                    <a:schemeClr val="tx1"/>
                  </a:solidFill>
                  <a:latin typeface="Consolas" panose="020B0609020204030204" pitchFamily="49" charset="0"/>
                </a:rPr>
                <a:t>role = db.hget(“SYSTEM:HOPPING”, “Role”)</a:t>
              </a:r>
            </a:p>
            <a:p>
              <a:pPr defTabSz="182880"/>
              <a:r>
                <a:rPr lang="en-US" sz="800">
                  <a:solidFill>
                    <a:schemeClr val="tx1"/>
                  </a:solidFill>
                  <a:latin typeface="Consolas" panose="020B0609020204030204" pitchFamily="49" charset="0"/>
                </a:rPr>
                <a:t>if role == “Initiator”:</a:t>
              </a:r>
            </a:p>
            <a:p>
              <a:pPr defTabSz="182880"/>
              <a:r>
                <a:rPr lang="en-US" sz="800">
                  <a:solidFill>
                    <a:schemeClr val="tx1"/>
                  </a:solidFill>
                  <a:latin typeface="Consolas" panose="020B0609020204030204" pitchFamily="49" charset="0"/>
                </a:rPr>
                <a:t>	if payload[“ControlAction”] == “HOLD:ACK”:</a:t>
              </a:r>
            </a:p>
            <a:p>
              <a:pPr defTabSz="182880"/>
              <a:r>
                <a:rPr lang="en-US" sz="800">
                  <a:solidFill>
                    <a:schemeClr val="tx1"/>
                  </a:solidFill>
                  <a:latin typeface="Consolas" panose="020B0609020204030204" pitchFamily="49" charset="0"/>
                </a:rPr>
                <a:t>		</a:t>
              </a:r>
              <a:r>
                <a:rPr lang="en-US" altLang="zh-TW" sz="800">
                  <a:solidFill>
                    <a:schemeClr val="tx1"/>
                  </a:solidFill>
                  <a:latin typeface="Consolas" panose="020B0609020204030204" pitchFamily="49" charset="0"/>
                </a:rPr>
                <a:t>hop_to = db.hget(“SYSTEM:HOPPING”, “Freq”)</a:t>
              </a:r>
              <a:endParaRPr lang="en-US" sz="800">
                <a:solidFill>
                  <a:schemeClr val="tx1"/>
                </a:solidFill>
                <a:latin typeface="Consolas" panose="020B0609020204030204" pitchFamily="49" charset="0"/>
              </a:endParaRPr>
            </a:p>
            <a:p>
              <a:pPr defTabSz="182880"/>
              <a:r>
                <a:rPr lang="en-US" sz="800">
                  <a:solidFill>
                    <a:schemeClr val="tx1"/>
                  </a:solidFill>
                  <a:latin typeface="Consolas" panose="020B0609020204030204" pitchFamily="49" charset="0"/>
                </a:rPr>
                <a:t>		db.hset(“TuneRF:11”, Freq, hop_to)</a:t>
              </a:r>
            </a:p>
            <a:p>
              <a:pPr defTabSz="182880"/>
              <a:r>
                <a:rPr lang="en-US" sz="800">
                  <a:solidFill>
                    <a:schemeClr val="tx1"/>
                  </a:solidFill>
                  <a:latin typeface="Consolas" panose="020B0609020204030204" pitchFamily="49" charset="0"/>
                </a:rPr>
                <a:t>		for i in range(5):</a:t>
              </a:r>
            </a:p>
            <a:p>
              <a:pPr defTabSz="182880"/>
              <a:r>
                <a:rPr lang="en-US" sz="800">
                  <a:solidFill>
                    <a:schemeClr val="tx1"/>
                  </a:solidFill>
                  <a:latin typeface="Consolas" panose="020B0609020204030204" pitchFamily="49" charset="0"/>
                </a:rPr>
                <a:t>			db.set(“Trans:FREQ:HOP”, json)</a:t>
              </a:r>
            </a:p>
            <a:p>
              <a:pPr defTabSz="182880"/>
              <a:r>
                <a:rPr lang="en-US" sz="800">
                  <a:solidFill>
                    <a:schemeClr val="tx1"/>
                  </a:solidFill>
                  <a:latin typeface="Consolas" panose="020B0609020204030204" pitchFamily="49" charset="0"/>
                </a:rPr>
                <a:t>			hset(“SYSTEM:HOPPING”, Stage, 8)</a:t>
              </a:r>
            </a:p>
            <a:p>
              <a:pPr defTabSz="182880"/>
              <a:r>
                <a:rPr lang="en-US" sz="800">
                  <a:solidFill>
                    <a:schemeClr val="tx1"/>
                  </a:solidFill>
                  <a:latin typeface="Consolas" panose="020B0609020204030204" pitchFamily="49" charset="0"/>
                </a:rPr>
                <a:t>			time.sleep(0.01)</a:t>
              </a:r>
            </a:p>
            <a:p>
              <a:pPr defTabSz="182880"/>
              <a:r>
                <a:rPr lang="en-US" sz="800">
                  <a:solidFill>
                    <a:schemeClr val="tx1"/>
                  </a:solidFill>
                  <a:latin typeface="Consolas" panose="020B0609020204030204" pitchFamily="49" charset="0"/>
                </a:rPr>
                <a:t>	elif </a:t>
              </a:r>
              <a:r>
                <a:rPr lang="en-US" altLang="zh-TW" sz="800">
                  <a:solidFill>
                    <a:schemeClr val="tx1"/>
                  </a:solidFill>
                  <a:latin typeface="Consolas" panose="020B0609020204030204" pitchFamily="49" charset="0"/>
                </a:rPr>
                <a:t>payload[“ControlAction”] == “NEW:FREQ:ACK”:</a:t>
              </a:r>
            </a:p>
            <a:p>
              <a:pPr defTabSz="182880"/>
              <a:r>
                <a:rPr lang="en-US" sz="800">
                  <a:solidFill>
                    <a:schemeClr val="tx1"/>
                  </a:solidFill>
                  <a:latin typeface="Consolas" panose="020B0609020204030204" pitchFamily="49" charset="0"/>
                </a:rPr>
                <a:t>		db.delete(“SYSTEM:ACTION:CHECK”)</a:t>
              </a:r>
            </a:p>
            <a:p>
              <a:pPr defTabSz="182880"/>
              <a:r>
                <a:rPr lang="en-US" sz="800">
                  <a:solidFill>
                    <a:schemeClr val="tx1"/>
                  </a:solidFill>
                  <a:latin typeface="Consolas" panose="020B0609020204030204" pitchFamily="49" charset="0"/>
                </a:rPr>
                <a:t>		db.set(“RFSYSTEM:STATE”, “Free”)		</a:t>
              </a:r>
            </a:p>
            <a:p>
              <a:pPr defTabSz="182880"/>
              <a:r>
                <a:rPr lang="en-US" sz="800">
                  <a:solidFill>
                    <a:schemeClr val="tx1"/>
                  </a:solidFill>
                  <a:latin typeface="Consolas" panose="020B0609020204030204" pitchFamily="49" charset="0"/>
                </a:rPr>
                <a:t>else:</a:t>
              </a:r>
            </a:p>
            <a:p>
              <a:pPr defTabSz="182880"/>
              <a:r>
                <a:rPr lang="en-US" sz="800">
                  <a:solidFill>
                    <a:schemeClr val="tx1"/>
                  </a:solidFill>
                  <a:latin typeface="Consolas" panose="020B0609020204030204" pitchFamily="49" charset="0"/>
                </a:rPr>
                <a:t>	if stage == 4:</a:t>
              </a:r>
            </a:p>
            <a:p>
              <a:pPr defTabSz="182880"/>
              <a:r>
                <a:rPr lang="en-US" sz="800">
                  <a:solidFill>
                    <a:schemeClr val="tx1"/>
                  </a:solidFill>
                  <a:latin typeface="Consolas" panose="020B0609020204030204" pitchFamily="49" charset="0"/>
                </a:rPr>
                <a:t>		pre_fre = db.get(“SYSTEM:FREQ”)</a:t>
              </a:r>
            </a:p>
            <a:p>
              <a:pPr defTabSz="182880"/>
              <a:r>
                <a:rPr lang="en-US" sz="800">
                  <a:solidFill>
                    <a:schemeClr val="tx1"/>
                  </a:solidFill>
                  <a:latin typeface="Consolas" panose="020B0609020204030204" pitchFamily="49" charset="0"/>
                </a:rPr>
                <a:t>		db.set(“Trans:FREQ:HOP”, json)</a:t>
              </a:r>
            </a:p>
            <a:p>
              <a:pPr defTabSz="182880"/>
              <a:r>
                <a:rPr lang="en-US" sz="800">
                  <a:solidFill>
                    <a:schemeClr val="tx1"/>
                  </a:solidFill>
                  <a:latin typeface="Consolas" panose="020B0609020204030204" pitchFamily="49" charset="0"/>
                </a:rPr>
                <a:t>		db.hset(“SYSTEM:HOPPING”, Stage, 5)</a:t>
              </a:r>
            </a:p>
            <a:p>
              <a:pPr defTabSz="182880"/>
              <a:r>
                <a:rPr lang="en-US" sz="800">
                  <a:solidFill>
                    <a:schemeClr val="tx1"/>
                  </a:solidFill>
                  <a:latin typeface="Consolas" panose="020B0609020204030204" pitchFamily="49" charset="0"/>
                </a:rPr>
                <a:t>		time.sleep(wait_time)</a:t>
              </a:r>
            </a:p>
            <a:p>
              <a:pPr defTabSz="182880"/>
              <a:r>
                <a:rPr lang="en-US" sz="800">
                  <a:solidFill>
                    <a:schemeClr val="tx1"/>
                  </a:solidFill>
                  <a:latin typeface="Consolas" panose="020B0609020204030204" pitchFamily="49" charset="0"/>
                </a:rPr>
                <a:t>		db.hset(“TuneRF:11”, Freq, hop_to)</a:t>
              </a:r>
            </a:p>
            <a:p>
              <a:pPr defTabSz="182880"/>
              <a:r>
                <a:rPr lang="en-US" sz="800">
                  <a:solidFill>
                    <a:schemeClr val="tx1"/>
                  </a:solidFill>
                  <a:latin typeface="Consolas" panose="020B0609020204030204" pitchFamily="49" charset="0"/>
                </a:rPr>
                <a:t>		db.hmset(“SYSTEM:HOPPING”, {Stage: 6, PreFreq: pre_freq, Freq: payload[“ControlAction”]})</a:t>
              </a:r>
            </a:p>
            <a:p>
              <a:pPr defTabSz="182880"/>
              <a:r>
                <a:rPr lang="en-US" sz="800">
                  <a:solidFill>
                    <a:schemeClr val="tx1"/>
                  </a:solidFill>
                  <a:latin typeface="Consolas" panose="020B0609020204030204" pitchFamily="49" charset="0"/>
                </a:rPr>
                <a:t>	elif stage == 6:</a:t>
              </a:r>
            </a:p>
            <a:p>
              <a:pPr defTabSz="182880"/>
              <a:r>
                <a:rPr lang="en-US" sz="800">
                  <a:solidFill>
                    <a:schemeClr val="tx1"/>
                  </a:solidFill>
                  <a:latin typeface="Consolas" panose="020B0609020204030204" pitchFamily="49" charset="0"/>
                </a:rPr>
                <a:t>		for i in range(5):</a:t>
              </a:r>
            </a:p>
            <a:p>
              <a:pPr defTabSz="182880"/>
              <a:r>
                <a:rPr lang="en-US" sz="800">
                  <a:solidFill>
                    <a:schemeClr val="tx1"/>
                  </a:solidFill>
                  <a:latin typeface="Consolas" panose="020B0609020204030204" pitchFamily="49" charset="0"/>
                </a:rPr>
                <a:t>			db.set(“Trans:FREQ:HOP”, json)</a:t>
              </a:r>
            </a:p>
            <a:p>
              <a:pPr defTabSz="182880"/>
              <a:r>
                <a:rPr lang="en-US" sz="800">
                  <a:solidFill>
                    <a:schemeClr val="tx1"/>
                  </a:solidFill>
                  <a:latin typeface="Consolas" panose="020B0609020204030204" pitchFamily="49" charset="0"/>
                </a:rPr>
                <a:t>			db.hset(“SYSTEM:HOPPING”, Stage, 9)</a:t>
              </a:r>
            </a:p>
            <a:p>
              <a:pPr defTabSz="182880"/>
              <a:r>
                <a:rPr lang="en-US" sz="800">
                  <a:solidFill>
                    <a:schemeClr val="tx1"/>
                  </a:solidFill>
                  <a:latin typeface="Consolas" panose="020B0609020204030204" pitchFamily="49" charset="0"/>
                </a:rPr>
                <a:t>			time.sleep(0.01)</a:t>
              </a:r>
            </a:p>
            <a:p>
              <a:pPr defTabSz="182880"/>
              <a:r>
                <a:rPr lang="en-US" sz="800">
                  <a:solidFill>
                    <a:schemeClr val="tx1"/>
                  </a:solidFill>
                  <a:latin typeface="Consolas" panose="020B0609020204030204" pitchFamily="49" charset="0"/>
                </a:rPr>
                <a:t>		time.sleep(0.5)</a:t>
              </a:r>
            </a:p>
            <a:p>
              <a:pPr defTabSz="182880"/>
              <a:r>
                <a:rPr lang="en-US" sz="800">
                  <a:solidFill>
                    <a:schemeClr val="tx1"/>
                  </a:solidFill>
                  <a:latin typeface="Consolas" panose="020B0609020204030204" pitchFamily="49" charset="0"/>
                </a:rPr>
                <a:t>		db.set(“RFSYSTEM:STATE”, Free)</a:t>
              </a:r>
            </a:p>
          </p:txBody>
        </p:sp>
        <p:sp>
          <p:nvSpPr>
            <p:cNvPr id="41" name="Rectangle 6">
              <a:extLst>
                <a:ext uri="{FF2B5EF4-FFF2-40B4-BE49-F238E27FC236}">
                  <a16:creationId xmlns:a16="http://schemas.microsoft.com/office/drawing/2014/main" id="{4AC094AB-89E5-2ED3-EC0B-3C5F45B059B1}"/>
                </a:ext>
              </a:extLst>
            </p:cNvPr>
            <p:cNvSpPr/>
            <p:nvPr/>
          </p:nvSpPr>
          <p:spPr>
            <a:xfrm>
              <a:off x="11264369" y="6576547"/>
              <a:ext cx="677636" cy="175317"/>
            </a:xfrm>
            <a:prstGeom prst="rect">
              <a:avLst/>
            </a:prstGeom>
          </p:spPr>
          <p:style>
            <a:lnRef idx="2">
              <a:schemeClr val="accent4">
                <a:shade val="50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800">
                  <a:latin typeface="Consolas" panose="020B0609020204030204" pitchFamily="49" charset="0"/>
                </a:rPr>
                <a:t>Queue</a:t>
              </a:r>
            </a:p>
          </p:txBody>
        </p:sp>
        <p:sp>
          <p:nvSpPr>
            <p:cNvPr id="42" name="Rectangle 6">
              <a:extLst>
                <a:ext uri="{FF2B5EF4-FFF2-40B4-BE49-F238E27FC236}">
                  <a16:creationId xmlns:a16="http://schemas.microsoft.com/office/drawing/2014/main" id="{9239C6D1-EB4F-1AE0-437B-C058C5D3F3A8}"/>
                </a:ext>
              </a:extLst>
            </p:cNvPr>
            <p:cNvSpPr/>
            <p:nvPr/>
          </p:nvSpPr>
          <p:spPr>
            <a:xfrm>
              <a:off x="11418024" y="3519733"/>
              <a:ext cx="677636" cy="175317"/>
            </a:xfrm>
            <a:prstGeom prst="rect">
              <a:avLst/>
            </a:prstGeom>
          </p:spPr>
          <p:style>
            <a:lnRef idx="2">
              <a:schemeClr val="accent6">
                <a:shade val="50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800">
                  <a:latin typeface="Consolas" panose="020B0609020204030204" pitchFamily="49" charset="0"/>
                </a:rPr>
                <a:t>Trans</a:t>
              </a:r>
            </a:p>
          </p:txBody>
        </p:sp>
        <p:sp>
          <p:nvSpPr>
            <p:cNvPr id="43" name="Rectangle 6">
              <a:extLst>
                <a:ext uri="{FF2B5EF4-FFF2-40B4-BE49-F238E27FC236}">
                  <a16:creationId xmlns:a16="http://schemas.microsoft.com/office/drawing/2014/main" id="{5E0C7CF9-A500-9A09-5E35-0438FD7936ED}"/>
                </a:ext>
              </a:extLst>
            </p:cNvPr>
            <p:cNvSpPr/>
            <p:nvPr/>
          </p:nvSpPr>
          <p:spPr>
            <a:xfrm>
              <a:off x="3526761" y="6470763"/>
              <a:ext cx="677636" cy="175317"/>
            </a:xfrm>
            <a:prstGeom prst="rect">
              <a:avLst/>
            </a:prstGeom>
          </p:spPr>
          <p:style>
            <a:lnRef idx="2">
              <a:schemeClr val="accent5">
                <a:shade val="50000"/>
              </a:schemeClr>
            </a:lnRef>
            <a:fillRef idx="1">
              <a:schemeClr val="accent5"/>
            </a:fillRef>
            <a:effectRef idx="0">
              <a:schemeClr val="accent5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800">
                  <a:latin typeface="Consolas" panose="020B0609020204030204" pitchFamily="49" charset="0"/>
                </a:rPr>
                <a:t>Action</a:t>
              </a:r>
            </a:p>
          </p:txBody>
        </p:sp>
        <p:sp>
          <p:nvSpPr>
            <p:cNvPr id="44" name="Rectangle 6">
              <a:extLst>
                <a:ext uri="{FF2B5EF4-FFF2-40B4-BE49-F238E27FC236}">
                  <a16:creationId xmlns:a16="http://schemas.microsoft.com/office/drawing/2014/main" id="{D6354779-0585-0980-A30D-94CC494ABAF6}"/>
                </a:ext>
              </a:extLst>
            </p:cNvPr>
            <p:cNvSpPr/>
            <p:nvPr/>
          </p:nvSpPr>
          <p:spPr>
            <a:xfrm>
              <a:off x="8180864" y="3533837"/>
              <a:ext cx="677636" cy="175317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800">
                  <a:latin typeface="Consolas" panose="020B0609020204030204" pitchFamily="49" charset="0"/>
                </a:rPr>
                <a:t>Sink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83246602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6" name="Straight Arrow Connector 21">
            <a:extLst>
              <a:ext uri="{FF2B5EF4-FFF2-40B4-BE49-F238E27FC236}">
                <a16:creationId xmlns:a16="http://schemas.microsoft.com/office/drawing/2014/main" id="{AFB0C134-4F4F-D37B-1E22-4FBE40DF2949}"/>
              </a:ext>
            </a:extLst>
          </p:cNvPr>
          <p:cNvCxnSpPr>
            <a:cxnSpLocks/>
          </p:cNvCxnSpPr>
          <p:nvPr/>
        </p:nvCxnSpPr>
        <p:spPr>
          <a:xfrm>
            <a:off x="6717059" y="4262096"/>
            <a:ext cx="331738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Straight Connector 54">
            <a:extLst>
              <a:ext uri="{FF2B5EF4-FFF2-40B4-BE49-F238E27FC236}">
                <a16:creationId xmlns:a16="http://schemas.microsoft.com/office/drawing/2014/main" id="{77080DF0-3A44-1333-75EB-2305FB5BDA11}"/>
              </a:ext>
            </a:extLst>
          </p:cNvPr>
          <p:cNvCxnSpPr>
            <a:cxnSpLocks/>
          </p:cNvCxnSpPr>
          <p:nvPr/>
        </p:nvCxnSpPr>
        <p:spPr>
          <a:xfrm flipH="1">
            <a:off x="6283594" y="4257334"/>
            <a:ext cx="289550" cy="0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TextBox 30">
            <a:extLst>
              <a:ext uri="{FF2B5EF4-FFF2-40B4-BE49-F238E27FC236}">
                <a16:creationId xmlns:a16="http://schemas.microsoft.com/office/drawing/2014/main" id="{0292E08E-72FF-D8F1-CE9B-70F2866F93B3}"/>
              </a:ext>
            </a:extLst>
          </p:cNvPr>
          <p:cNvSpPr txBox="1"/>
          <p:nvPr/>
        </p:nvSpPr>
        <p:spPr>
          <a:xfrm>
            <a:off x="5744843" y="4134223"/>
            <a:ext cx="466794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00">
                <a:latin typeface="Consolas" panose="020B0609020204030204" pitchFamily="49" charset="0"/>
              </a:rPr>
              <a:t>text</a:t>
            </a:r>
          </a:p>
        </p:txBody>
      </p:sp>
      <p:grpSp>
        <p:nvGrpSpPr>
          <p:cNvPr id="45" name="群組 44">
            <a:extLst>
              <a:ext uri="{FF2B5EF4-FFF2-40B4-BE49-F238E27FC236}">
                <a16:creationId xmlns:a16="http://schemas.microsoft.com/office/drawing/2014/main" id="{2B874AB3-D10D-2F72-71D1-70DFB8BFC717}"/>
              </a:ext>
            </a:extLst>
          </p:cNvPr>
          <p:cNvGrpSpPr/>
          <p:nvPr/>
        </p:nvGrpSpPr>
        <p:grpSpPr>
          <a:xfrm>
            <a:off x="96340" y="83933"/>
            <a:ext cx="12038838" cy="6730240"/>
            <a:chOff x="96340" y="83933"/>
            <a:chExt cx="12038838" cy="6730240"/>
          </a:xfrm>
        </p:grpSpPr>
        <p:grpSp>
          <p:nvGrpSpPr>
            <p:cNvPr id="26" name="群組 25">
              <a:extLst>
                <a:ext uri="{FF2B5EF4-FFF2-40B4-BE49-F238E27FC236}">
                  <a16:creationId xmlns:a16="http://schemas.microsoft.com/office/drawing/2014/main" id="{37D42E78-D5E3-8DF6-054F-3DB7AA8756F3}"/>
                </a:ext>
              </a:extLst>
            </p:cNvPr>
            <p:cNvGrpSpPr/>
            <p:nvPr/>
          </p:nvGrpSpPr>
          <p:grpSpPr>
            <a:xfrm>
              <a:off x="4845322" y="1217011"/>
              <a:ext cx="4070957" cy="1574239"/>
              <a:chOff x="412810" y="2805256"/>
              <a:chExt cx="4070957" cy="1574239"/>
            </a:xfrm>
          </p:grpSpPr>
          <p:sp>
            <p:nvSpPr>
              <p:cNvPr id="20" name="Rectangle 4">
                <a:extLst>
                  <a:ext uri="{FF2B5EF4-FFF2-40B4-BE49-F238E27FC236}">
                    <a16:creationId xmlns:a16="http://schemas.microsoft.com/office/drawing/2014/main" id="{CCC25B2D-3F90-8C9A-9B99-38E513C72134}"/>
                  </a:ext>
                </a:extLst>
              </p:cNvPr>
              <p:cNvSpPr/>
              <p:nvPr/>
            </p:nvSpPr>
            <p:spPr>
              <a:xfrm>
                <a:off x="412810" y="2805256"/>
                <a:ext cx="4070957" cy="1574239"/>
              </a:xfrm>
              <a:prstGeom prst="rect">
                <a:avLst/>
              </a:prstGeom>
              <a:solidFill>
                <a:schemeClr val="accent2">
                  <a:lumMod val="20000"/>
                  <a:lumOff val="80000"/>
                </a:schemeClr>
              </a:solidFill>
              <a:ln>
                <a:noFill/>
              </a:ln>
            </p:spPr>
            <p:style>
              <a:lnRef idx="2">
                <a:schemeClr val="accent2">
                  <a:shade val="50000"/>
                </a:schemeClr>
              </a:lnRef>
              <a:fillRef idx="1">
                <a:schemeClr val="accent2"/>
              </a:fillRef>
              <a:effectRef idx="0">
                <a:schemeClr val="accent2"/>
              </a:effectRef>
              <a:fontRef idx="minor">
                <a:schemeClr val="lt1"/>
              </a:fontRef>
            </p:style>
            <p:txBody>
              <a:bodyPr rtlCol="0" anchor="t"/>
              <a:lstStyle/>
              <a:p>
                <a:pPr defTabSz="182880"/>
                <a:r>
                  <a:rPr lang="en-US" sz="800">
                    <a:solidFill>
                      <a:sysClr val="windowText" lastClr="000000"/>
                    </a:solidFill>
                    <a:latin typeface="Consolas" panose="020B0609020204030204" pitchFamily="49" charset="0"/>
                  </a:rPr>
                  <a:t>elif header is DATA_FRAME:</a:t>
                </a:r>
              </a:p>
              <a:p>
                <a:pPr defTabSz="182880"/>
                <a:r>
                  <a:rPr lang="en-US" sz="800">
                    <a:solidFill>
                      <a:sysClr val="windowText" lastClr="000000"/>
                    </a:solidFill>
                    <a:latin typeface="Consolas" panose="020B0609020204030204" pitchFamily="49" charset="0"/>
                  </a:rPr>
                  <a:t>	reply_with_ack()</a:t>
                </a:r>
              </a:p>
              <a:p>
                <a:pPr defTabSz="182880"/>
                <a:endParaRPr lang="en-US" sz="800">
                  <a:solidFill>
                    <a:sysClr val="windowText" lastClr="000000"/>
                  </a:solidFill>
                  <a:latin typeface="Consolas" panose="020B0609020204030204" pitchFamily="49" charset="0"/>
                </a:endParaRPr>
              </a:p>
              <a:p>
                <a:pPr defTabSz="182880"/>
                <a:endParaRPr lang="en-US" sz="800">
                  <a:solidFill>
                    <a:sysClr val="windowText" lastClr="000000"/>
                  </a:solidFill>
                  <a:latin typeface="Consolas" panose="020B0609020204030204" pitchFamily="49" charset="0"/>
                </a:endParaRPr>
              </a:p>
              <a:p>
                <a:pPr defTabSz="182880"/>
                <a:endParaRPr lang="en-US" sz="800">
                  <a:solidFill>
                    <a:sysClr val="windowText" lastClr="000000"/>
                  </a:solidFill>
                  <a:latin typeface="Consolas" panose="020B0609020204030204" pitchFamily="49" charset="0"/>
                </a:endParaRPr>
              </a:p>
              <a:p>
                <a:pPr defTabSz="182880"/>
                <a:endParaRPr lang="en-US" sz="800">
                  <a:solidFill>
                    <a:sysClr val="windowText" lastClr="000000"/>
                  </a:solidFill>
                  <a:latin typeface="Consolas" panose="020B0609020204030204" pitchFamily="49" charset="0"/>
                </a:endParaRPr>
              </a:p>
              <a:p>
                <a:pPr defTabSz="182880"/>
                <a:r>
                  <a:rPr lang="en-US" sz="800">
                    <a:solidFill>
                      <a:sysClr val="windowText" lastClr="000000"/>
                    </a:solidFill>
                    <a:latin typeface="Consolas" panose="020B0609020204030204" pitchFamily="49" charset="0"/>
                  </a:rPr>
                  <a:t>	set_to_db()</a:t>
                </a:r>
              </a:p>
            </p:txBody>
          </p:sp>
          <p:sp>
            <p:nvSpPr>
              <p:cNvPr id="22" name="矩形 21">
                <a:extLst>
                  <a:ext uri="{FF2B5EF4-FFF2-40B4-BE49-F238E27FC236}">
                    <a16:creationId xmlns:a16="http://schemas.microsoft.com/office/drawing/2014/main" id="{DA6216EF-00A9-2D48-B128-9970C5D7EB58}"/>
                  </a:ext>
                </a:extLst>
              </p:cNvPr>
              <p:cNvSpPr/>
              <p:nvPr/>
            </p:nvSpPr>
            <p:spPr>
              <a:xfrm>
                <a:off x="680935" y="3115532"/>
                <a:ext cx="3802831" cy="404536"/>
              </a:xfrm>
              <a:prstGeom prst="rect">
                <a:avLst/>
              </a:prstGeom>
              <a:solidFill>
                <a:schemeClr val="accent2">
                  <a:lumMod val="40000"/>
                  <a:lumOff val="6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defTabSz="182880"/>
                <a:r>
                  <a:rPr lang="en-US" altLang="zh-TW" sz="800">
                    <a:solidFill>
                      <a:schemeClr val="tx1"/>
                    </a:solidFill>
                    <a:latin typeface="Consolas" panose="020B0609020204030204" pitchFamily="49" charset="0"/>
                  </a:rPr>
                  <a:t>ack_frame = scapy.Dot11FCS(addr1=addr, type=1, subtype=13, FCfield=0)</a:t>
                </a:r>
              </a:p>
              <a:p>
                <a:pPr defTabSz="182880"/>
                <a:r>
                  <a:rPr lang="en-US" altLang="zh-TW" sz="800">
                    <a:solidFill>
                      <a:schemeClr val="tx1"/>
                    </a:solidFill>
                    <a:latin typeface="Consolas" panose="020B0609020204030204" pitchFamily="49" charset="0"/>
                  </a:rPr>
                  <a:t>sock.sendto(bytes(ack_frame), (localhost, 52001))</a:t>
                </a:r>
                <a:endParaRPr lang="zh-TW" altLang="en-US" sz="800">
                  <a:solidFill>
                    <a:schemeClr val="tx1"/>
                  </a:solidFill>
                  <a:latin typeface="Consolas" panose="020B0609020204030204" pitchFamily="49" charset="0"/>
                </a:endParaRPr>
              </a:p>
            </p:txBody>
          </p:sp>
          <p:sp>
            <p:nvSpPr>
              <p:cNvPr id="23" name="矩形 22">
                <a:extLst>
                  <a:ext uri="{FF2B5EF4-FFF2-40B4-BE49-F238E27FC236}">
                    <a16:creationId xmlns:a16="http://schemas.microsoft.com/office/drawing/2014/main" id="{F54B0698-4C04-5775-0F11-CBDE7AB11891}"/>
                  </a:ext>
                </a:extLst>
              </p:cNvPr>
              <p:cNvSpPr/>
              <p:nvPr/>
            </p:nvSpPr>
            <p:spPr>
              <a:xfrm>
                <a:off x="680934" y="3753749"/>
                <a:ext cx="3802832" cy="564956"/>
              </a:xfrm>
              <a:prstGeom prst="rect">
                <a:avLst/>
              </a:prstGeom>
              <a:solidFill>
                <a:schemeClr val="accent2">
                  <a:lumMod val="40000"/>
                  <a:lumOff val="6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defTabSz="182880"/>
                <a:r>
                  <a:rPr lang="en-US" altLang="zh-TW" sz="800">
                    <a:solidFill>
                      <a:schemeClr val="tx1"/>
                    </a:solidFill>
                    <a:latin typeface="Consolas" panose="020B0609020204030204" pitchFamily="49" charset="0"/>
                  </a:rPr>
                  <a:t>timestamp = time.time()</a:t>
                </a:r>
              </a:p>
              <a:p>
                <a:pPr defTabSz="182880"/>
                <a:r>
                  <a:rPr lang="en-US" altLang="zh-TW" sz="800">
                    <a:solidFill>
                      <a:schemeClr val="tx1"/>
                    </a:solidFill>
                    <a:latin typeface="Consolas" panose="020B0609020204030204" pitchFamily="49" charset="0"/>
                  </a:rPr>
                  <a:t>db.hmset(“Recv:seq:timestamp”, {“payload”: payload, “info”:info})</a:t>
                </a:r>
              </a:p>
              <a:p>
                <a:pPr defTabSz="182880"/>
                <a:r>
                  <a:rPr lang="en-US" altLang="zh-TW" sz="800">
                    <a:solidFill>
                      <a:schemeClr val="tx1"/>
                    </a:solidFill>
                    <a:latin typeface="Consolas" panose="020B0609020204030204" pitchFamily="49" charset="0"/>
                  </a:rPr>
                  <a:t>db.set(“CSI:timestamp”, csi_json)</a:t>
                </a:r>
              </a:p>
              <a:p>
                <a:pPr defTabSz="182880"/>
                <a:r>
                  <a:rPr lang="en-US" altLang="zh-TW" sz="800">
                    <a:solidFill>
                      <a:schemeClr val="tx1"/>
                    </a:solidFill>
                    <a:latin typeface="Consolas" panose="020B0609020204030204" pitchFamily="49" charset="0"/>
                  </a:rPr>
                  <a:t>db.set(“CSI:ACTION:CSI”, “CSI:timestamp”)</a:t>
                </a:r>
                <a:endParaRPr lang="zh-TW" altLang="en-US" sz="800">
                  <a:solidFill>
                    <a:schemeClr val="tx1"/>
                  </a:solidFill>
                  <a:latin typeface="Consolas" panose="020B0609020204030204" pitchFamily="49" charset="0"/>
                </a:endParaRPr>
              </a:p>
            </p:txBody>
          </p:sp>
        </p:grpSp>
        <p:sp>
          <p:nvSpPr>
            <p:cNvPr id="24" name="Rectangle 4">
              <a:extLst>
                <a:ext uri="{FF2B5EF4-FFF2-40B4-BE49-F238E27FC236}">
                  <a16:creationId xmlns:a16="http://schemas.microsoft.com/office/drawing/2014/main" id="{A3B5125B-ECB5-B21C-AB92-B1FA751DBFD6}"/>
                </a:ext>
              </a:extLst>
            </p:cNvPr>
            <p:cNvSpPr/>
            <p:nvPr/>
          </p:nvSpPr>
          <p:spPr>
            <a:xfrm>
              <a:off x="4845321" y="83933"/>
              <a:ext cx="4070957" cy="1133078"/>
            </a:xfrm>
            <a:prstGeom prst="rect">
              <a:avLst/>
            </a:prstGeom>
            <a:solidFill>
              <a:schemeClr val="accent2">
                <a:lumMod val="20000"/>
                <a:lumOff val="80000"/>
              </a:schemeClr>
            </a:solidFill>
            <a:ln>
              <a:noFill/>
            </a:ln>
          </p:spPr>
          <p:style>
            <a:lnRef idx="2">
              <a:schemeClr val="accent2">
                <a:shade val="50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defTabSz="182880"/>
              <a:r>
                <a:rPr lang="en-US" sz="800">
                  <a:solidFill>
                    <a:sysClr val="windowText" lastClr="000000"/>
                  </a:solidFill>
                  <a:latin typeface="Consolas" panose="020B0609020204030204" pitchFamily="49" charset="0"/>
                </a:rPr>
                <a:t>if payload has ControlType:</a:t>
              </a:r>
            </a:p>
            <a:p>
              <a:pPr defTabSz="182880"/>
              <a:r>
                <a:rPr lang="en-US" sz="800">
                  <a:solidFill>
                    <a:sysClr val="windowText" lastClr="000000"/>
                  </a:solidFill>
                  <a:latin typeface="Consolas" panose="020B0609020204030204" pitchFamily="49" charset="0"/>
                </a:rPr>
                <a:t>	if payload[“ControlType”] == “HOP”:</a:t>
              </a:r>
            </a:p>
            <a:p>
              <a:pPr defTabSz="182880"/>
              <a:r>
                <a:rPr lang="en-US" sz="800">
                  <a:solidFill>
                    <a:sysClr val="windowText" lastClr="000000"/>
                  </a:solidFill>
                  <a:latin typeface="Consolas" panose="020B0609020204030204" pitchFamily="49" charset="0"/>
                </a:rPr>
                <a:t>		if payload[“ControlAction”].isdigit():</a:t>
              </a:r>
            </a:p>
            <a:p>
              <a:pPr defTabSz="182880"/>
              <a:r>
                <a:rPr lang="en-US" sz="800">
                  <a:solidFill>
                    <a:sysClr val="windowText" lastClr="000000"/>
                  </a:solidFill>
                  <a:latin typeface="Consolas" panose="020B0609020204030204" pitchFamily="49" charset="0"/>
                </a:rPr>
                <a:t>			db.set(“RFSYSTEM:STATE”, “Hold”)</a:t>
              </a:r>
            </a:p>
            <a:p>
              <a:pPr defTabSz="182880"/>
              <a:r>
                <a:rPr lang="en-US" sz="800">
                  <a:solidFill>
                    <a:sysClr val="windowText" lastClr="000000"/>
                  </a:solidFill>
                  <a:latin typeface="Consolas" panose="020B0609020204030204" pitchFamily="49" charset="0"/>
                </a:rPr>
                <a:t>			db.hset(“SYSTEM:HOPPING”, “Stage”, 4)</a:t>
              </a:r>
            </a:p>
            <a:p>
              <a:pPr defTabSz="182880"/>
              <a:r>
                <a:rPr lang="en-US" sz="800">
                  <a:solidFill>
                    <a:sysClr val="windowText" lastClr="000000"/>
                  </a:solidFill>
                  <a:latin typeface="Consolas" panose="020B0609020204030204" pitchFamily="49" charset="0"/>
                </a:rPr>
                <a:t>		action_to_hop(payload)</a:t>
              </a:r>
            </a:p>
            <a:p>
              <a:pPr defTabSz="182880"/>
              <a:r>
                <a:rPr lang="en-US" sz="800">
                  <a:solidFill>
                    <a:sysClr val="windowText" lastClr="000000"/>
                  </a:solidFill>
                  <a:latin typeface="Consolas" panose="020B0609020204030204" pitchFamily="49" charset="0"/>
                </a:rPr>
                <a:t>		</a:t>
              </a:r>
            </a:p>
            <a:p>
              <a:pPr defTabSz="182880"/>
              <a:r>
                <a:rPr lang="en-US" sz="800">
                  <a:solidFill>
                    <a:sysClr val="windowText" lastClr="000000"/>
                  </a:solidFill>
                  <a:latin typeface="Consolas" panose="020B0609020204030204" pitchFamily="49" charset="0"/>
                </a:rPr>
                <a:t>	</a:t>
              </a:r>
            </a:p>
          </p:txBody>
        </p:sp>
        <p:grpSp>
          <p:nvGrpSpPr>
            <p:cNvPr id="27" name="群組 26">
              <a:extLst>
                <a:ext uri="{FF2B5EF4-FFF2-40B4-BE49-F238E27FC236}">
                  <a16:creationId xmlns:a16="http://schemas.microsoft.com/office/drawing/2014/main" id="{CD45926D-0E16-29ED-1849-41B7AE4921EC}"/>
                </a:ext>
              </a:extLst>
            </p:cNvPr>
            <p:cNvGrpSpPr/>
            <p:nvPr/>
          </p:nvGrpSpPr>
          <p:grpSpPr>
            <a:xfrm>
              <a:off x="4845320" y="2791250"/>
              <a:ext cx="4070957" cy="1050146"/>
              <a:chOff x="412808" y="3810612"/>
              <a:chExt cx="4070957" cy="1050146"/>
            </a:xfrm>
          </p:grpSpPr>
          <p:sp>
            <p:nvSpPr>
              <p:cNvPr id="25" name="Rectangle 4">
                <a:extLst>
                  <a:ext uri="{FF2B5EF4-FFF2-40B4-BE49-F238E27FC236}">
                    <a16:creationId xmlns:a16="http://schemas.microsoft.com/office/drawing/2014/main" id="{52436147-4230-6B2D-7974-843A81211452}"/>
                  </a:ext>
                </a:extLst>
              </p:cNvPr>
              <p:cNvSpPr/>
              <p:nvPr/>
            </p:nvSpPr>
            <p:spPr>
              <a:xfrm>
                <a:off x="412808" y="3810612"/>
                <a:ext cx="4070957" cy="1050146"/>
              </a:xfrm>
              <a:prstGeom prst="rect">
                <a:avLst/>
              </a:prstGeom>
              <a:solidFill>
                <a:schemeClr val="accent2">
                  <a:lumMod val="20000"/>
                  <a:lumOff val="80000"/>
                </a:schemeClr>
              </a:solidFill>
              <a:ln>
                <a:noFill/>
              </a:ln>
            </p:spPr>
            <p:style>
              <a:lnRef idx="2">
                <a:schemeClr val="accent2">
                  <a:shade val="50000"/>
                </a:schemeClr>
              </a:lnRef>
              <a:fillRef idx="1">
                <a:schemeClr val="accent2"/>
              </a:fillRef>
              <a:effectRef idx="0">
                <a:schemeClr val="accent2"/>
              </a:effectRef>
              <a:fontRef idx="minor">
                <a:schemeClr val="lt1"/>
              </a:fontRef>
            </p:style>
            <p:txBody>
              <a:bodyPr rtlCol="0" anchor="t"/>
              <a:lstStyle/>
              <a:p>
                <a:pPr defTabSz="182880"/>
                <a:r>
                  <a:rPr lang="en-US" sz="800">
                    <a:solidFill>
                      <a:sysClr val="windowText" lastClr="000000"/>
                    </a:solidFill>
                    <a:latin typeface="Consolas" panose="020B0609020204030204" pitchFamily="49" charset="0"/>
                  </a:rPr>
                  <a:t>elif header is CTRL_FRAME:</a:t>
                </a:r>
              </a:p>
              <a:p>
                <a:pPr defTabSz="182880"/>
                <a:r>
                  <a:rPr lang="en-US" sz="800">
                    <a:solidFill>
                      <a:sysClr val="windowText" lastClr="000000"/>
                    </a:solidFill>
                    <a:latin typeface="Consolas" panose="020B0609020204030204" pitchFamily="49" charset="0"/>
                  </a:rPr>
                  <a:t>	action_to_ack()</a:t>
                </a:r>
              </a:p>
            </p:txBody>
          </p:sp>
          <p:sp>
            <p:nvSpPr>
              <p:cNvPr id="21" name="矩形 20">
                <a:extLst>
                  <a:ext uri="{FF2B5EF4-FFF2-40B4-BE49-F238E27FC236}">
                    <a16:creationId xmlns:a16="http://schemas.microsoft.com/office/drawing/2014/main" id="{B3ABBAD7-651C-712D-0139-E04AE081EDF5}"/>
                  </a:ext>
                </a:extLst>
              </p:cNvPr>
              <p:cNvSpPr/>
              <p:nvPr/>
            </p:nvSpPr>
            <p:spPr>
              <a:xfrm>
                <a:off x="684365" y="4139687"/>
                <a:ext cx="3799400" cy="649706"/>
              </a:xfrm>
              <a:prstGeom prst="rect">
                <a:avLst/>
              </a:prstGeom>
              <a:solidFill>
                <a:schemeClr val="accent2">
                  <a:lumMod val="40000"/>
                  <a:lumOff val="6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defTabSz="182880"/>
                <a:r>
                  <a:rPr lang="en-US" altLang="zh-TW" sz="800">
                    <a:solidFill>
                      <a:schemeClr val="tx1"/>
                    </a:solidFill>
                    <a:latin typeface="Consolas" panose="020B0609020204030204" pitchFamily="49" charset="0"/>
                  </a:rPr>
                  <a:t>ACK_STATE = db.get(“TRANS:ACK”)</a:t>
                </a:r>
              </a:p>
              <a:p>
                <a:pPr defTabSz="182880"/>
                <a:r>
                  <a:rPr lang="en-US" altLang="zh-TW" sz="800">
                    <a:solidFill>
                      <a:schemeClr val="tx1"/>
                    </a:solidFill>
                    <a:latin typeface="Consolas" panose="020B0609020204030204" pitchFamily="49" charset="0"/>
                  </a:rPr>
                  <a:t>if ACK_STATE == “Waiting”:</a:t>
                </a:r>
              </a:p>
              <a:p>
                <a:pPr defTabSz="182880"/>
                <a:r>
                  <a:rPr lang="en-US" altLang="zh-TW" sz="800">
                    <a:solidFill>
                      <a:schemeClr val="tx1"/>
                    </a:solidFill>
                    <a:latin typeface="Consolas" panose="020B0609020204030204" pitchFamily="49" charset="0"/>
                  </a:rPr>
                  <a:t>	db.set(“TRANS:ACK”, “Success”)</a:t>
                </a:r>
              </a:p>
              <a:p>
                <a:pPr defTabSz="182880"/>
                <a:r>
                  <a:rPr lang="en-US" altLang="zh-TW" sz="800">
                    <a:solidFill>
                      <a:schemeClr val="tx1"/>
                    </a:solidFill>
                    <a:latin typeface="Consolas" panose="020B0609020204030204" pitchFamily="49" charset="0"/>
                  </a:rPr>
                  <a:t>	db.set(“RFDEVICE:STATE”, “Idle”)</a:t>
                </a:r>
              </a:p>
              <a:p>
                <a:pPr defTabSz="182880"/>
                <a:r>
                  <a:rPr lang="en-US" altLang="zh-TW" sz="800">
                    <a:solidFill>
                      <a:schemeClr val="tx1"/>
                    </a:solidFill>
                    <a:latin typeface="Consolas" panose="020B0609020204030204" pitchFamily="49" charset="0"/>
                  </a:rPr>
                  <a:t>	db.rpop(“QUEUE:LIST:TRANS”)</a:t>
                </a:r>
                <a:endParaRPr lang="zh-TW" altLang="en-US" sz="800">
                  <a:solidFill>
                    <a:schemeClr val="tx1"/>
                  </a:solidFill>
                  <a:latin typeface="Consolas" panose="020B0609020204030204" pitchFamily="49" charset="0"/>
                </a:endParaRPr>
              </a:p>
            </p:txBody>
          </p:sp>
        </p:grpSp>
        <p:sp>
          <p:nvSpPr>
            <p:cNvPr id="28" name="矩形 27">
              <a:extLst>
                <a:ext uri="{FF2B5EF4-FFF2-40B4-BE49-F238E27FC236}">
                  <a16:creationId xmlns:a16="http://schemas.microsoft.com/office/drawing/2014/main" id="{6EE1C805-C942-5811-7865-38C835D36687}"/>
                </a:ext>
              </a:extLst>
            </p:cNvPr>
            <p:cNvSpPr/>
            <p:nvPr/>
          </p:nvSpPr>
          <p:spPr>
            <a:xfrm>
              <a:off x="5316553" y="872981"/>
              <a:ext cx="3599724" cy="268490"/>
            </a:xfrm>
            <a:prstGeom prst="rect">
              <a:avLst/>
            </a:prstGeom>
            <a:solidFill>
              <a:schemeClr val="accent2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defTabSz="182880"/>
              <a:r>
                <a:rPr lang="en-US" altLang="zh-TW" sz="800">
                  <a:solidFill>
                    <a:schemeClr val="tx1"/>
                  </a:solidFill>
                  <a:latin typeface="Consolas" panose="020B0609020204030204" pitchFamily="49" charset="0"/>
                </a:rPr>
                <a:t>db.set(“SYSTEM:ACTION:HOP”, payload)</a:t>
              </a:r>
              <a:endParaRPr lang="zh-TW" altLang="en-US" sz="800">
                <a:solidFill>
                  <a:schemeClr val="tx1"/>
                </a:solidFill>
                <a:latin typeface="Consolas" panose="020B0609020204030204" pitchFamily="49" charset="0"/>
              </a:endParaRPr>
            </a:p>
          </p:txBody>
        </p:sp>
        <p:sp>
          <p:nvSpPr>
            <p:cNvPr id="30" name="Rectangle 5">
              <a:extLst>
                <a:ext uri="{FF2B5EF4-FFF2-40B4-BE49-F238E27FC236}">
                  <a16:creationId xmlns:a16="http://schemas.microsoft.com/office/drawing/2014/main" id="{0C4B8A75-9DC0-9E19-9FCC-CC1B17BE5D20}"/>
                </a:ext>
              </a:extLst>
            </p:cNvPr>
            <p:cNvSpPr/>
            <p:nvPr/>
          </p:nvSpPr>
          <p:spPr>
            <a:xfrm>
              <a:off x="8721530" y="4261369"/>
              <a:ext cx="3374130" cy="2552804"/>
            </a:xfrm>
            <a:prstGeom prst="rect">
              <a:avLst/>
            </a:prstGeom>
            <a:solidFill>
              <a:schemeClr val="accent3">
                <a:lumMod val="20000"/>
                <a:lumOff val="80000"/>
              </a:schemeClr>
            </a:solidFill>
            <a:ln>
              <a:noFill/>
            </a:ln>
          </p:spPr>
          <p:style>
            <a:lnRef idx="2">
              <a:schemeClr val="accent3">
                <a:shade val="50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defTabSz="182880"/>
              <a:r>
                <a:rPr lang="en-US" sz="800">
                  <a:solidFill>
                    <a:schemeClr val="tx1"/>
                  </a:solidFill>
                  <a:latin typeface="Consolas" panose="020B0609020204030204" pitchFamily="49" charset="0"/>
                </a:rPr>
                <a:t>while db.exists(“QUEUE:LIST:TRANS”):</a:t>
              </a:r>
            </a:p>
            <a:p>
              <a:pPr defTabSz="182880"/>
              <a:r>
                <a:rPr lang="en-US" sz="800">
                  <a:solidFill>
                    <a:schemeClr val="tx1"/>
                  </a:solidFill>
                  <a:latin typeface="Consolas" panose="020B0609020204030204" pitchFamily="49" charset="0"/>
                </a:rPr>
                <a:t>	rf_state = db.get(“RFDEVICE:STATE”)</a:t>
              </a:r>
            </a:p>
            <a:p>
              <a:pPr defTabSz="182880"/>
              <a:r>
                <a:rPr lang="en-US" altLang="zh-TW" sz="800">
                  <a:solidFill>
                    <a:schemeClr val="tx1"/>
                  </a:solidFill>
                  <a:latin typeface="Consolas" panose="020B0609020204030204" pitchFamily="49" charset="0"/>
                </a:rPr>
                <a:t>	sys_state = db.get(“RFSYSTEM:STATE”)</a:t>
              </a:r>
              <a:endParaRPr lang="en-US" sz="800">
                <a:solidFill>
                  <a:schemeClr val="tx1"/>
                </a:solidFill>
                <a:latin typeface="Consolas" panose="020B0609020204030204" pitchFamily="49" charset="0"/>
              </a:endParaRPr>
            </a:p>
            <a:p>
              <a:pPr defTabSz="182880"/>
              <a:r>
                <a:rPr lang="en-US" sz="800">
                  <a:solidFill>
                    <a:schemeClr val="tx1"/>
                  </a:solidFill>
                  <a:latin typeface="Consolas" panose="020B0609020204030204" pitchFamily="49" charset="0"/>
                </a:rPr>
                <a:t>	oldest_key = db.lrange(“QUEUE:LIST:TRANS”, -1, -1)</a:t>
              </a:r>
            </a:p>
            <a:p>
              <a:pPr defTabSz="182880"/>
              <a:r>
                <a:rPr lang="en-US" sz="800">
                  <a:solidFill>
                    <a:schemeClr val="tx1"/>
                  </a:solidFill>
                  <a:latin typeface="Consolas" panose="020B0609020204030204" pitchFamily="49" charset="0"/>
                </a:rPr>
                <a:t>	ack_for_key = db.get(“</a:t>
              </a:r>
              <a:r>
                <a:rPr lang="en-US" altLang="zh-TW" sz="800">
                  <a:solidFill>
                    <a:schemeClr val="tx1"/>
                  </a:solidFill>
                  <a:latin typeface="Consolas" panose="020B0609020204030204" pitchFamily="49" charset="0"/>
                </a:rPr>
                <a:t>oldest_key:ACK”</a:t>
              </a:r>
              <a:r>
                <a:rPr lang="en-US" sz="800">
                  <a:solidFill>
                    <a:schemeClr val="tx1"/>
                  </a:solidFill>
                  <a:latin typeface="Consolas" panose="020B0609020204030204" pitchFamily="49" charset="0"/>
                </a:rPr>
                <a:t>)</a:t>
              </a:r>
            </a:p>
            <a:p>
              <a:pPr defTabSz="182880"/>
              <a:r>
                <a:rPr lang="en-US" sz="800">
                  <a:solidFill>
                    <a:schemeClr val="tx1"/>
                  </a:solidFill>
                  <a:latin typeface="Consolas" panose="020B0609020204030204" pitchFamily="49" charset="0"/>
                </a:rPr>
                <a:t>	</a:t>
              </a:r>
            </a:p>
            <a:p>
              <a:pPr defTabSz="182880"/>
              <a:r>
                <a:rPr lang="en-US" sz="800">
                  <a:solidFill>
                    <a:schemeClr val="tx1"/>
                  </a:solidFill>
                  <a:latin typeface="Consolas" panose="020B0609020204030204" pitchFamily="49" charset="0"/>
                </a:rPr>
                <a:t>	if </a:t>
              </a:r>
              <a:r>
                <a:rPr lang="en-US" altLang="zh-TW" sz="800">
                  <a:solidFill>
                    <a:schemeClr val="tx1"/>
                  </a:solidFill>
                  <a:latin typeface="Consolas" panose="020B0609020204030204" pitchFamily="49" charset="0"/>
                </a:rPr>
                <a:t>ack_for_key is not None:</a:t>
              </a:r>
            </a:p>
            <a:p>
              <a:pPr defTabSz="182880"/>
              <a:r>
                <a:rPr lang="en-US" sz="800">
                  <a:solidFill>
                    <a:schemeClr val="tx1"/>
                  </a:solidFill>
                  <a:latin typeface="Consolas" panose="020B0609020204030204" pitchFamily="49" charset="0"/>
                </a:rPr>
                <a:t>		if db.get(</a:t>
              </a:r>
              <a:r>
                <a:rPr lang="en-US" altLang="zh-TW" sz="800">
                  <a:solidFill>
                    <a:schemeClr val="tx1"/>
                  </a:solidFill>
                  <a:latin typeface="Consolas" panose="020B0609020204030204" pitchFamily="49" charset="0"/>
                </a:rPr>
                <a:t>ack_for_key</a:t>
              </a:r>
              <a:r>
                <a:rPr lang="en-US" sz="800">
                  <a:solidFill>
                    <a:schemeClr val="tx1"/>
                  </a:solidFill>
                  <a:latin typeface="Consolas" panose="020B0609020204030204" pitchFamily="49" charset="0"/>
                </a:rPr>
                <a:t>) == “Failed”:</a:t>
              </a:r>
            </a:p>
            <a:p>
              <a:pPr defTabSz="182880"/>
              <a:r>
                <a:rPr lang="en-US" sz="800">
                  <a:solidFill>
                    <a:schemeClr val="tx1"/>
                  </a:solidFill>
                  <a:latin typeface="Consolas" panose="020B0609020204030204" pitchFamily="49" charset="0"/>
                </a:rPr>
                <a:t>			db.rpop(“QUEUE:LIST:TRANS”)</a:t>
              </a:r>
            </a:p>
            <a:p>
              <a:pPr defTabSz="182880"/>
              <a:r>
                <a:rPr lang="en-US" sz="800">
                  <a:solidFill>
                    <a:schemeClr val="tx1"/>
                  </a:solidFill>
                  <a:latin typeface="Consolas" panose="020B0609020204030204" pitchFamily="49" charset="0"/>
                </a:rPr>
                <a:t>	</a:t>
              </a:r>
            </a:p>
            <a:p>
              <a:pPr defTabSz="182880"/>
              <a:r>
                <a:rPr lang="en-US" sz="800">
                  <a:solidFill>
                    <a:schemeClr val="tx1"/>
                  </a:solidFill>
                  <a:latin typeface="Consolas" panose="020B0609020204030204" pitchFamily="49" charset="0"/>
                </a:rPr>
                <a:t>	elif </a:t>
              </a:r>
              <a:r>
                <a:rPr lang="en-US" altLang="zh-TW" sz="800">
                  <a:solidFill>
                    <a:schemeClr val="tx1"/>
                  </a:solidFill>
                  <a:latin typeface="Consolas" panose="020B0609020204030204" pitchFamily="49" charset="0"/>
                </a:rPr>
                <a:t>rf_state == “Idle”:</a:t>
              </a:r>
            </a:p>
            <a:p>
              <a:pPr defTabSz="182880"/>
              <a:r>
                <a:rPr lang="en-US" sz="800">
                  <a:solidFill>
                    <a:schemeClr val="tx1"/>
                  </a:solidFill>
                  <a:latin typeface="Consolas" panose="020B0609020204030204" pitchFamily="49" charset="0"/>
                </a:rPr>
                <a:t>		</a:t>
              </a:r>
              <a:r>
                <a:rPr lang="en-US" altLang="zh-TW" sz="800">
                  <a:solidFill>
                    <a:schemeClr val="tx1"/>
                  </a:solidFill>
                  <a:latin typeface="Consolas" panose="020B0609020204030204" pitchFamily="49" charset="0"/>
                </a:rPr>
                <a:t>oldest_key = db.lrange(“QUEUE:LIST:TRANS”, -1, -1)</a:t>
              </a:r>
            </a:p>
            <a:p>
              <a:pPr defTabSz="182880"/>
              <a:r>
                <a:rPr lang="en-US" altLang="zh-TW" sz="800">
                  <a:solidFill>
                    <a:schemeClr val="tx1"/>
                  </a:solidFill>
                  <a:latin typeface="Consolas" panose="020B0609020204030204" pitchFamily="49" charset="0"/>
                </a:rPr>
                <a:t>		db.set(“Transmission”, oldest_key)</a:t>
              </a:r>
            </a:p>
            <a:p>
              <a:pPr defTabSz="182880"/>
              <a:r>
                <a:rPr lang="en-US" altLang="zh-TW" sz="800">
                  <a:solidFill>
                    <a:schemeClr val="tx1"/>
                  </a:solidFill>
                  <a:latin typeface="Consolas" panose="020B0609020204030204" pitchFamily="49" charset="0"/>
                </a:rPr>
                <a:t>		db.set(“RFDEVICE:STATE”, “Busy”)</a:t>
              </a:r>
            </a:p>
            <a:p>
              <a:pPr defTabSz="182880"/>
              <a:endParaRPr lang="en-US" sz="800">
                <a:solidFill>
                  <a:schemeClr val="tx1"/>
                </a:solidFill>
                <a:latin typeface="Consolas" panose="020B0609020204030204" pitchFamily="49" charset="0"/>
              </a:endParaRPr>
            </a:p>
            <a:p>
              <a:pPr defTabSz="182880"/>
              <a:r>
                <a:rPr lang="en-US" sz="800">
                  <a:solidFill>
                    <a:schemeClr val="tx1"/>
                  </a:solidFill>
                  <a:latin typeface="Consolas" panose="020B0609020204030204" pitchFamily="49" charset="0"/>
                </a:rPr>
                <a:t>	elif </a:t>
              </a:r>
              <a:r>
                <a:rPr lang="en-US" altLang="zh-TW" sz="800">
                  <a:solidFill>
                    <a:schemeClr val="tx1"/>
                  </a:solidFill>
                  <a:latin typeface="Consolas" panose="020B0609020204030204" pitchFamily="49" charset="0"/>
                </a:rPr>
                <a:t>sys_state == “Hold”:</a:t>
              </a:r>
            </a:p>
            <a:p>
              <a:pPr defTabSz="182880"/>
              <a:r>
                <a:rPr lang="en-US" sz="800">
                  <a:solidFill>
                    <a:schemeClr val="tx1"/>
                  </a:solidFill>
                  <a:latin typeface="Consolas" panose="020B0609020204030204" pitchFamily="49" charset="0"/>
                </a:rPr>
                <a:t>		time.sleep(0.01)</a:t>
              </a:r>
            </a:p>
            <a:p>
              <a:pPr defTabSz="182880"/>
              <a:endParaRPr lang="en-US" sz="800">
                <a:solidFill>
                  <a:schemeClr val="tx1"/>
                </a:solidFill>
                <a:latin typeface="Consolas" panose="020B0609020204030204" pitchFamily="49" charset="0"/>
              </a:endParaRPr>
            </a:p>
            <a:p>
              <a:pPr defTabSz="182880"/>
              <a:r>
                <a:rPr lang="en-US" sz="800">
                  <a:solidFill>
                    <a:schemeClr val="tx1"/>
                  </a:solidFill>
                  <a:latin typeface="Consolas" panose="020B0609020204030204" pitchFamily="49" charset="0"/>
                </a:rPr>
                <a:t>	else:</a:t>
              </a:r>
            </a:p>
            <a:p>
              <a:pPr defTabSz="182880"/>
              <a:r>
                <a:rPr lang="en-US" sz="800">
                  <a:solidFill>
                    <a:schemeClr val="tx1"/>
                  </a:solidFill>
                  <a:latin typeface="Consolas" panose="020B0609020204030204" pitchFamily="49" charset="0"/>
                </a:rPr>
                <a:t>		time.sleep(0.001)</a:t>
              </a:r>
            </a:p>
          </p:txBody>
        </p:sp>
        <p:sp>
          <p:nvSpPr>
            <p:cNvPr id="31" name="Rectangle 5">
              <a:extLst>
                <a:ext uri="{FF2B5EF4-FFF2-40B4-BE49-F238E27FC236}">
                  <a16:creationId xmlns:a16="http://schemas.microsoft.com/office/drawing/2014/main" id="{7351F57B-E1F3-6B48-A555-1AD361B2EC4F}"/>
                </a:ext>
              </a:extLst>
            </p:cNvPr>
            <p:cNvSpPr/>
            <p:nvPr/>
          </p:nvSpPr>
          <p:spPr>
            <a:xfrm>
              <a:off x="9478358" y="83933"/>
              <a:ext cx="2656820" cy="3748726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  <a:ln>
              <a:noFill/>
            </a:ln>
          </p:spPr>
          <p:style>
            <a:lnRef idx="2">
              <a:schemeClr val="accent3">
                <a:shade val="50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defTabSz="182880"/>
              <a:r>
                <a:rPr lang="en-US" altLang="zh-TW" sz="800">
                  <a:solidFill>
                    <a:schemeClr val="tx1"/>
                  </a:solidFill>
                  <a:latin typeface="Consolas" panose="020B0609020204030204" pitchFamily="49" charset="0"/>
                </a:rPr>
                <a:t>db_key = self.get(“Transmission”)</a:t>
              </a:r>
              <a:endParaRPr lang="en-US" sz="800">
                <a:solidFill>
                  <a:schemeClr val="tx1"/>
                </a:solidFill>
                <a:latin typeface="Consolas" panose="020B0609020204030204" pitchFamily="49" charset="0"/>
              </a:endParaRPr>
            </a:p>
            <a:p>
              <a:pPr defTabSz="182880"/>
              <a:r>
                <a:rPr lang="en-US" sz="800">
                  <a:solidFill>
                    <a:schemeClr val="tx1"/>
                  </a:solidFill>
                  <a:latin typeface="Consolas" panose="020B0609020204030204" pitchFamily="49" charset="0"/>
                </a:rPr>
                <a:t>if db.get(“RFDEVICE:STATE”) != “Busy”:</a:t>
              </a:r>
            </a:p>
            <a:p>
              <a:pPr defTabSz="182880"/>
              <a:r>
                <a:rPr lang="en-US" sz="800">
                  <a:solidFill>
                    <a:schemeClr val="tx1"/>
                  </a:solidFill>
                  <a:latin typeface="Consolas" panose="020B0609020204030204" pitchFamily="49" charset="0"/>
                </a:rPr>
                <a:t>	db.set</a:t>
              </a:r>
              <a:r>
                <a:rPr lang="en-US" altLang="zh-TW" sz="800">
                  <a:solidFill>
                    <a:schemeClr val="tx1"/>
                  </a:solidFill>
                  <a:latin typeface="Consolas" panose="020B0609020204030204" pitchFamily="49" charset="0"/>
                </a:rPr>
                <a:t>(“RFDEVICE:STATE”, “Busy”)</a:t>
              </a:r>
            </a:p>
            <a:p>
              <a:pPr defTabSz="182880"/>
              <a:endParaRPr lang="en-US" sz="800">
                <a:solidFill>
                  <a:schemeClr val="tx1"/>
                </a:solidFill>
                <a:latin typeface="Consolas" panose="020B0609020204030204" pitchFamily="49" charset="0"/>
              </a:endParaRPr>
            </a:p>
            <a:p>
              <a:pPr defTabSz="182880"/>
              <a:r>
                <a:rPr lang="en-US" sz="800">
                  <a:solidFill>
                    <a:schemeClr val="tx1"/>
                  </a:solidFill>
                  <a:latin typeface="Consolas" panose="020B0609020204030204" pitchFamily="49" charset="0"/>
                </a:rPr>
                <a:t>db.set(“Trans:db_key”, trans_msg)</a:t>
              </a:r>
            </a:p>
            <a:p>
              <a:pPr defTabSz="182880"/>
              <a:r>
                <a:rPr lang="en-US" sz="800">
                  <a:solidFill>
                    <a:schemeClr val="tx1"/>
                  </a:solidFill>
                  <a:latin typeface="Consolas" panose="020B0609020204030204" pitchFamily="49" charset="0"/>
                </a:rPr>
                <a:t>db.set(“TRANS:ACK”, “Waiting”)</a:t>
              </a:r>
            </a:p>
            <a:p>
              <a:pPr defTabSz="182880"/>
              <a:endParaRPr lang="en-US" sz="800">
                <a:solidFill>
                  <a:schemeClr val="tx1"/>
                </a:solidFill>
                <a:latin typeface="Consolas" panose="020B0609020204030204" pitchFamily="49" charset="0"/>
              </a:endParaRPr>
            </a:p>
            <a:p>
              <a:pPr defTabSz="182880"/>
              <a:r>
                <a:rPr lang="en-US" sz="800">
                  <a:solidFill>
                    <a:schemeClr val="tx1"/>
                  </a:solidFill>
                  <a:latin typeface="Consolas" panose="020B0609020204030204" pitchFamily="49" charset="0"/>
                </a:rPr>
                <a:t>monitor_key()</a:t>
              </a:r>
            </a:p>
          </p:txBody>
        </p:sp>
        <p:sp>
          <p:nvSpPr>
            <p:cNvPr id="32" name="Rectangle 5">
              <a:extLst>
                <a:ext uri="{FF2B5EF4-FFF2-40B4-BE49-F238E27FC236}">
                  <a16:creationId xmlns:a16="http://schemas.microsoft.com/office/drawing/2014/main" id="{4E034A51-4F61-86F6-252A-512686F0CED7}"/>
                </a:ext>
              </a:extLst>
            </p:cNvPr>
            <p:cNvSpPr/>
            <p:nvPr/>
          </p:nvSpPr>
          <p:spPr>
            <a:xfrm>
              <a:off x="9566820" y="1116623"/>
              <a:ext cx="2568358" cy="2646622"/>
            </a:xfrm>
            <a:prstGeom prst="rect">
              <a:avLst/>
            </a:prstGeom>
            <a:solidFill>
              <a:schemeClr val="accent6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3">
                <a:shade val="50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defTabSz="182880"/>
              <a:r>
                <a:rPr lang="en-US" sz="800">
                  <a:solidFill>
                    <a:schemeClr val="tx1"/>
                  </a:solidFill>
                  <a:latin typeface="Consolas" panose="020B0609020204030204" pitchFamily="49" charset="0"/>
                </a:rPr>
                <a:t>while retry &lt; RETRY_MAX:</a:t>
              </a:r>
            </a:p>
            <a:p>
              <a:pPr defTabSz="182880"/>
              <a:r>
                <a:rPr lang="en-US" sz="800">
                  <a:solidFill>
                    <a:schemeClr val="tx1"/>
                  </a:solidFill>
                  <a:latin typeface="Consolas" panose="020B0609020204030204" pitchFamily="49" charset="0"/>
                </a:rPr>
                <a:t>	if db.get(“RFSYSTEM:STATE”) == “Hold”:</a:t>
              </a:r>
            </a:p>
            <a:p>
              <a:pPr defTabSz="182880"/>
              <a:r>
                <a:rPr lang="en-US" sz="800">
                  <a:solidFill>
                    <a:schemeClr val="tx1"/>
                  </a:solidFill>
                  <a:latin typeface="Consolas" panose="020B0609020204030204" pitchFamily="49" charset="0"/>
                </a:rPr>
                <a:t>		return</a:t>
              </a:r>
            </a:p>
            <a:p>
              <a:pPr defTabSz="182880"/>
              <a:r>
                <a:rPr lang="en-US" sz="800">
                  <a:solidFill>
                    <a:schemeClr val="tx1"/>
                  </a:solidFill>
                  <a:latin typeface="Consolas" panose="020B0609020204030204" pitchFamily="49" charset="0"/>
                </a:rPr>
                <a:t>	elif db.get(“TRANS:ACK”) != “</a:t>
              </a:r>
              <a:r>
                <a:rPr lang="en-US" altLang="zh-TW" sz="800">
                  <a:solidFill>
                    <a:schemeClr val="tx1"/>
                  </a:solidFill>
                  <a:latin typeface="Consolas" panose="020B0609020204030204" pitchFamily="49" charset="0"/>
                </a:rPr>
                <a:t>Waiting</a:t>
              </a:r>
              <a:r>
                <a:rPr lang="en-US" sz="800">
                  <a:solidFill>
                    <a:schemeClr val="tx1"/>
                  </a:solidFill>
                  <a:latin typeface="Consolas" panose="020B0609020204030204" pitchFamily="49" charset="0"/>
                </a:rPr>
                <a:t>”</a:t>
              </a:r>
            </a:p>
            <a:p>
              <a:pPr defTabSz="182880"/>
              <a:r>
                <a:rPr lang="en-US" sz="800">
                  <a:solidFill>
                    <a:schemeClr val="tx1"/>
                  </a:solidFill>
                  <a:latin typeface="Consolas" panose="020B0609020204030204" pitchFamily="49" charset="0"/>
                </a:rPr>
                <a:t>		return</a:t>
              </a:r>
            </a:p>
            <a:p>
              <a:pPr defTabSz="182880"/>
              <a:r>
                <a:rPr lang="en-US" sz="800">
                  <a:solidFill>
                    <a:schemeClr val="tx1"/>
                  </a:solidFill>
                  <a:latin typeface="Consolas" panose="020B0609020204030204" pitchFamily="49" charset="0"/>
                </a:rPr>
                <a:t>	elif wait_time &lt; MAX_TIME:</a:t>
              </a:r>
            </a:p>
            <a:p>
              <a:pPr defTabSz="182880"/>
              <a:r>
                <a:rPr lang="en-US" sz="800">
                  <a:solidFill>
                    <a:schemeClr val="tx1"/>
                  </a:solidFill>
                  <a:latin typeface="Consolas" panose="020B0609020204030204" pitchFamily="49" charset="0"/>
                </a:rPr>
                <a:t>		time.sleep(wait_</a:t>
              </a:r>
              <a:r>
                <a:rPr lang="en-US" altLang="zh-TW" sz="800">
                  <a:solidFill>
                    <a:schemeClr val="tx1"/>
                  </a:solidFill>
                  <a:latin typeface="Consolas" panose="020B0609020204030204" pitchFamily="49" charset="0"/>
                </a:rPr>
                <a:t> interval</a:t>
              </a:r>
              <a:r>
                <a:rPr lang="en-US" sz="800">
                  <a:solidFill>
                    <a:schemeClr val="tx1"/>
                  </a:solidFill>
                  <a:latin typeface="Consolas" panose="020B0609020204030204" pitchFamily="49" charset="0"/>
                </a:rPr>
                <a:t>)</a:t>
              </a:r>
            </a:p>
            <a:p>
              <a:pPr defTabSz="182880"/>
              <a:r>
                <a:rPr lang="en-US" sz="800">
                  <a:solidFill>
                    <a:schemeClr val="tx1"/>
                  </a:solidFill>
                  <a:latin typeface="Consolas" panose="020B0609020204030204" pitchFamily="49" charset="0"/>
                </a:rPr>
                <a:t>		</a:t>
              </a:r>
              <a:r>
                <a:rPr lang="en-US" altLang="zh-TW" sz="800">
                  <a:solidFill>
                    <a:schemeClr val="tx1"/>
                  </a:solidFill>
                  <a:latin typeface="Consolas" panose="020B0609020204030204" pitchFamily="49" charset="0"/>
                </a:rPr>
                <a:t> wait_time += wait_interval</a:t>
              </a:r>
            </a:p>
            <a:p>
              <a:pPr defTabSz="182880"/>
              <a:r>
                <a:rPr lang="en-US" sz="800">
                  <a:solidFill>
                    <a:schemeClr val="tx1"/>
                  </a:solidFill>
                  <a:latin typeface="Consolas" panose="020B0609020204030204" pitchFamily="49" charset="0"/>
                </a:rPr>
                <a:t>	else:</a:t>
              </a:r>
            </a:p>
            <a:p>
              <a:pPr defTabSz="182880"/>
              <a:r>
                <a:rPr lang="en-US" sz="800">
                  <a:solidFill>
                    <a:schemeClr val="tx1"/>
                  </a:solidFill>
                  <a:latin typeface="Consolas" panose="020B0609020204030204" pitchFamily="49" charset="0"/>
                </a:rPr>
                <a:t>		retry += 1</a:t>
              </a:r>
            </a:p>
            <a:p>
              <a:pPr defTabSz="182880"/>
              <a:r>
                <a:rPr lang="en-US" sz="800">
                  <a:solidFill>
                    <a:schemeClr val="tx1"/>
                  </a:solidFill>
                  <a:latin typeface="Consolas" panose="020B0609020204030204" pitchFamily="49" charset="0"/>
                </a:rPr>
                <a:t>		wait_time = 0</a:t>
              </a:r>
            </a:p>
            <a:p>
              <a:pPr defTabSz="182880"/>
              <a:r>
                <a:rPr lang="en-US" sz="800">
                  <a:solidFill>
                    <a:schemeClr val="tx1"/>
                  </a:solidFill>
                  <a:latin typeface="Consolas" panose="020B0609020204030204" pitchFamily="49" charset="0"/>
                </a:rPr>
                <a:t>		db.delete(</a:t>
              </a:r>
              <a:r>
                <a:rPr lang="en-US" altLang="zh-TW" sz="800">
                  <a:solidFill>
                    <a:schemeClr val="tx1"/>
                  </a:solidFill>
                  <a:latin typeface="Consolas" panose="020B0609020204030204" pitchFamily="49" charset="0"/>
                </a:rPr>
                <a:t>“Trans:db_key”</a:t>
              </a:r>
              <a:r>
                <a:rPr lang="en-US" sz="800">
                  <a:solidFill>
                    <a:schemeClr val="tx1"/>
                  </a:solidFill>
                  <a:latin typeface="Consolas" panose="020B0609020204030204" pitchFamily="49" charset="0"/>
                </a:rPr>
                <a:t>)</a:t>
              </a:r>
            </a:p>
            <a:p>
              <a:pPr defTabSz="182880"/>
              <a:r>
                <a:rPr lang="en-US" sz="800">
                  <a:solidFill>
                    <a:schemeClr val="tx1"/>
                  </a:solidFill>
                  <a:latin typeface="Consolas" panose="020B0609020204030204" pitchFamily="49" charset="0"/>
                </a:rPr>
                <a:t>		db.set(</a:t>
              </a:r>
              <a:r>
                <a:rPr lang="en-US" altLang="zh-TW" sz="800">
                  <a:solidFill>
                    <a:schemeClr val="tx1"/>
                  </a:solidFill>
                  <a:latin typeface="Consolas" panose="020B0609020204030204" pitchFamily="49" charset="0"/>
                </a:rPr>
                <a:t>“Trans:db_key”, trans_msg)</a:t>
              </a:r>
            </a:p>
            <a:p>
              <a:pPr defTabSz="182880"/>
              <a:endParaRPr lang="en-US" sz="800">
                <a:solidFill>
                  <a:schemeClr val="tx1"/>
                </a:solidFill>
                <a:latin typeface="Consolas" panose="020B0609020204030204" pitchFamily="49" charset="0"/>
              </a:endParaRPr>
            </a:p>
            <a:p>
              <a:pPr defTabSz="182880"/>
              <a:r>
                <a:rPr lang="en-US" sz="800">
                  <a:solidFill>
                    <a:schemeClr val="tx1"/>
                  </a:solidFill>
                  <a:latin typeface="Consolas" panose="020B0609020204030204" pitchFamily="49" charset="0"/>
                </a:rPr>
                <a:t>abort_monitor()</a:t>
              </a:r>
            </a:p>
          </p:txBody>
        </p:sp>
        <p:sp>
          <p:nvSpPr>
            <p:cNvPr id="33" name="Rectangle 5">
              <a:extLst>
                <a:ext uri="{FF2B5EF4-FFF2-40B4-BE49-F238E27FC236}">
                  <a16:creationId xmlns:a16="http://schemas.microsoft.com/office/drawing/2014/main" id="{413CEC89-9595-FC03-451D-B26F84FBE0F0}"/>
                </a:ext>
              </a:extLst>
            </p:cNvPr>
            <p:cNvSpPr/>
            <p:nvPr/>
          </p:nvSpPr>
          <p:spPr>
            <a:xfrm>
              <a:off x="9650272" y="3003247"/>
              <a:ext cx="2484906" cy="721071"/>
            </a:xfrm>
            <a:prstGeom prst="rect">
              <a:avLst/>
            </a:prstGeom>
            <a:solidFill>
              <a:schemeClr val="accent6">
                <a:lumMod val="60000"/>
                <a:lumOff val="40000"/>
              </a:schemeClr>
            </a:solidFill>
            <a:ln>
              <a:noFill/>
            </a:ln>
          </p:spPr>
          <p:style>
            <a:lnRef idx="2">
              <a:schemeClr val="accent3">
                <a:shade val="50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defTabSz="182880"/>
              <a:r>
                <a:rPr lang="en-US" sz="800">
                  <a:solidFill>
                    <a:schemeClr val="tx1"/>
                  </a:solidFill>
                  <a:latin typeface="Consolas" panose="020B0609020204030204" pitchFamily="49" charset="0"/>
                </a:rPr>
                <a:t>db.set(“RECEPTION”, db_key)</a:t>
              </a:r>
            </a:p>
            <a:p>
              <a:pPr defTabSz="182880"/>
              <a:r>
                <a:rPr lang="en-US" sz="800">
                  <a:solidFill>
                    <a:schemeClr val="tx1"/>
                  </a:solidFill>
                  <a:latin typeface="Consolas" panose="020B0609020204030204" pitchFamily="49" charset="0"/>
                </a:rPr>
                <a:t>db.set(“db_key:ACK”, “Fail”)</a:t>
              </a:r>
            </a:p>
            <a:p>
              <a:pPr defTabSz="182880"/>
              <a:r>
                <a:rPr lang="en-US" sz="800">
                  <a:solidFill>
                    <a:schemeClr val="tx1"/>
                  </a:solidFill>
                  <a:latin typeface="Consolas" panose="020B0609020204030204" pitchFamily="49" charset="0"/>
                </a:rPr>
                <a:t>db.set(“RFDEVICE:STATE”, “Idle”)</a:t>
              </a:r>
            </a:p>
            <a:p>
              <a:pPr defTabSz="182880"/>
              <a:r>
                <a:rPr lang="en-US" sz="800">
                  <a:solidFill>
                    <a:schemeClr val="tx1"/>
                  </a:solidFill>
                  <a:latin typeface="Consolas" panose="020B0609020204030204" pitchFamily="49" charset="0"/>
                </a:rPr>
                <a:t>db.set(“TRANS:ACK”, “Failed”)</a:t>
              </a:r>
            </a:p>
            <a:p>
              <a:pPr defTabSz="182880"/>
              <a:r>
                <a:rPr lang="en-US" sz="800">
                  <a:solidFill>
                    <a:schemeClr val="tx1"/>
                  </a:solidFill>
                  <a:latin typeface="Consolas" panose="020B0609020204030204" pitchFamily="49" charset="0"/>
                </a:rPr>
                <a:t>db.rpop(“QUEUE:LIST:TRANS”)</a:t>
              </a:r>
            </a:p>
          </p:txBody>
        </p:sp>
        <p:sp>
          <p:nvSpPr>
            <p:cNvPr id="35" name="Rectangle 5">
              <a:extLst>
                <a:ext uri="{FF2B5EF4-FFF2-40B4-BE49-F238E27FC236}">
                  <a16:creationId xmlns:a16="http://schemas.microsoft.com/office/drawing/2014/main" id="{4C6FC070-F134-6018-9144-98A5C39A4A7C}"/>
                </a:ext>
              </a:extLst>
            </p:cNvPr>
            <p:cNvSpPr/>
            <p:nvPr/>
          </p:nvSpPr>
          <p:spPr>
            <a:xfrm>
              <a:off x="96341" y="83933"/>
              <a:ext cx="4186902" cy="2827709"/>
            </a:xfrm>
            <a:prstGeom prst="rect">
              <a:avLst/>
            </a:prstGeom>
            <a:solidFill>
              <a:schemeClr val="accent5">
                <a:lumMod val="20000"/>
                <a:lumOff val="80000"/>
              </a:schemeClr>
            </a:solidFill>
            <a:ln>
              <a:noFill/>
            </a:ln>
          </p:spPr>
          <p:style>
            <a:lnRef idx="2">
              <a:schemeClr val="accent3">
                <a:shade val="50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defTabSz="182880"/>
              <a:r>
                <a:rPr lang="en-US" sz="800">
                  <a:solidFill>
                    <a:schemeClr val="tx1"/>
                  </a:solidFill>
                  <a:latin typeface="Consolas" panose="020B0609020204030204" pitchFamily="49" charset="0"/>
                </a:rPr>
                <a:t>if action == “CSI”:</a:t>
              </a:r>
            </a:p>
            <a:p>
              <a:pPr defTabSz="182880"/>
              <a:r>
                <a:rPr lang="en-US" sz="800">
                  <a:solidFill>
                    <a:schemeClr val="tx1"/>
                  </a:solidFill>
                  <a:latin typeface="Consolas" panose="020B0609020204030204" pitchFamily="49" charset="0"/>
                </a:rPr>
                <a:t>	csi_key = db.get(“SYSTEM:ACTION:CSI”)</a:t>
              </a:r>
            </a:p>
            <a:p>
              <a:pPr defTabSz="182880"/>
              <a:r>
                <a:rPr lang="en-US" sz="800">
                  <a:solidFill>
                    <a:schemeClr val="tx1"/>
                  </a:solidFill>
                  <a:latin typeface="Consolas" panose="020B0609020204030204" pitchFamily="49" charset="0"/>
                </a:rPr>
                <a:t>	db.lpush(“SYSTEM:CSI:QUEUE”, </a:t>
              </a:r>
              <a:r>
                <a:rPr lang="en-US" altLang="zh-TW" sz="800">
                  <a:solidFill>
                    <a:schemeClr val="tx1"/>
                  </a:solidFill>
                  <a:latin typeface="Consolas" panose="020B0609020204030204" pitchFamily="49" charset="0"/>
                </a:rPr>
                <a:t>csi_key</a:t>
              </a:r>
              <a:r>
                <a:rPr lang="en-US" sz="800">
                  <a:solidFill>
                    <a:schemeClr val="tx1"/>
                  </a:solidFill>
                  <a:latin typeface="Consolas" panose="020B0609020204030204" pitchFamily="49" charset="0"/>
                </a:rPr>
                <a:t>)</a:t>
              </a:r>
            </a:p>
            <a:p>
              <a:pPr defTabSz="182880"/>
              <a:r>
                <a:rPr lang="en-US" sz="800">
                  <a:solidFill>
                    <a:schemeClr val="tx1"/>
                  </a:solidFill>
                  <a:latin typeface="Consolas" panose="020B0609020204030204" pitchFamily="49" charset="0"/>
                </a:rPr>
                <a:t>	if len(db.lrange(“SYSTEM:CSI:QUEUE”, 0, -1)) &gt; CSI_Q_MAX:</a:t>
              </a:r>
            </a:p>
            <a:p>
              <a:pPr defTabSz="182880"/>
              <a:r>
                <a:rPr lang="en-US" sz="800">
                  <a:solidFill>
                    <a:schemeClr val="tx1"/>
                  </a:solidFill>
                  <a:latin typeface="Consolas" panose="020B0609020204030204" pitchFamily="49" charset="0"/>
                </a:rPr>
                <a:t>		oldest_csi_key = </a:t>
              </a:r>
              <a:r>
                <a:rPr lang="en-US" altLang="zh-TW" sz="800">
                  <a:solidFill>
                    <a:schemeClr val="tx1"/>
                  </a:solidFill>
                  <a:latin typeface="Consolas" panose="020B0609020204030204" pitchFamily="49" charset="0"/>
                </a:rPr>
                <a:t>db.rpop(“SYSTEM:CSI:QUEUE”)</a:t>
              </a:r>
            </a:p>
            <a:p>
              <a:pPr defTabSz="182880"/>
              <a:r>
                <a:rPr lang="en-US" sz="800">
                  <a:solidFill>
                    <a:schemeClr val="tx1"/>
                  </a:solidFill>
                  <a:latin typeface="Consolas" panose="020B0609020204030204" pitchFamily="49" charset="0"/>
                </a:rPr>
                <a:t>		db.delete(</a:t>
              </a:r>
              <a:r>
                <a:rPr lang="en-US" altLang="zh-TW" sz="800">
                  <a:solidFill>
                    <a:schemeClr val="tx1"/>
                  </a:solidFill>
                  <a:latin typeface="Consolas" panose="020B0609020204030204" pitchFamily="49" charset="0"/>
                </a:rPr>
                <a:t>oldest_csi_key</a:t>
              </a:r>
              <a:r>
                <a:rPr lang="en-US" sz="800">
                  <a:solidFill>
                    <a:schemeClr val="tx1"/>
                  </a:solidFill>
                  <a:latin typeface="Consolas" panose="020B0609020204030204" pitchFamily="49" charset="0"/>
                </a:rPr>
                <a:t>)</a:t>
              </a:r>
            </a:p>
            <a:p>
              <a:pPr defTabSz="182880"/>
              <a:r>
                <a:rPr lang="en-US" sz="800">
                  <a:solidFill>
                    <a:schemeClr val="tx1"/>
                  </a:solidFill>
                  <a:latin typeface="Consolas" panose="020B0609020204030204" pitchFamily="49" charset="0"/>
                </a:rPr>
                <a:t>		detect_interference()</a:t>
              </a:r>
            </a:p>
          </p:txBody>
        </p:sp>
        <p:sp>
          <p:nvSpPr>
            <p:cNvPr id="36" name="Rectangle 5">
              <a:extLst>
                <a:ext uri="{FF2B5EF4-FFF2-40B4-BE49-F238E27FC236}">
                  <a16:creationId xmlns:a16="http://schemas.microsoft.com/office/drawing/2014/main" id="{B9844FD0-75E9-1256-A849-A6F65F4B0A1F}"/>
                </a:ext>
              </a:extLst>
            </p:cNvPr>
            <p:cNvSpPr/>
            <p:nvPr/>
          </p:nvSpPr>
          <p:spPr>
            <a:xfrm>
              <a:off x="96340" y="2911642"/>
              <a:ext cx="4186902" cy="3902531"/>
            </a:xfrm>
            <a:prstGeom prst="rect">
              <a:avLst/>
            </a:prstGeom>
            <a:solidFill>
              <a:schemeClr val="accent5">
                <a:lumMod val="20000"/>
                <a:lumOff val="80000"/>
              </a:schemeClr>
            </a:solidFill>
            <a:ln>
              <a:noFill/>
            </a:ln>
          </p:spPr>
          <p:style>
            <a:lnRef idx="2">
              <a:schemeClr val="accent3">
                <a:shade val="50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defTabSz="182880"/>
              <a:r>
                <a:rPr lang="en-US" sz="800">
                  <a:solidFill>
                    <a:schemeClr val="tx1"/>
                  </a:solidFill>
                  <a:latin typeface="Consolas" panose="020B0609020204030204" pitchFamily="49" charset="0"/>
                </a:rPr>
                <a:t>elif action == “HOP”:</a:t>
              </a:r>
            </a:p>
            <a:p>
              <a:pPr defTabSz="182880"/>
              <a:r>
                <a:rPr lang="en-US" sz="800">
                  <a:solidFill>
                    <a:schemeClr val="tx1"/>
                  </a:solidFill>
                  <a:latin typeface="Consolas" panose="020B0609020204030204" pitchFamily="49" charset="0"/>
                </a:rPr>
                <a:t>	action_to_hop()</a:t>
              </a:r>
            </a:p>
          </p:txBody>
        </p:sp>
        <p:sp>
          <p:nvSpPr>
            <p:cNvPr id="37" name="Rectangle 5">
              <a:extLst>
                <a:ext uri="{FF2B5EF4-FFF2-40B4-BE49-F238E27FC236}">
                  <a16:creationId xmlns:a16="http://schemas.microsoft.com/office/drawing/2014/main" id="{92933343-09AA-0E9D-7185-5EFCE31A8213}"/>
                </a:ext>
              </a:extLst>
            </p:cNvPr>
            <p:cNvSpPr/>
            <p:nvPr/>
          </p:nvSpPr>
          <p:spPr>
            <a:xfrm>
              <a:off x="4283242" y="4685121"/>
              <a:ext cx="3641789" cy="2066743"/>
            </a:xfrm>
            <a:prstGeom prst="rect">
              <a:avLst/>
            </a:prstGeom>
            <a:solidFill>
              <a:schemeClr val="accent5">
                <a:lumMod val="20000"/>
                <a:lumOff val="80000"/>
              </a:schemeClr>
            </a:solidFill>
            <a:ln>
              <a:noFill/>
            </a:ln>
          </p:spPr>
          <p:style>
            <a:lnRef idx="2">
              <a:schemeClr val="accent3">
                <a:shade val="50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defTabSz="182880"/>
              <a:r>
                <a:rPr lang="en-US" sz="800">
                  <a:solidFill>
                    <a:schemeClr val="tx1"/>
                  </a:solidFill>
                  <a:latin typeface="Consolas" panose="020B0609020204030204" pitchFamily="49" charset="0"/>
                </a:rPr>
                <a:t>elif action == “CEHCK”:</a:t>
              </a:r>
            </a:p>
            <a:p>
              <a:pPr defTabSz="182880"/>
              <a:r>
                <a:rPr lang="en-US" sz="800">
                  <a:solidFill>
                    <a:schemeClr val="tx1"/>
                  </a:solidFill>
                  <a:latin typeface="Consolas" panose="020B0609020204030204" pitchFamily="49" charset="0"/>
                </a:rPr>
                <a:t>	if msg[“data”] != “expired”:</a:t>
              </a:r>
            </a:p>
            <a:p>
              <a:pPr defTabSz="182880"/>
              <a:r>
                <a:rPr lang="en-US" sz="800">
                  <a:solidFill>
                    <a:schemeClr val="tx1"/>
                  </a:solidFill>
                  <a:latin typeface="Consolas" panose="020B0609020204030204" pitchFamily="49" charset="0"/>
                </a:rPr>
                <a:t>		return</a:t>
              </a:r>
            </a:p>
            <a:p>
              <a:pPr defTabSz="182880"/>
              <a:r>
                <a:rPr lang="en-US" sz="800">
                  <a:solidFill>
                    <a:schemeClr val="tx1"/>
                  </a:solidFill>
                  <a:latin typeface="Consolas" panose="020B0609020204030204" pitchFamily="49" charset="0"/>
                </a:rPr>
                <a:t>	if db.get(“SYSTEM:ACTION:CHECK”) is not None:</a:t>
              </a:r>
            </a:p>
            <a:p>
              <a:pPr defTabSz="182880"/>
              <a:r>
                <a:rPr lang="en-US" sz="800">
                  <a:solidFill>
                    <a:schemeClr val="tx1"/>
                  </a:solidFill>
                  <a:latin typeface="Consolas" panose="020B0609020204030204" pitchFamily="49" charset="0"/>
                </a:rPr>
                <a:t>		return</a:t>
              </a:r>
            </a:p>
            <a:p>
              <a:pPr defTabSz="182880"/>
              <a:endParaRPr lang="en-US" sz="800">
                <a:solidFill>
                  <a:schemeClr val="tx1"/>
                </a:solidFill>
                <a:latin typeface="Consolas" panose="020B0609020204030204" pitchFamily="49" charset="0"/>
              </a:endParaRPr>
            </a:p>
            <a:p>
              <a:pPr defTabSz="182880"/>
              <a:r>
                <a:rPr lang="en-US" sz="800">
                  <a:solidFill>
                    <a:schemeClr val="tx1"/>
                  </a:solidFill>
                  <a:latin typeface="Consolas" panose="020B0609020204030204" pitchFamily="49" charset="0"/>
                </a:rPr>
                <a:t>	if db.get(“HOPPING_CTRL_ACT_NEW_FREQ_ACK”) is not None:</a:t>
              </a:r>
            </a:p>
            <a:p>
              <a:pPr defTabSz="182880"/>
              <a:r>
                <a:rPr lang="en-US" sz="800">
                  <a:solidFill>
                    <a:schemeClr val="tx1"/>
                  </a:solidFill>
                  <a:latin typeface="Consolas" panose="020B0609020204030204" pitchFamily="49" charset="0"/>
                </a:rPr>
                <a:t>		return</a:t>
              </a:r>
            </a:p>
            <a:p>
              <a:pPr defTabSz="182880"/>
              <a:r>
                <a:rPr lang="en-US" sz="800">
                  <a:solidFill>
                    <a:schemeClr val="tx1"/>
                  </a:solidFill>
                  <a:latin typeface="Consolas" panose="020B0609020204030204" pitchFamily="49" charset="0"/>
                </a:rPr>
                <a:t>	else:</a:t>
              </a:r>
            </a:p>
            <a:p>
              <a:pPr defTabSz="182880"/>
              <a:r>
                <a:rPr lang="en-US" sz="800">
                  <a:solidFill>
                    <a:schemeClr val="tx1"/>
                  </a:solidFill>
                  <a:latin typeface="Consolas" panose="020B0609020204030204" pitchFamily="49" charset="0"/>
                </a:rPr>
                <a:t>		old_freq = db.get(“SYSTEM:FREQ”)</a:t>
              </a:r>
            </a:p>
            <a:p>
              <a:pPr defTabSz="182880"/>
              <a:r>
                <a:rPr lang="en-US" sz="800">
                  <a:solidFill>
                    <a:schemeClr val="tx1"/>
                  </a:solidFill>
                  <a:latin typeface="Consolas" panose="020B0609020204030204" pitchFamily="49" charset="0"/>
                </a:rPr>
                <a:t>		db.hset(“TuneRF:11”, “Freq”, old_freq)</a:t>
              </a:r>
            </a:p>
            <a:p>
              <a:pPr defTabSz="182880"/>
              <a:r>
                <a:rPr lang="en-US" sz="800">
                  <a:solidFill>
                    <a:schemeClr val="tx1"/>
                  </a:solidFill>
                  <a:latin typeface="Consolas" panose="020B0609020204030204" pitchFamily="49" charset="0"/>
                </a:rPr>
                <a:t>		db.set(“RFSYSTEM:STATE”, “Free”)</a:t>
              </a:r>
            </a:p>
            <a:p>
              <a:pPr defTabSz="182880"/>
              <a:r>
                <a:rPr lang="en-US" sz="800">
                  <a:solidFill>
                    <a:schemeClr val="tx1"/>
                  </a:solidFill>
                  <a:latin typeface="Consolas" panose="020B0609020204030204" pitchFamily="49" charset="0"/>
                </a:rPr>
                <a:t>		db.set(“RFDEVICE:STATE”, “Idle”)</a:t>
              </a:r>
            </a:p>
            <a:p>
              <a:pPr defTabSz="182880"/>
              <a:endParaRPr lang="en-US" sz="800">
                <a:solidFill>
                  <a:schemeClr val="tx1"/>
                </a:solidFill>
                <a:latin typeface="Consolas" panose="020B0609020204030204" pitchFamily="49" charset="0"/>
              </a:endParaRPr>
            </a:p>
            <a:p>
              <a:pPr defTabSz="182880"/>
              <a:r>
                <a:rPr lang="en-US" sz="800">
                  <a:solidFill>
                    <a:schemeClr val="tx1"/>
                  </a:solidFill>
                  <a:latin typeface="Consolas" panose="020B0609020204030204" pitchFamily="49" charset="0"/>
                </a:rPr>
                <a:t>elif action == “DEBUG”:</a:t>
              </a:r>
            </a:p>
            <a:p>
              <a:pPr defTabSz="182880"/>
              <a:r>
                <a:rPr lang="en-US" altLang="zh-TW" sz="800">
                  <a:solidFill>
                    <a:schemeClr val="tx1"/>
                  </a:solidFill>
                  <a:latin typeface="Consolas" panose="020B0609020204030204" pitchFamily="49" charset="0"/>
                </a:rPr>
                <a:t>	detect_interference()</a:t>
              </a:r>
            </a:p>
            <a:p>
              <a:pPr defTabSz="182880"/>
              <a:endParaRPr lang="en-US" sz="800">
                <a:solidFill>
                  <a:schemeClr val="tx1"/>
                </a:solidFill>
                <a:latin typeface="Consolas" panose="020B0609020204030204" pitchFamily="49" charset="0"/>
              </a:endParaRPr>
            </a:p>
          </p:txBody>
        </p:sp>
        <p:sp>
          <p:nvSpPr>
            <p:cNvPr id="38" name="Rectangle 5">
              <a:extLst>
                <a:ext uri="{FF2B5EF4-FFF2-40B4-BE49-F238E27FC236}">
                  <a16:creationId xmlns:a16="http://schemas.microsoft.com/office/drawing/2014/main" id="{D98B896F-AC76-61BE-04F4-1CCC5C3CAC70}"/>
                </a:ext>
              </a:extLst>
            </p:cNvPr>
            <p:cNvSpPr/>
            <p:nvPr/>
          </p:nvSpPr>
          <p:spPr>
            <a:xfrm>
              <a:off x="548695" y="1017853"/>
              <a:ext cx="3734547" cy="1829622"/>
            </a:xfrm>
            <a:prstGeom prst="rect">
              <a:avLst/>
            </a:prstGeom>
            <a:solidFill>
              <a:schemeClr val="accent5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3">
                <a:shade val="50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defTabSz="182880"/>
              <a:r>
                <a:rPr lang="en-US" sz="800">
                  <a:solidFill>
                    <a:schemeClr val="tx1"/>
                  </a:solidFill>
                  <a:latin typeface="Consolas" panose="020B0609020204030204" pitchFamily="49" charset="0"/>
                </a:rPr>
                <a:t>if detected:</a:t>
              </a:r>
            </a:p>
            <a:p>
              <a:pPr defTabSz="182880"/>
              <a:r>
                <a:rPr lang="en-US" sz="800">
                  <a:solidFill>
                    <a:schemeClr val="tx1"/>
                  </a:solidFill>
                  <a:latin typeface="Consolas" panose="020B0609020204030204" pitchFamily="49" charset="0"/>
                </a:rPr>
                <a:t>	db.hset(“SYSTEM:HOPPING”, “Stage”, 2)</a:t>
              </a:r>
            </a:p>
            <a:p>
              <a:pPr defTabSz="182880"/>
              <a:r>
                <a:rPr lang="en-US" sz="800">
                  <a:solidFill>
                    <a:schemeClr val="tx1"/>
                  </a:solidFill>
                  <a:latin typeface="Consolas" panose="020B0609020204030204" pitchFamily="49" charset="0"/>
                </a:rPr>
                <a:t>	db.set(“SYSTEM:STATE”, “Hold”)</a:t>
              </a:r>
            </a:p>
            <a:p>
              <a:pPr defTabSz="182880"/>
              <a:r>
                <a:rPr lang="en-US" sz="800">
                  <a:solidFill>
                    <a:schemeClr val="tx1"/>
                  </a:solidFill>
                  <a:latin typeface="Consolas" panose="020B0609020204030204" pitchFamily="49" charset="0"/>
                </a:rPr>
                <a:t>	hop_to = 2442000000</a:t>
              </a:r>
            </a:p>
            <a:p>
              <a:pPr defTabSz="182880"/>
              <a:r>
                <a:rPr lang="en-US" sz="800">
                  <a:solidFill>
                    <a:schemeClr val="tx1"/>
                  </a:solidFill>
                  <a:latin typeface="Consolas" panose="020B0609020204030204" pitchFamily="49" charset="0"/>
                </a:rPr>
                <a:t>	pre_freq = db.get(“SYSTEM:FREQ”)</a:t>
              </a:r>
            </a:p>
            <a:p>
              <a:pPr defTabSz="182880"/>
              <a:r>
                <a:rPr lang="en-US" sz="800">
                  <a:solidFill>
                    <a:schemeClr val="tx1"/>
                  </a:solidFill>
                  <a:latin typeface="Consolas" panose="020B0609020204030204" pitchFamily="49" charset="0"/>
                </a:rPr>
                <a:t>	</a:t>
              </a:r>
            </a:p>
            <a:p>
              <a:pPr defTabSz="182880"/>
              <a:r>
                <a:rPr lang="en-US" sz="800">
                  <a:solidFill>
                    <a:schemeClr val="tx1"/>
                  </a:solidFill>
                  <a:latin typeface="Consolas" panose="020B0609020204030204" pitchFamily="49" charset="0"/>
                </a:rPr>
                <a:t>	for i in range(5):</a:t>
              </a:r>
            </a:p>
            <a:p>
              <a:pPr defTabSz="182880"/>
              <a:r>
                <a:rPr lang="en-US" sz="800">
                  <a:solidFill>
                    <a:schemeClr val="tx1"/>
                  </a:solidFill>
                  <a:latin typeface="Consolas" panose="020B0609020204030204" pitchFamily="49" charset="0"/>
                </a:rPr>
                <a:t>		db.hmset(“SYSTEM:HOPPING”, {“Role”: “Initiator”, “Stage”: 3, “Freq”: hop_to, “PreFreq”: pre_freq})</a:t>
              </a:r>
            </a:p>
            <a:p>
              <a:pPr defTabSz="182880"/>
              <a:r>
                <a:rPr lang="en-US" sz="800">
                  <a:solidFill>
                    <a:schemeClr val="tx1"/>
                  </a:solidFill>
                  <a:latin typeface="Consolas" panose="020B0609020204030204" pitchFamily="49" charset="0"/>
                </a:rPr>
                <a:t>		db.set(“Trans:FREQ:HOP”, {“ControlType”: “HOP”, “ControlAction”: hop_to}, “Role”: “Follower”)</a:t>
              </a:r>
            </a:p>
            <a:p>
              <a:pPr defTabSz="182880"/>
              <a:r>
                <a:rPr lang="en-US" sz="800">
                  <a:solidFill>
                    <a:schemeClr val="tx1"/>
                  </a:solidFill>
                  <a:latin typeface="Consolas" panose="020B0609020204030204" pitchFamily="49" charset="0"/>
                </a:rPr>
                <a:t>		time.sleep(0.01)</a:t>
              </a:r>
            </a:p>
            <a:p>
              <a:pPr defTabSz="182880"/>
              <a:r>
                <a:rPr lang="en-US" sz="800">
                  <a:solidFill>
                    <a:schemeClr val="tx1"/>
                  </a:solidFill>
                  <a:latin typeface="Consolas" panose="020B0609020204030204" pitchFamily="49" charset="0"/>
                </a:rPr>
                <a:t>	db.hmset(“TuneRF:11”, {“Freq”: hop_to, “Gain”: 0.4})</a:t>
              </a:r>
            </a:p>
            <a:p>
              <a:pPr defTabSz="182880"/>
              <a:r>
                <a:rPr lang="en-US" sz="800">
                  <a:solidFill>
                    <a:schemeClr val="tx1"/>
                  </a:solidFill>
                  <a:latin typeface="Consolas" panose="020B0609020204030204" pitchFamily="49" charset="0"/>
                </a:rPr>
                <a:t>	db.set(“SYSTEM:ACTION:CHECK”, “True”, ex=10)</a:t>
              </a:r>
            </a:p>
            <a:p>
              <a:pPr defTabSz="182880"/>
              <a:r>
                <a:rPr lang="en-US" sz="800">
                  <a:solidFill>
                    <a:schemeClr val="tx1"/>
                  </a:solidFill>
                  <a:latin typeface="Consolas" panose="020B0609020204030204" pitchFamily="49" charset="0"/>
                </a:rPr>
                <a:t>	</a:t>
              </a:r>
            </a:p>
            <a:p>
              <a:pPr defTabSz="182880"/>
              <a:endParaRPr lang="en-US" sz="800">
                <a:solidFill>
                  <a:schemeClr val="tx1"/>
                </a:solidFill>
                <a:latin typeface="Consolas" panose="020B0609020204030204" pitchFamily="49" charset="0"/>
              </a:endParaRPr>
            </a:p>
          </p:txBody>
        </p:sp>
        <p:sp>
          <p:nvSpPr>
            <p:cNvPr id="39" name="Rectangle 5">
              <a:extLst>
                <a:ext uri="{FF2B5EF4-FFF2-40B4-BE49-F238E27FC236}">
                  <a16:creationId xmlns:a16="http://schemas.microsoft.com/office/drawing/2014/main" id="{E728C183-FB76-7B35-A254-341B6EFE73DA}"/>
                </a:ext>
              </a:extLst>
            </p:cNvPr>
            <p:cNvSpPr/>
            <p:nvPr/>
          </p:nvSpPr>
          <p:spPr>
            <a:xfrm>
              <a:off x="379545" y="3204000"/>
              <a:ext cx="3903697" cy="3547864"/>
            </a:xfrm>
            <a:prstGeom prst="rect">
              <a:avLst/>
            </a:prstGeom>
            <a:solidFill>
              <a:schemeClr val="accent5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3">
                <a:shade val="50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defTabSz="182880"/>
              <a:r>
                <a:rPr lang="en-US" sz="800">
                  <a:solidFill>
                    <a:schemeClr val="tx1"/>
                  </a:solidFill>
                  <a:latin typeface="Consolas" panose="020B0609020204030204" pitchFamily="49" charset="0"/>
                </a:rPr>
                <a:t>role = db.hget(“SYSTEM:HOPPING”, “Role”)</a:t>
              </a:r>
            </a:p>
            <a:p>
              <a:pPr defTabSz="182880"/>
              <a:r>
                <a:rPr lang="en-US" sz="800">
                  <a:solidFill>
                    <a:schemeClr val="tx1"/>
                  </a:solidFill>
                  <a:latin typeface="Consolas" panose="020B0609020204030204" pitchFamily="49" charset="0"/>
                </a:rPr>
                <a:t>if role == “Initiator”:</a:t>
              </a:r>
            </a:p>
            <a:p>
              <a:pPr defTabSz="182880"/>
              <a:r>
                <a:rPr lang="en-US" sz="800">
                  <a:solidFill>
                    <a:schemeClr val="tx1"/>
                  </a:solidFill>
                  <a:latin typeface="Consolas" panose="020B0609020204030204" pitchFamily="49" charset="0"/>
                </a:rPr>
                <a:t>	if payload[“ControlAction”] == “HOLD:ACK”:</a:t>
              </a:r>
            </a:p>
            <a:p>
              <a:pPr defTabSz="182880"/>
              <a:r>
                <a:rPr lang="en-US" sz="800">
                  <a:solidFill>
                    <a:schemeClr val="tx1"/>
                  </a:solidFill>
                  <a:latin typeface="Consolas" panose="020B0609020204030204" pitchFamily="49" charset="0"/>
                </a:rPr>
                <a:t>		</a:t>
              </a:r>
              <a:r>
                <a:rPr lang="en-US" altLang="zh-TW" sz="800">
                  <a:solidFill>
                    <a:schemeClr val="tx1"/>
                  </a:solidFill>
                  <a:latin typeface="Consolas" panose="020B0609020204030204" pitchFamily="49" charset="0"/>
                </a:rPr>
                <a:t>hop_to = db.hget(“SYSTEM:HOPPING”, “Freq”)</a:t>
              </a:r>
              <a:endParaRPr lang="en-US" sz="800">
                <a:solidFill>
                  <a:schemeClr val="tx1"/>
                </a:solidFill>
                <a:latin typeface="Consolas" panose="020B0609020204030204" pitchFamily="49" charset="0"/>
              </a:endParaRPr>
            </a:p>
            <a:p>
              <a:pPr defTabSz="182880"/>
              <a:r>
                <a:rPr lang="en-US" sz="800">
                  <a:solidFill>
                    <a:schemeClr val="tx1"/>
                  </a:solidFill>
                  <a:latin typeface="Consolas" panose="020B0609020204030204" pitchFamily="49" charset="0"/>
                </a:rPr>
                <a:t>		db.hset(“TuneRF:11”, Freq, hop_to)</a:t>
              </a:r>
            </a:p>
            <a:p>
              <a:pPr defTabSz="182880"/>
              <a:r>
                <a:rPr lang="en-US" sz="800">
                  <a:solidFill>
                    <a:schemeClr val="tx1"/>
                  </a:solidFill>
                  <a:latin typeface="Consolas" panose="020B0609020204030204" pitchFamily="49" charset="0"/>
                </a:rPr>
                <a:t>		for i in range(5):</a:t>
              </a:r>
            </a:p>
            <a:p>
              <a:pPr defTabSz="182880"/>
              <a:r>
                <a:rPr lang="en-US" sz="800">
                  <a:solidFill>
                    <a:schemeClr val="tx1"/>
                  </a:solidFill>
                  <a:latin typeface="Consolas" panose="020B0609020204030204" pitchFamily="49" charset="0"/>
                </a:rPr>
                <a:t>			db.set(“Trans:FREQ:HOP”, json)</a:t>
              </a:r>
            </a:p>
            <a:p>
              <a:pPr defTabSz="182880"/>
              <a:r>
                <a:rPr lang="en-US" sz="800">
                  <a:solidFill>
                    <a:schemeClr val="tx1"/>
                  </a:solidFill>
                  <a:latin typeface="Consolas" panose="020B0609020204030204" pitchFamily="49" charset="0"/>
                </a:rPr>
                <a:t>			hset(“SYSTEM:HOPPING”, Stage, 8)</a:t>
              </a:r>
            </a:p>
            <a:p>
              <a:pPr defTabSz="182880"/>
              <a:r>
                <a:rPr lang="en-US" sz="800">
                  <a:solidFill>
                    <a:schemeClr val="tx1"/>
                  </a:solidFill>
                  <a:latin typeface="Consolas" panose="020B0609020204030204" pitchFamily="49" charset="0"/>
                </a:rPr>
                <a:t>			time.sleep(0.01)</a:t>
              </a:r>
            </a:p>
            <a:p>
              <a:pPr defTabSz="182880"/>
              <a:r>
                <a:rPr lang="en-US" sz="800">
                  <a:solidFill>
                    <a:schemeClr val="tx1"/>
                  </a:solidFill>
                  <a:latin typeface="Consolas" panose="020B0609020204030204" pitchFamily="49" charset="0"/>
                </a:rPr>
                <a:t>	elif </a:t>
              </a:r>
              <a:r>
                <a:rPr lang="en-US" altLang="zh-TW" sz="800">
                  <a:solidFill>
                    <a:schemeClr val="tx1"/>
                  </a:solidFill>
                  <a:latin typeface="Consolas" panose="020B0609020204030204" pitchFamily="49" charset="0"/>
                </a:rPr>
                <a:t>payload[“ControlAction”] == “NEW:FREQ:ACK”:</a:t>
              </a:r>
            </a:p>
            <a:p>
              <a:pPr defTabSz="182880"/>
              <a:r>
                <a:rPr lang="en-US" sz="800">
                  <a:solidFill>
                    <a:schemeClr val="tx1"/>
                  </a:solidFill>
                  <a:latin typeface="Consolas" panose="020B0609020204030204" pitchFamily="49" charset="0"/>
                </a:rPr>
                <a:t>		db.delete(“SYSTEM:ACTION:CHECK”)</a:t>
              </a:r>
            </a:p>
            <a:p>
              <a:pPr defTabSz="182880"/>
              <a:r>
                <a:rPr lang="en-US" sz="800">
                  <a:solidFill>
                    <a:schemeClr val="tx1"/>
                  </a:solidFill>
                  <a:latin typeface="Consolas" panose="020B0609020204030204" pitchFamily="49" charset="0"/>
                </a:rPr>
                <a:t>		db.set(“RFSYSTEM:STATE”, “Free”)		</a:t>
              </a:r>
            </a:p>
            <a:p>
              <a:pPr defTabSz="182880"/>
              <a:r>
                <a:rPr lang="en-US" sz="800">
                  <a:solidFill>
                    <a:schemeClr val="tx1"/>
                  </a:solidFill>
                  <a:latin typeface="Consolas" panose="020B0609020204030204" pitchFamily="49" charset="0"/>
                </a:rPr>
                <a:t>else:</a:t>
              </a:r>
            </a:p>
            <a:p>
              <a:pPr defTabSz="182880"/>
              <a:r>
                <a:rPr lang="en-US" sz="800">
                  <a:solidFill>
                    <a:schemeClr val="tx1"/>
                  </a:solidFill>
                  <a:latin typeface="Consolas" panose="020B0609020204030204" pitchFamily="49" charset="0"/>
                </a:rPr>
                <a:t>	if stage == 4:</a:t>
              </a:r>
            </a:p>
            <a:p>
              <a:pPr defTabSz="182880"/>
              <a:r>
                <a:rPr lang="en-US" sz="800">
                  <a:solidFill>
                    <a:schemeClr val="tx1"/>
                  </a:solidFill>
                  <a:latin typeface="Consolas" panose="020B0609020204030204" pitchFamily="49" charset="0"/>
                </a:rPr>
                <a:t>		pre_fre = db.get(“SYSTEM:FREQ”)</a:t>
              </a:r>
            </a:p>
            <a:p>
              <a:pPr defTabSz="182880"/>
              <a:r>
                <a:rPr lang="en-US" sz="800">
                  <a:solidFill>
                    <a:schemeClr val="tx1"/>
                  </a:solidFill>
                  <a:latin typeface="Consolas" panose="020B0609020204030204" pitchFamily="49" charset="0"/>
                </a:rPr>
                <a:t>		db.set(“Trans:FREQ:HOP”, json)</a:t>
              </a:r>
            </a:p>
            <a:p>
              <a:pPr defTabSz="182880"/>
              <a:r>
                <a:rPr lang="en-US" sz="800">
                  <a:solidFill>
                    <a:schemeClr val="tx1"/>
                  </a:solidFill>
                  <a:latin typeface="Consolas" panose="020B0609020204030204" pitchFamily="49" charset="0"/>
                </a:rPr>
                <a:t>		db.hset(“SYSTEM:HOPPING”, Stage, 5)</a:t>
              </a:r>
            </a:p>
            <a:p>
              <a:pPr defTabSz="182880"/>
              <a:r>
                <a:rPr lang="en-US" sz="800">
                  <a:solidFill>
                    <a:schemeClr val="tx1"/>
                  </a:solidFill>
                  <a:latin typeface="Consolas" panose="020B0609020204030204" pitchFamily="49" charset="0"/>
                </a:rPr>
                <a:t>		time.sleep(wait_time)</a:t>
              </a:r>
            </a:p>
            <a:p>
              <a:pPr defTabSz="182880"/>
              <a:r>
                <a:rPr lang="en-US" sz="800">
                  <a:solidFill>
                    <a:schemeClr val="tx1"/>
                  </a:solidFill>
                  <a:latin typeface="Consolas" panose="020B0609020204030204" pitchFamily="49" charset="0"/>
                </a:rPr>
                <a:t>		db.hset(“TuneRF:11”, Freq, hop_to)</a:t>
              </a:r>
            </a:p>
            <a:p>
              <a:pPr defTabSz="182880"/>
              <a:r>
                <a:rPr lang="en-US" sz="800">
                  <a:solidFill>
                    <a:schemeClr val="tx1"/>
                  </a:solidFill>
                  <a:latin typeface="Consolas" panose="020B0609020204030204" pitchFamily="49" charset="0"/>
                </a:rPr>
                <a:t>		db.hmset(“SYSTEM:HOPPING”, {Stage: 6, PreFreq: pre_freq, Freq: payload[“ControlAction”]})</a:t>
              </a:r>
            </a:p>
            <a:p>
              <a:pPr defTabSz="182880"/>
              <a:r>
                <a:rPr lang="en-US" sz="800">
                  <a:solidFill>
                    <a:schemeClr val="tx1"/>
                  </a:solidFill>
                  <a:latin typeface="Consolas" panose="020B0609020204030204" pitchFamily="49" charset="0"/>
                </a:rPr>
                <a:t>	elif stage == 6:</a:t>
              </a:r>
            </a:p>
            <a:p>
              <a:pPr defTabSz="182880"/>
              <a:r>
                <a:rPr lang="en-US" sz="800">
                  <a:solidFill>
                    <a:schemeClr val="tx1"/>
                  </a:solidFill>
                  <a:latin typeface="Consolas" panose="020B0609020204030204" pitchFamily="49" charset="0"/>
                </a:rPr>
                <a:t>		for i in range(5):</a:t>
              </a:r>
            </a:p>
            <a:p>
              <a:pPr defTabSz="182880"/>
              <a:r>
                <a:rPr lang="en-US" sz="800">
                  <a:solidFill>
                    <a:schemeClr val="tx1"/>
                  </a:solidFill>
                  <a:latin typeface="Consolas" panose="020B0609020204030204" pitchFamily="49" charset="0"/>
                </a:rPr>
                <a:t>			db.set(“Trans:FREQ:HOP”, json)</a:t>
              </a:r>
            </a:p>
            <a:p>
              <a:pPr defTabSz="182880"/>
              <a:r>
                <a:rPr lang="en-US" sz="800">
                  <a:solidFill>
                    <a:schemeClr val="tx1"/>
                  </a:solidFill>
                  <a:latin typeface="Consolas" panose="020B0609020204030204" pitchFamily="49" charset="0"/>
                </a:rPr>
                <a:t>			db.hset(“SYSTEM:HOPPING”, Stage, 9)</a:t>
              </a:r>
            </a:p>
            <a:p>
              <a:pPr defTabSz="182880"/>
              <a:r>
                <a:rPr lang="en-US" sz="800">
                  <a:solidFill>
                    <a:schemeClr val="tx1"/>
                  </a:solidFill>
                  <a:latin typeface="Consolas" panose="020B0609020204030204" pitchFamily="49" charset="0"/>
                </a:rPr>
                <a:t>			time.sleep(0.01)</a:t>
              </a:r>
            </a:p>
            <a:p>
              <a:pPr defTabSz="182880"/>
              <a:r>
                <a:rPr lang="en-US" sz="800">
                  <a:solidFill>
                    <a:schemeClr val="tx1"/>
                  </a:solidFill>
                  <a:latin typeface="Consolas" panose="020B0609020204030204" pitchFamily="49" charset="0"/>
                </a:rPr>
                <a:t>		time.sleep(0.5)</a:t>
              </a:r>
            </a:p>
            <a:p>
              <a:pPr defTabSz="182880"/>
              <a:r>
                <a:rPr lang="en-US" sz="800">
                  <a:solidFill>
                    <a:schemeClr val="tx1"/>
                  </a:solidFill>
                  <a:latin typeface="Consolas" panose="020B0609020204030204" pitchFamily="49" charset="0"/>
                </a:rPr>
                <a:t>		db.set(“RFSYSTEM:STATE”, Free)</a:t>
              </a:r>
            </a:p>
          </p:txBody>
        </p:sp>
        <p:sp>
          <p:nvSpPr>
            <p:cNvPr id="41" name="Rectangle 6">
              <a:extLst>
                <a:ext uri="{FF2B5EF4-FFF2-40B4-BE49-F238E27FC236}">
                  <a16:creationId xmlns:a16="http://schemas.microsoft.com/office/drawing/2014/main" id="{4AC094AB-89E5-2ED3-EC0B-3C5F45B059B1}"/>
                </a:ext>
              </a:extLst>
            </p:cNvPr>
            <p:cNvSpPr/>
            <p:nvPr/>
          </p:nvSpPr>
          <p:spPr>
            <a:xfrm>
              <a:off x="11264369" y="6576547"/>
              <a:ext cx="677636" cy="175317"/>
            </a:xfrm>
            <a:prstGeom prst="rect">
              <a:avLst/>
            </a:prstGeom>
          </p:spPr>
          <p:style>
            <a:lnRef idx="2">
              <a:schemeClr val="accent4">
                <a:shade val="50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800">
                  <a:latin typeface="Consolas" panose="020B0609020204030204" pitchFamily="49" charset="0"/>
                </a:rPr>
                <a:t>Queue</a:t>
              </a:r>
            </a:p>
          </p:txBody>
        </p:sp>
        <p:sp>
          <p:nvSpPr>
            <p:cNvPr id="42" name="Rectangle 6">
              <a:extLst>
                <a:ext uri="{FF2B5EF4-FFF2-40B4-BE49-F238E27FC236}">
                  <a16:creationId xmlns:a16="http://schemas.microsoft.com/office/drawing/2014/main" id="{9239C6D1-EB4F-1AE0-437B-C058C5D3F3A8}"/>
                </a:ext>
              </a:extLst>
            </p:cNvPr>
            <p:cNvSpPr/>
            <p:nvPr/>
          </p:nvSpPr>
          <p:spPr>
            <a:xfrm>
              <a:off x="11418024" y="3519733"/>
              <a:ext cx="677636" cy="175317"/>
            </a:xfrm>
            <a:prstGeom prst="rect">
              <a:avLst/>
            </a:prstGeom>
          </p:spPr>
          <p:style>
            <a:lnRef idx="2">
              <a:schemeClr val="accent6">
                <a:shade val="50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800">
                  <a:latin typeface="Consolas" panose="020B0609020204030204" pitchFamily="49" charset="0"/>
                </a:rPr>
                <a:t>Trans</a:t>
              </a:r>
            </a:p>
          </p:txBody>
        </p:sp>
        <p:sp>
          <p:nvSpPr>
            <p:cNvPr id="43" name="Rectangle 6">
              <a:extLst>
                <a:ext uri="{FF2B5EF4-FFF2-40B4-BE49-F238E27FC236}">
                  <a16:creationId xmlns:a16="http://schemas.microsoft.com/office/drawing/2014/main" id="{5E0C7CF9-A500-9A09-5E35-0438FD7936ED}"/>
                </a:ext>
              </a:extLst>
            </p:cNvPr>
            <p:cNvSpPr/>
            <p:nvPr/>
          </p:nvSpPr>
          <p:spPr>
            <a:xfrm>
              <a:off x="3526761" y="6470763"/>
              <a:ext cx="677636" cy="175317"/>
            </a:xfrm>
            <a:prstGeom prst="rect">
              <a:avLst/>
            </a:prstGeom>
          </p:spPr>
          <p:style>
            <a:lnRef idx="2">
              <a:schemeClr val="accent5">
                <a:shade val="50000"/>
              </a:schemeClr>
            </a:lnRef>
            <a:fillRef idx="1">
              <a:schemeClr val="accent5"/>
            </a:fillRef>
            <a:effectRef idx="0">
              <a:schemeClr val="accent5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800">
                  <a:latin typeface="Consolas" panose="020B0609020204030204" pitchFamily="49" charset="0"/>
                </a:rPr>
                <a:t>Action</a:t>
              </a:r>
            </a:p>
          </p:txBody>
        </p:sp>
        <p:sp>
          <p:nvSpPr>
            <p:cNvPr id="44" name="Rectangle 6">
              <a:extLst>
                <a:ext uri="{FF2B5EF4-FFF2-40B4-BE49-F238E27FC236}">
                  <a16:creationId xmlns:a16="http://schemas.microsoft.com/office/drawing/2014/main" id="{D6354779-0585-0980-A30D-94CC494ABAF6}"/>
                </a:ext>
              </a:extLst>
            </p:cNvPr>
            <p:cNvSpPr/>
            <p:nvPr/>
          </p:nvSpPr>
          <p:spPr>
            <a:xfrm>
              <a:off x="8180864" y="3533837"/>
              <a:ext cx="677636" cy="175317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800">
                  <a:latin typeface="Consolas" panose="020B0609020204030204" pitchFamily="49" charset="0"/>
                </a:rPr>
                <a:t>Sink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22203775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0BC3B8B4-37C0-1664-8350-30434BE86222}"/>
              </a:ext>
            </a:extLst>
          </p:cNvPr>
          <p:cNvSpPr/>
          <p:nvPr/>
        </p:nvSpPr>
        <p:spPr>
          <a:xfrm>
            <a:off x="604157" y="106136"/>
            <a:ext cx="677636" cy="16658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000">
              <a:latin typeface="Consolas" panose="020B0609020204030204" pitchFamily="49" charset="0"/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F1CB7029-1447-6CE6-EE7B-C1730EE766E1}"/>
              </a:ext>
            </a:extLst>
          </p:cNvPr>
          <p:cNvSpPr/>
          <p:nvPr/>
        </p:nvSpPr>
        <p:spPr>
          <a:xfrm>
            <a:off x="1550719" y="106136"/>
            <a:ext cx="677636" cy="166580"/>
          </a:xfrm>
          <a:prstGeom prst="rect">
            <a:avLst/>
          </a:prstGeom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000">
              <a:latin typeface="Consolas" panose="020B0609020204030204" pitchFamily="49" charset="0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1936003D-DD45-CE97-81C2-F128A92C2202}"/>
              </a:ext>
            </a:extLst>
          </p:cNvPr>
          <p:cNvSpPr/>
          <p:nvPr/>
        </p:nvSpPr>
        <p:spPr>
          <a:xfrm>
            <a:off x="2497281" y="106136"/>
            <a:ext cx="677636" cy="166580"/>
          </a:xfrm>
          <a:prstGeom prst="rect">
            <a:avLst/>
          </a:prstGeom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000">
              <a:latin typeface="Consolas" panose="020B0609020204030204" pitchFamily="49" charset="0"/>
            </a:endParaRP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C00623C0-51CC-E783-C7FD-0C29F7404F67}"/>
              </a:ext>
            </a:extLst>
          </p:cNvPr>
          <p:cNvSpPr/>
          <p:nvPr/>
        </p:nvSpPr>
        <p:spPr>
          <a:xfrm>
            <a:off x="3443843" y="106136"/>
            <a:ext cx="677636" cy="166580"/>
          </a:xfrm>
          <a:prstGeom prst="rect">
            <a:avLst/>
          </a:prstGeom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000">
              <a:latin typeface="Consolas" panose="020B0609020204030204" pitchFamily="49" charset="0"/>
            </a:endParaRP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64E9B34E-72C0-1A7A-60CF-942AF581FD2E}"/>
              </a:ext>
            </a:extLst>
          </p:cNvPr>
          <p:cNvSpPr/>
          <p:nvPr/>
        </p:nvSpPr>
        <p:spPr>
          <a:xfrm>
            <a:off x="4390405" y="106136"/>
            <a:ext cx="677636" cy="166580"/>
          </a:xfrm>
          <a:prstGeom prst="rect">
            <a:avLst/>
          </a:prstGeom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000">
              <a:latin typeface="Consolas" panose="020B0609020204030204" pitchFamily="49" charset="0"/>
            </a:endParaRP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C3FE27D3-EB6D-AB5D-173A-3BFE086EFD69}"/>
              </a:ext>
            </a:extLst>
          </p:cNvPr>
          <p:cNvSpPr/>
          <p:nvPr/>
        </p:nvSpPr>
        <p:spPr>
          <a:xfrm>
            <a:off x="5336967" y="106136"/>
            <a:ext cx="677636" cy="166580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000">
              <a:latin typeface="Consolas" panose="020B0609020204030204" pitchFamily="49" charset="0"/>
            </a:endParaRPr>
          </a:p>
        </p:txBody>
      </p:sp>
      <p:sp>
        <p:nvSpPr>
          <p:cNvPr id="10" name="Rectangle 11">
            <a:extLst>
              <a:ext uri="{FF2B5EF4-FFF2-40B4-BE49-F238E27FC236}">
                <a16:creationId xmlns:a16="http://schemas.microsoft.com/office/drawing/2014/main" id="{6774FDA6-F5AC-4E5E-C52A-C8F97422C900}"/>
              </a:ext>
            </a:extLst>
          </p:cNvPr>
          <p:cNvSpPr/>
          <p:nvPr/>
        </p:nvSpPr>
        <p:spPr>
          <a:xfrm>
            <a:off x="6283529" y="106136"/>
            <a:ext cx="677636" cy="166580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sz="1000">
              <a:latin typeface="Consolas" panose="020B0609020204030204" pitchFamily="49" charset="0"/>
            </a:endParaRPr>
          </a:p>
        </p:txBody>
      </p:sp>
      <p:sp>
        <p:nvSpPr>
          <p:cNvPr id="11" name="Rectangle 12">
            <a:extLst>
              <a:ext uri="{FF2B5EF4-FFF2-40B4-BE49-F238E27FC236}">
                <a16:creationId xmlns:a16="http://schemas.microsoft.com/office/drawing/2014/main" id="{5541B179-60C8-DE50-7A5B-1FCEBFB719A9}"/>
              </a:ext>
            </a:extLst>
          </p:cNvPr>
          <p:cNvSpPr/>
          <p:nvPr/>
        </p:nvSpPr>
        <p:spPr>
          <a:xfrm>
            <a:off x="7230091" y="106136"/>
            <a:ext cx="677636" cy="166580"/>
          </a:xfrm>
          <a:prstGeom prst="rect">
            <a:avLst/>
          </a:prstGeom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sz="1000">
              <a:latin typeface="Consolas" panose="020B0609020204030204" pitchFamily="49" charset="0"/>
            </a:endParaRPr>
          </a:p>
        </p:txBody>
      </p:sp>
      <p:sp>
        <p:nvSpPr>
          <p:cNvPr id="12" name="Rectangle 13">
            <a:extLst>
              <a:ext uri="{FF2B5EF4-FFF2-40B4-BE49-F238E27FC236}">
                <a16:creationId xmlns:a16="http://schemas.microsoft.com/office/drawing/2014/main" id="{BA6CA677-48DE-6461-ABD6-9CAB1450F6E0}"/>
              </a:ext>
            </a:extLst>
          </p:cNvPr>
          <p:cNvSpPr/>
          <p:nvPr/>
        </p:nvSpPr>
        <p:spPr>
          <a:xfrm>
            <a:off x="8176653" y="106136"/>
            <a:ext cx="677636" cy="166580"/>
          </a:xfrm>
          <a:prstGeom prst="rect">
            <a:avLst/>
          </a:prstGeom>
        </p:spPr>
        <p:style>
          <a:lnRef idx="2">
            <a:schemeClr val="accent3"/>
          </a:lnRef>
          <a:fillRef idx="1">
            <a:schemeClr val="lt1"/>
          </a:fillRef>
          <a:effectRef idx="0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sz="1000">
              <a:latin typeface="Consolas" panose="020B0609020204030204" pitchFamily="49" charset="0"/>
            </a:endParaRPr>
          </a:p>
        </p:txBody>
      </p:sp>
      <p:sp>
        <p:nvSpPr>
          <p:cNvPr id="13" name="Rectangle 14">
            <a:extLst>
              <a:ext uri="{FF2B5EF4-FFF2-40B4-BE49-F238E27FC236}">
                <a16:creationId xmlns:a16="http://schemas.microsoft.com/office/drawing/2014/main" id="{48C781F2-27B2-4833-769F-D5E099576925}"/>
              </a:ext>
            </a:extLst>
          </p:cNvPr>
          <p:cNvSpPr/>
          <p:nvPr/>
        </p:nvSpPr>
        <p:spPr>
          <a:xfrm>
            <a:off x="9123215" y="106136"/>
            <a:ext cx="677636" cy="166580"/>
          </a:xfrm>
          <a:prstGeom prst="rect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sz="1000">
              <a:latin typeface="Consolas" panose="020B0609020204030204" pitchFamily="49" charset="0"/>
            </a:endParaRPr>
          </a:p>
        </p:txBody>
      </p:sp>
      <p:sp>
        <p:nvSpPr>
          <p:cNvPr id="14" name="Rectangle 15">
            <a:extLst>
              <a:ext uri="{FF2B5EF4-FFF2-40B4-BE49-F238E27FC236}">
                <a16:creationId xmlns:a16="http://schemas.microsoft.com/office/drawing/2014/main" id="{EFE3CACB-7F24-4748-2EB4-A3F2CECB2EDE}"/>
              </a:ext>
            </a:extLst>
          </p:cNvPr>
          <p:cNvSpPr/>
          <p:nvPr/>
        </p:nvSpPr>
        <p:spPr>
          <a:xfrm>
            <a:off x="10069777" y="106136"/>
            <a:ext cx="677636" cy="166580"/>
          </a:xfrm>
          <a:prstGeom prst="rect">
            <a:avLst/>
          </a:prstGeom>
        </p:spPr>
        <p:style>
          <a:lnRef idx="2">
            <a:schemeClr val="accent5"/>
          </a:lnRef>
          <a:fillRef idx="1">
            <a:schemeClr val="lt1"/>
          </a:fillRef>
          <a:effectRef idx="0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sz="1000">
              <a:latin typeface="Consolas" panose="020B0609020204030204" pitchFamily="49" charset="0"/>
            </a:endParaRPr>
          </a:p>
        </p:txBody>
      </p:sp>
      <p:sp>
        <p:nvSpPr>
          <p:cNvPr id="15" name="Rectangle 16">
            <a:extLst>
              <a:ext uri="{FF2B5EF4-FFF2-40B4-BE49-F238E27FC236}">
                <a16:creationId xmlns:a16="http://schemas.microsoft.com/office/drawing/2014/main" id="{F01523B4-689E-DC1B-7C84-FCA11104A6AF}"/>
              </a:ext>
            </a:extLst>
          </p:cNvPr>
          <p:cNvSpPr/>
          <p:nvPr/>
        </p:nvSpPr>
        <p:spPr>
          <a:xfrm>
            <a:off x="11016342" y="106136"/>
            <a:ext cx="677636" cy="166580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sz="1000">
              <a:latin typeface="Consolas" panose="020B0609020204030204" pitchFamily="49" charset="0"/>
            </a:endParaRPr>
          </a:p>
        </p:txBody>
      </p:sp>
      <p:cxnSp>
        <p:nvCxnSpPr>
          <p:cNvPr id="16" name="Straight Arrow Connector 21">
            <a:extLst>
              <a:ext uri="{FF2B5EF4-FFF2-40B4-BE49-F238E27FC236}">
                <a16:creationId xmlns:a16="http://schemas.microsoft.com/office/drawing/2014/main" id="{AFB0C134-4F4F-D37B-1E22-4FBE40DF2949}"/>
              </a:ext>
            </a:extLst>
          </p:cNvPr>
          <p:cNvCxnSpPr>
            <a:cxnSpLocks/>
          </p:cNvCxnSpPr>
          <p:nvPr/>
        </p:nvCxnSpPr>
        <p:spPr>
          <a:xfrm>
            <a:off x="11016342" y="467350"/>
            <a:ext cx="331738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Straight Connector 54">
            <a:extLst>
              <a:ext uri="{FF2B5EF4-FFF2-40B4-BE49-F238E27FC236}">
                <a16:creationId xmlns:a16="http://schemas.microsoft.com/office/drawing/2014/main" id="{77080DF0-3A44-1333-75EB-2305FB5BDA11}"/>
              </a:ext>
            </a:extLst>
          </p:cNvPr>
          <p:cNvCxnSpPr>
            <a:cxnSpLocks/>
          </p:cNvCxnSpPr>
          <p:nvPr/>
        </p:nvCxnSpPr>
        <p:spPr>
          <a:xfrm flipH="1">
            <a:off x="10582877" y="462588"/>
            <a:ext cx="289550" cy="0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50374128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0BC3B8B4-37C0-1664-8350-30434BE86222}"/>
              </a:ext>
            </a:extLst>
          </p:cNvPr>
          <p:cNvSpPr/>
          <p:nvPr/>
        </p:nvSpPr>
        <p:spPr>
          <a:xfrm>
            <a:off x="604157" y="106136"/>
            <a:ext cx="677636" cy="16658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000">
              <a:latin typeface="Consolas" panose="020B0609020204030204" pitchFamily="49" charset="0"/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F1CB7029-1447-6CE6-EE7B-C1730EE766E1}"/>
              </a:ext>
            </a:extLst>
          </p:cNvPr>
          <p:cNvSpPr/>
          <p:nvPr/>
        </p:nvSpPr>
        <p:spPr>
          <a:xfrm>
            <a:off x="1550719" y="106136"/>
            <a:ext cx="677636" cy="166580"/>
          </a:xfrm>
          <a:prstGeom prst="rect">
            <a:avLst/>
          </a:prstGeom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000">
              <a:latin typeface="Consolas" panose="020B0609020204030204" pitchFamily="49" charset="0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1936003D-DD45-CE97-81C2-F128A92C2202}"/>
              </a:ext>
            </a:extLst>
          </p:cNvPr>
          <p:cNvSpPr/>
          <p:nvPr/>
        </p:nvSpPr>
        <p:spPr>
          <a:xfrm>
            <a:off x="2497281" y="106136"/>
            <a:ext cx="677636" cy="166580"/>
          </a:xfrm>
          <a:prstGeom prst="rect">
            <a:avLst/>
          </a:prstGeom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000">
              <a:latin typeface="Consolas" panose="020B0609020204030204" pitchFamily="49" charset="0"/>
            </a:endParaRP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C00623C0-51CC-E783-C7FD-0C29F7404F67}"/>
              </a:ext>
            </a:extLst>
          </p:cNvPr>
          <p:cNvSpPr/>
          <p:nvPr/>
        </p:nvSpPr>
        <p:spPr>
          <a:xfrm>
            <a:off x="3443843" y="106136"/>
            <a:ext cx="677636" cy="166580"/>
          </a:xfrm>
          <a:prstGeom prst="rect">
            <a:avLst/>
          </a:prstGeom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000">
              <a:latin typeface="Consolas" panose="020B0609020204030204" pitchFamily="49" charset="0"/>
            </a:endParaRP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64E9B34E-72C0-1A7A-60CF-942AF581FD2E}"/>
              </a:ext>
            </a:extLst>
          </p:cNvPr>
          <p:cNvSpPr/>
          <p:nvPr/>
        </p:nvSpPr>
        <p:spPr>
          <a:xfrm>
            <a:off x="4390405" y="106136"/>
            <a:ext cx="677636" cy="166580"/>
          </a:xfrm>
          <a:prstGeom prst="rect">
            <a:avLst/>
          </a:prstGeom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000">
              <a:latin typeface="Consolas" panose="020B0609020204030204" pitchFamily="49" charset="0"/>
            </a:endParaRP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C3FE27D3-EB6D-AB5D-173A-3BFE086EFD69}"/>
              </a:ext>
            </a:extLst>
          </p:cNvPr>
          <p:cNvSpPr/>
          <p:nvPr/>
        </p:nvSpPr>
        <p:spPr>
          <a:xfrm>
            <a:off x="5336967" y="106136"/>
            <a:ext cx="677636" cy="166580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000">
              <a:latin typeface="Consolas" panose="020B0609020204030204" pitchFamily="49" charset="0"/>
            </a:endParaRPr>
          </a:p>
        </p:txBody>
      </p:sp>
      <p:sp>
        <p:nvSpPr>
          <p:cNvPr id="10" name="Rectangle 11">
            <a:extLst>
              <a:ext uri="{FF2B5EF4-FFF2-40B4-BE49-F238E27FC236}">
                <a16:creationId xmlns:a16="http://schemas.microsoft.com/office/drawing/2014/main" id="{6774FDA6-F5AC-4E5E-C52A-C8F97422C900}"/>
              </a:ext>
            </a:extLst>
          </p:cNvPr>
          <p:cNvSpPr/>
          <p:nvPr/>
        </p:nvSpPr>
        <p:spPr>
          <a:xfrm>
            <a:off x="6283529" y="106136"/>
            <a:ext cx="677636" cy="166580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sz="1000">
              <a:latin typeface="Consolas" panose="020B0609020204030204" pitchFamily="49" charset="0"/>
            </a:endParaRPr>
          </a:p>
        </p:txBody>
      </p:sp>
      <p:sp>
        <p:nvSpPr>
          <p:cNvPr id="11" name="Rectangle 12">
            <a:extLst>
              <a:ext uri="{FF2B5EF4-FFF2-40B4-BE49-F238E27FC236}">
                <a16:creationId xmlns:a16="http://schemas.microsoft.com/office/drawing/2014/main" id="{5541B179-60C8-DE50-7A5B-1FCEBFB719A9}"/>
              </a:ext>
            </a:extLst>
          </p:cNvPr>
          <p:cNvSpPr/>
          <p:nvPr/>
        </p:nvSpPr>
        <p:spPr>
          <a:xfrm>
            <a:off x="7230091" y="106136"/>
            <a:ext cx="677636" cy="166580"/>
          </a:xfrm>
          <a:prstGeom prst="rect">
            <a:avLst/>
          </a:prstGeom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sz="1000">
              <a:latin typeface="Consolas" panose="020B0609020204030204" pitchFamily="49" charset="0"/>
            </a:endParaRPr>
          </a:p>
        </p:txBody>
      </p:sp>
      <p:sp>
        <p:nvSpPr>
          <p:cNvPr id="12" name="Rectangle 13">
            <a:extLst>
              <a:ext uri="{FF2B5EF4-FFF2-40B4-BE49-F238E27FC236}">
                <a16:creationId xmlns:a16="http://schemas.microsoft.com/office/drawing/2014/main" id="{BA6CA677-48DE-6461-ABD6-9CAB1450F6E0}"/>
              </a:ext>
            </a:extLst>
          </p:cNvPr>
          <p:cNvSpPr/>
          <p:nvPr/>
        </p:nvSpPr>
        <p:spPr>
          <a:xfrm>
            <a:off x="8176653" y="106136"/>
            <a:ext cx="677636" cy="166580"/>
          </a:xfrm>
          <a:prstGeom prst="rect">
            <a:avLst/>
          </a:prstGeom>
        </p:spPr>
        <p:style>
          <a:lnRef idx="2">
            <a:schemeClr val="accent3"/>
          </a:lnRef>
          <a:fillRef idx="1">
            <a:schemeClr val="lt1"/>
          </a:fillRef>
          <a:effectRef idx="0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sz="1000">
              <a:latin typeface="Consolas" panose="020B0609020204030204" pitchFamily="49" charset="0"/>
            </a:endParaRPr>
          </a:p>
        </p:txBody>
      </p:sp>
      <p:sp>
        <p:nvSpPr>
          <p:cNvPr id="13" name="Rectangle 14">
            <a:extLst>
              <a:ext uri="{FF2B5EF4-FFF2-40B4-BE49-F238E27FC236}">
                <a16:creationId xmlns:a16="http://schemas.microsoft.com/office/drawing/2014/main" id="{48C781F2-27B2-4833-769F-D5E099576925}"/>
              </a:ext>
            </a:extLst>
          </p:cNvPr>
          <p:cNvSpPr/>
          <p:nvPr/>
        </p:nvSpPr>
        <p:spPr>
          <a:xfrm>
            <a:off x="9123215" y="106136"/>
            <a:ext cx="677636" cy="166580"/>
          </a:xfrm>
          <a:prstGeom prst="rect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sz="1000">
              <a:latin typeface="Consolas" panose="020B0609020204030204" pitchFamily="49" charset="0"/>
            </a:endParaRPr>
          </a:p>
        </p:txBody>
      </p:sp>
      <p:sp>
        <p:nvSpPr>
          <p:cNvPr id="14" name="Rectangle 15">
            <a:extLst>
              <a:ext uri="{FF2B5EF4-FFF2-40B4-BE49-F238E27FC236}">
                <a16:creationId xmlns:a16="http://schemas.microsoft.com/office/drawing/2014/main" id="{EFE3CACB-7F24-4748-2EB4-A3F2CECB2EDE}"/>
              </a:ext>
            </a:extLst>
          </p:cNvPr>
          <p:cNvSpPr/>
          <p:nvPr/>
        </p:nvSpPr>
        <p:spPr>
          <a:xfrm>
            <a:off x="10069777" y="106136"/>
            <a:ext cx="677636" cy="166580"/>
          </a:xfrm>
          <a:prstGeom prst="rect">
            <a:avLst/>
          </a:prstGeom>
        </p:spPr>
        <p:style>
          <a:lnRef idx="2">
            <a:schemeClr val="accent5"/>
          </a:lnRef>
          <a:fillRef idx="1">
            <a:schemeClr val="lt1"/>
          </a:fillRef>
          <a:effectRef idx="0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sz="1000">
              <a:latin typeface="Consolas" panose="020B0609020204030204" pitchFamily="49" charset="0"/>
            </a:endParaRPr>
          </a:p>
        </p:txBody>
      </p:sp>
      <p:sp>
        <p:nvSpPr>
          <p:cNvPr id="15" name="Rectangle 16">
            <a:extLst>
              <a:ext uri="{FF2B5EF4-FFF2-40B4-BE49-F238E27FC236}">
                <a16:creationId xmlns:a16="http://schemas.microsoft.com/office/drawing/2014/main" id="{F01523B4-689E-DC1B-7C84-FCA11104A6AF}"/>
              </a:ext>
            </a:extLst>
          </p:cNvPr>
          <p:cNvSpPr/>
          <p:nvPr/>
        </p:nvSpPr>
        <p:spPr>
          <a:xfrm>
            <a:off x="11016342" y="106136"/>
            <a:ext cx="677636" cy="166580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sz="1000">
              <a:latin typeface="Consolas" panose="020B0609020204030204" pitchFamily="49" charset="0"/>
            </a:endParaRPr>
          </a:p>
        </p:txBody>
      </p:sp>
      <p:cxnSp>
        <p:nvCxnSpPr>
          <p:cNvPr id="16" name="Straight Arrow Connector 21">
            <a:extLst>
              <a:ext uri="{FF2B5EF4-FFF2-40B4-BE49-F238E27FC236}">
                <a16:creationId xmlns:a16="http://schemas.microsoft.com/office/drawing/2014/main" id="{AFB0C134-4F4F-D37B-1E22-4FBE40DF2949}"/>
              </a:ext>
            </a:extLst>
          </p:cNvPr>
          <p:cNvCxnSpPr>
            <a:cxnSpLocks/>
          </p:cNvCxnSpPr>
          <p:nvPr/>
        </p:nvCxnSpPr>
        <p:spPr>
          <a:xfrm>
            <a:off x="11016342" y="467350"/>
            <a:ext cx="331738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Straight Connector 54">
            <a:extLst>
              <a:ext uri="{FF2B5EF4-FFF2-40B4-BE49-F238E27FC236}">
                <a16:creationId xmlns:a16="http://schemas.microsoft.com/office/drawing/2014/main" id="{77080DF0-3A44-1333-75EB-2305FB5BDA11}"/>
              </a:ext>
            </a:extLst>
          </p:cNvPr>
          <p:cNvCxnSpPr>
            <a:cxnSpLocks/>
          </p:cNvCxnSpPr>
          <p:nvPr/>
        </p:nvCxnSpPr>
        <p:spPr>
          <a:xfrm flipH="1">
            <a:off x="10582877" y="462588"/>
            <a:ext cx="289550" cy="0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21153626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0BC3B8B4-37C0-1664-8350-30434BE86222}"/>
              </a:ext>
            </a:extLst>
          </p:cNvPr>
          <p:cNvSpPr/>
          <p:nvPr/>
        </p:nvSpPr>
        <p:spPr>
          <a:xfrm>
            <a:off x="604157" y="106136"/>
            <a:ext cx="677636" cy="16658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000">
              <a:latin typeface="Consolas" panose="020B0609020204030204" pitchFamily="49" charset="0"/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F1CB7029-1447-6CE6-EE7B-C1730EE766E1}"/>
              </a:ext>
            </a:extLst>
          </p:cNvPr>
          <p:cNvSpPr/>
          <p:nvPr/>
        </p:nvSpPr>
        <p:spPr>
          <a:xfrm>
            <a:off x="1550719" y="106136"/>
            <a:ext cx="677636" cy="166580"/>
          </a:xfrm>
          <a:prstGeom prst="rect">
            <a:avLst/>
          </a:prstGeom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000">
              <a:latin typeface="Consolas" panose="020B0609020204030204" pitchFamily="49" charset="0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1936003D-DD45-CE97-81C2-F128A92C2202}"/>
              </a:ext>
            </a:extLst>
          </p:cNvPr>
          <p:cNvSpPr/>
          <p:nvPr/>
        </p:nvSpPr>
        <p:spPr>
          <a:xfrm>
            <a:off x="2497281" y="106136"/>
            <a:ext cx="677636" cy="166580"/>
          </a:xfrm>
          <a:prstGeom prst="rect">
            <a:avLst/>
          </a:prstGeom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000">
              <a:latin typeface="Consolas" panose="020B0609020204030204" pitchFamily="49" charset="0"/>
            </a:endParaRP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C00623C0-51CC-E783-C7FD-0C29F7404F67}"/>
              </a:ext>
            </a:extLst>
          </p:cNvPr>
          <p:cNvSpPr/>
          <p:nvPr/>
        </p:nvSpPr>
        <p:spPr>
          <a:xfrm>
            <a:off x="3443843" y="106136"/>
            <a:ext cx="677636" cy="166580"/>
          </a:xfrm>
          <a:prstGeom prst="rect">
            <a:avLst/>
          </a:prstGeom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000">
              <a:latin typeface="Consolas" panose="020B0609020204030204" pitchFamily="49" charset="0"/>
            </a:endParaRP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64E9B34E-72C0-1A7A-60CF-942AF581FD2E}"/>
              </a:ext>
            </a:extLst>
          </p:cNvPr>
          <p:cNvSpPr/>
          <p:nvPr/>
        </p:nvSpPr>
        <p:spPr>
          <a:xfrm>
            <a:off x="4390405" y="106136"/>
            <a:ext cx="677636" cy="166580"/>
          </a:xfrm>
          <a:prstGeom prst="rect">
            <a:avLst/>
          </a:prstGeom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000">
              <a:latin typeface="Consolas" panose="020B0609020204030204" pitchFamily="49" charset="0"/>
            </a:endParaRP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C3FE27D3-EB6D-AB5D-173A-3BFE086EFD69}"/>
              </a:ext>
            </a:extLst>
          </p:cNvPr>
          <p:cNvSpPr/>
          <p:nvPr/>
        </p:nvSpPr>
        <p:spPr>
          <a:xfrm>
            <a:off x="5336967" y="106136"/>
            <a:ext cx="677636" cy="166580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000">
              <a:latin typeface="Consolas" panose="020B0609020204030204" pitchFamily="49" charset="0"/>
            </a:endParaRPr>
          </a:p>
        </p:txBody>
      </p:sp>
      <p:sp>
        <p:nvSpPr>
          <p:cNvPr id="10" name="Rectangle 11">
            <a:extLst>
              <a:ext uri="{FF2B5EF4-FFF2-40B4-BE49-F238E27FC236}">
                <a16:creationId xmlns:a16="http://schemas.microsoft.com/office/drawing/2014/main" id="{6774FDA6-F5AC-4E5E-C52A-C8F97422C900}"/>
              </a:ext>
            </a:extLst>
          </p:cNvPr>
          <p:cNvSpPr/>
          <p:nvPr/>
        </p:nvSpPr>
        <p:spPr>
          <a:xfrm>
            <a:off x="6283529" y="106136"/>
            <a:ext cx="677636" cy="166580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sz="1000">
              <a:latin typeface="Consolas" panose="020B0609020204030204" pitchFamily="49" charset="0"/>
            </a:endParaRPr>
          </a:p>
        </p:txBody>
      </p:sp>
      <p:sp>
        <p:nvSpPr>
          <p:cNvPr id="11" name="Rectangle 12">
            <a:extLst>
              <a:ext uri="{FF2B5EF4-FFF2-40B4-BE49-F238E27FC236}">
                <a16:creationId xmlns:a16="http://schemas.microsoft.com/office/drawing/2014/main" id="{5541B179-60C8-DE50-7A5B-1FCEBFB719A9}"/>
              </a:ext>
            </a:extLst>
          </p:cNvPr>
          <p:cNvSpPr/>
          <p:nvPr/>
        </p:nvSpPr>
        <p:spPr>
          <a:xfrm>
            <a:off x="7230091" y="106136"/>
            <a:ext cx="677636" cy="166580"/>
          </a:xfrm>
          <a:prstGeom prst="rect">
            <a:avLst/>
          </a:prstGeom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sz="1000">
              <a:latin typeface="Consolas" panose="020B0609020204030204" pitchFamily="49" charset="0"/>
            </a:endParaRPr>
          </a:p>
        </p:txBody>
      </p:sp>
      <p:sp>
        <p:nvSpPr>
          <p:cNvPr id="12" name="Rectangle 13">
            <a:extLst>
              <a:ext uri="{FF2B5EF4-FFF2-40B4-BE49-F238E27FC236}">
                <a16:creationId xmlns:a16="http://schemas.microsoft.com/office/drawing/2014/main" id="{BA6CA677-48DE-6461-ABD6-9CAB1450F6E0}"/>
              </a:ext>
            </a:extLst>
          </p:cNvPr>
          <p:cNvSpPr/>
          <p:nvPr/>
        </p:nvSpPr>
        <p:spPr>
          <a:xfrm>
            <a:off x="8176653" y="106136"/>
            <a:ext cx="677636" cy="166580"/>
          </a:xfrm>
          <a:prstGeom prst="rect">
            <a:avLst/>
          </a:prstGeom>
        </p:spPr>
        <p:style>
          <a:lnRef idx="2">
            <a:schemeClr val="accent3"/>
          </a:lnRef>
          <a:fillRef idx="1">
            <a:schemeClr val="lt1"/>
          </a:fillRef>
          <a:effectRef idx="0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sz="1000">
              <a:latin typeface="Consolas" panose="020B0609020204030204" pitchFamily="49" charset="0"/>
            </a:endParaRPr>
          </a:p>
        </p:txBody>
      </p:sp>
      <p:sp>
        <p:nvSpPr>
          <p:cNvPr id="13" name="Rectangle 14">
            <a:extLst>
              <a:ext uri="{FF2B5EF4-FFF2-40B4-BE49-F238E27FC236}">
                <a16:creationId xmlns:a16="http://schemas.microsoft.com/office/drawing/2014/main" id="{48C781F2-27B2-4833-769F-D5E099576925}"/>
              </a:ext>
            </a:extLst>
          </p:cNvPr>
          <p:cNvSpPr/>
          <p:nvPr/>
        </p:nvSpPr>
        <p:spPr>
          <a:xfrm>
            <a:off x="9123215" y="106136"/>
            <a:ext cx="677636" cy="166580"/>
          </a:xfrm>
          <a:prstGeom prst="rect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sz="1000">
              <a:latin typeface="Consolas" panose="020B0609020204030204" pitchFamily="49" charset="0"/>
            </a:endParaRPr>
          </a:p>
        </p:txBody>
      </p:sp>
      <p:sp>
        <p:nvSpPr>
          <p:cNvPr id="14" name="Rectangle 15">
            <a:extLst>
              <a:ext uri="{FF2B5EF4-FFF2-40B4-BE49-F238E27FC236}">
                <a16:creationId xmlns:a16="http://schemas.microsoft.com/office/drawing/2014/main" id="{EFE3CACB-7F24-4748-2EB4-A3F2CECB2EDE}"/>
              </a:ext>
            </a:extLst>
          </p:cNvPr>
          <p:cNvSpPr/>
          <p:nvPr/>
        </p:nvSpPr>
        <p:spPr>
          <a:xfrm>
            <a:off x="10069777" y="106136"/>
            <a:ext cx="677636" cy="166580"/>
          </a:xfrm>
          <a:prstGeom prst="rect">
            <a:avLst/>
          </a:prstGeom>
        </p:spPr>
        <p:style>
          <a:lnRef idx="2">
            <a:schemeClr val="accent5"/>
          </a:lnRef>
          <a:fillRef idx="1">
            <a:schemeClr val="lt1"/>
          </a:fillRef>
          <a:effectRef idx="0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sz="1000">
              <a:latin typeface="Consolas" panose="020B0609020204030204" pitchFamily="49" charset="0"/>
            </a:endParaRPr>
          </a:p>
        </p:txBody>
      </p:sp>
      <p:sp>
        <p:nvSpPr>
          <p:cNvPr id="15" name="Rectangle 16">
            <a:extLst>
              <a:ext uri="{FF2B5EF4-FFF2-40B4-BE49-F238E27FC236}">
                <a16:creationId xmlns:a16="http://schemas.microsoft.com/office/drawing/2014/main" id="{F01523B4-689E-DC1B-7C84-FCA11104A6AF}"/>
              </a:ext>
            </a:extLst>
          </p:cNvPr>
          <p:cNvSpPr/>
          <p:nvPr/>
        </p:nvSpPr>
        <p:spPr>
          <a:xfrm>
            <a:off x="11016342" y="106136"/>
            <a:ext cx="677636" cy="166580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sz="1000">
              <a:latin typeface="Consolas" panose="020B0609020204030204" pitchFamily="49" charset="0"/>
            </a:endParaRPr>
          </a:p>
        </p:txBody>
      </p:sp>
      <p:cxnSp>
        <p:nvCxnSpPr>
          <p:cNvPr id="16" name="Straight Arrow Connector 21">
            <a:extLst>
              <a:ext uri="{FF2B5EF4-FFF2-40B4-BE49-F238E27FC236}">
                <a16:creationId xmlns:a16="http://schemas.microsoft.com/office/drawing/2014/main" id="{AFB0C134-4F4F-D37B-1E22-4FBE40DF2949}"/>
              </a:ext>
            </a:extLst>
          </p:cNvPr>
          <p:cNvCxnSpPr>
            <a:cxnSpLocks/>
          </p:cNvCxnSpPr>
          <p:nvPr/>
        </p:nvCxnSpPr>
        <p:spPr>
          <a:xfrm>
            <a:off x="11016342" y="467350"/>
            <a:ext cx="331738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Straight Connector 54">
            <a:extLst>
              <a:ext uri="{FF2B5EF4-FFF2-40B4-BE49-F238E27FC236}">
                <a16:creationId xmlns:a16="http://schemas.microsoft.com/office/drawing/2014/main" id="{77080DF0-3A44-1333-75EB-2305FB5BDA11}"/>
              </a:ext>
            </a:extLst>
          </p:cNvPr>
          <p:cNvCxnSpPr>
            <a:cxnSpLocks/>
          </p:cNvCxnSpPr>
          <p:nvPr/>
        </p:nvCxnSpPr>
        <p:spPr>
          <a:xfrm flipH="1">
            <a:off x="10582877" y="462588"/>
            <a:ext cx="289550" cy="0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27281886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0BC3B8B4-37C0-1664-8350-30434BE86222}"/>
              </a:ext>
            </a:extLst>
          </p:cNvPr>
          <p:cNvSpPr/>
          <p:nvPr/>
        </p:nvSpPr>
        <p:spPr>
          <a:xfrm>
            <a:off x="604157" y="106136"/>
            <a:ext cx="677636" cy="16658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000">
              <a:latin typeface="Consolas" panose="020B0609020204030204" pitchFamily="49" charset="0"/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F1CB7029-1447-6CE6-EE7B-C1730EE766E1}"/>
              </a:ext>
            </a:extLst>
          </p:cNvPr>
          <p:cNvSpPr/>
          <p:nvPr/>
        </p:nvSpPr>
        <p:spPr>
          <a:xfrm>
            <a:off x="1550719" y="106136"/>
            <a:ext cx="677636" cy="166580"/>
          </a:xfrm>
          <a:prstGeom prst="rect">
            <a:avLst/>
          </a:prstGeom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000">
              <a:latin typeface="Consolas" panose="020B0609020204030204" pitchFamily="49" charset="0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1936003D-DD45-CE97-81C2-F128A92C2202}"/>
              </a:ext>
            </a:extLst>
          </p:cNvPr>
          <p:cNvSpPr/>
          <p:nvPr/>
        </p:nvSpPr>
        <p:spPr>
          <a:xfrm>
            <a:off x="2497281" y="106136"/>
            <a:ext cx="677636" cy="166580"/>
          </a:xfrm>
          <a:prstGeom prst="rect">
            <a:avLst/>
          </a:prstGeom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000">
              <a:latin typeface="Consolas" panose="020B0609020204030204" pitchFamily="49" charset="0"/>
            </a:endParaRP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C00623C0-51CC-E783-C7FD-0C29F7404F67}"/>
              </a:ext>
            </a:extLst>
          </p:cNvPr>
          <p:cNvSpPr/>
          <p:nvPr/>
        </p:nvSpPr>
        <p:spPr>
          <a:xfrm>
            <a:off x="3443843" y="106136"/>
            <a:ext cx="677636" cy="166580"/>
          </a:xfrm>
          <a:prstGeom prst="rect">
            <a:avLst/>
          </a:prstGeom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000">
              <a:latin typeface="Consolas" panose="020B0609020204030204" pitchFamily="49" charset="0"/>
            </a:endParaRP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64E9B34E-72C0-1A7A-60CF-942AF581FD2E}"/>
              </a:ext>
            </a:extLst>
          </p:cNvPr>
          <p:cNvSpPr/>
          <p:nvPr/>
        </p:nvSpPr>
        <p:spPr>
          <a:xfrm>
            <a:off x="4390405" y="106136"/>
            <a:ext cx="677636" cy="166580"/>
          </a:xfrm>
          <a:prstGeom prst="rect">
            <a:avLst/>
          </a:prstGeom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000">
              <a:latin typeface="Consolas" panose="020B0609020204030204" pitchFamily="49" charset="0"/>
            </a:endParaRP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C3FE27D3-EB6D-AB5D-173A-3BFE086EFD69}"/>
              </a:ext>
            </a:extLst>
          </p:cNvPr>
          <p:cNvSpPr/>
          <p:nvPr/>
        </p:nvSpPr>
        <p:spPr>
          <a:xfrm>
            <a:off x="5336967" y="106136"/>
            <a:ext cx="677636" cy="166580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000">
              <a:latin typeface="Consolas" panose="020B0609020204030204" pitchFamily="49" charset="0"/>
            </a:endParaRPr>
          </a:p>
        </p:txBody>
      </p:sp>
      <p:sp>
        <p:nvSpPr>
          <p:cNvPr id="10" name="Rectangle 11">
            <a:extLst>
              <a:ext uri="{FF2B5EF4-FFF2-40B4-BE49-F238E27FC236}">
                <a16:creationId xmlns:a16="http://schemas.microsoft.com/office/drawing/2014/main" id="{6774FDA6-F5AC-4E5E-C52A-C8F97422C900}"/>
              </a:ext>
            </a:extLst>
          </p:cNvPr>
          <p:cNvSpPr/>
          <p:nvPr/>
        </p:nvSpPr>
        <p:spPr>
          <a:xfrm>
            <a:off x="6283529" y="106136"/>
            <a:ext cx="677636" cy="166580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sz="1000">
              <a:latin typeface="Consolas" panose="020B0609020204030204" pitchFamily="49" charset="0"/>
            </a:endParaRPr>
          </a:p>
        </p:txBody>
      </p:sp>
      <p:sp>
        <p:nvSpPr>
          <p:cNvPr id="11" name="Rectangle 12">
            <a:extLst>
              <a:ext uri="{FF2B5EF4-FFF2-40B4-BE49-F238E27FC236}">
                <a16:creationId xmlns:a16="http://schemas.microsoft.com/office/drawing/2014/main" id="{5541B179-60C8-DE50-7A5B-1FCEBFB719A9}"/>
              </a:ext>
            </a:extLst>
          </p:cNvPr>
          <p:cNvSpPr/>
          <p:nvPr/>
        </p:nvSpPr>
        <p:spPr>
          <a:xfrm>
            <a:off x="7230091" y="106136"/>
            <a:ext cx="677636" cy="166580"/>
          </a:xfrm>
          <a:prstGeom prst="rect">
            <a:avLst/>
          </a:prstGeom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sz="1000">
              <a:latin typeface="Consolas" panose="020B0609020204030204" pitchFamily="49" charset="0"/>
            </a:endParaRPr>
          </a:p>
        </p:txBody>
      </p:sp>
      <p:sp>
        <p:nvSpPr>
          <p:cNvPr id="12" name="Rectangle 13">
            <a:extLst>
              <a:ext uri="{FF2B5EF4-FFF2-40B4-BE49-F238E27FC236}">
                <a16:creationId xmlns:a16="http://schemas.microsoft.com/office/drawing/2014/main" id="{BA6CA677-48DE-6461-ABD6-9CAB1450F6E0}"/>
              </a:ext>
            </a:extLst>
          </p:cNvPr>
          <p:cNvSpPr/>
          <p:nvPr/>
        </p:nvSpPr>
        <p:spPr>
          <a:xfrm>
            <a:off x="8176653" y="106136"/>
            <a:ext cx="677636" cy="166580"/>
          </a:xfrm>
          <a:prstGeom prst="rect">
            <a:avLst/>
          </a:prstGeom>
        </p:spPr>
        <p:style>
          <a:lnRef idx="2">
            <a:schemeClr val="accent3"/>
          </a:lnRef>
          <a:fillRef idx="1">
            <a:schemeClr val="lt1"/>
          </a:fillRef>
          <a:effectRef idx="0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sz="1000">
              <a:latin typeface="Consolas" panose="020B0609020204030204" pitchFamily="49" charset="0"/>
            </a:endParaRPr>
          </a:p>
        </p:txBody>
      </p:sp>
      <p:sp>
        <p:nvSpPr>
          <p:cNvPr id="13" name="Rectangle 14">
            <a:extLst>
              <a:ext uri="{FF2B5EF4-FFF2-40B4-BE49-F238E27FC236}">
                <a16:creationId xmlns:a16="http://schemas.microsoft.com/office/drawing/2014/main" id="{48C781F2-27B2-4833-769F-D5E099576925}"/>
              </a:ext>
            </a:extLst>
          </p:cNvPr>
          <p:cNvSpPr/>
          <p:nvPr/>
        </p:nvSpPr>
        <p:spPr>
          <a:xfrm>
            <a:off x="9123215" y="106136"/>
            <a:ext cx="677636" cy="166580"/>
          </a:xfrm>
          <a:prstGeom prst="rect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sz="1000">
              <a:latin typeface="Consolas" panose="020B0609020204030204" pitchFamily="49" charset="0"/>
            </a:endParaRPr>
          </a:p>
        </p:txBody>
      </p:sp>
      <p:sp>
        <p:nvSpPr>
          <p:cNvPr id="14" name="Rectangle 15">
            <a:extLst>
              <a:ext uri="{FF2B5EF4-FFF2-40B4-BE49-F238E27FC236}">
                <a16:creationId xmlns:a16="http://schemas.microsoft.com/office/drawing/2014/main" id="{EFE3CACB-7F24-4748-2EB4-A3F2CECB2EDE}"/>
              </a:ext>
            </a:extLst>
          </p:cNvPr>
          <p:cNvSpPr/>
          <p:nvPr/>
        </p:nvSpPr>
        <p:spPr>
          <a:xfrm>
            <a:off x="10069777" y="106136"/>
            <a:ext cx="677636" cy="166580"/>
          </a:xfrm>
          <a:prstGeom prst="rect">
            <a:avLst/>
          </a:prstGeom>
        </p:spPr>
        <p:style>
          <a:lnRef idx="2">
            <a:schemeClr val="accent5"/>
          </a:lnRef>
          <a:fillRef idx="1">
            <a:schemeClr val="lt1"/>
          </a:fillRef>
          <a:effectRef idx="0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sz="1000">
              <a:latin typeface="Consolas" panose="020B0609020204030204" pitchFamily="49" charset="0"/>
            </a:endParaRPr>
          </a:p>
        </p:txBody>
      </p:sp>
      <p:sp>
        <p:nvSpPr>
          <p:cNvPr id="15" name="Rectangle 16">
            <a:extLst>
              <a:ext uri="{FF2B5EF4-FFF2-40B4-BE49-F238E27FC236}">
                <a16:creationId xmlns:a16="http://schemas.microsoft.com/office/drawing/2014/main" id="{F01523B4-689E-DC1B-7C84-FCA11104A6AF}"/>
              </a:ext>
            </a:extLst>
          </p:cNvPr>
          <p:cNvSpPr/>
          <p:nvPr/>
        </p:nvSpPr>
        <p:spPr>
          <a:xfrm>
            <a:off x="11016342" y="106136"/>
            <a:ext cx="677636" cy="166580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sz="1000">
              <a:latin typeface="Consolas" panose="020B0609020204030204" pitchFamily="49" charset="0"/>
            </a:endParaRPr>
          </a:p>
        </p:txBody>
      </p:sp>
      <p:cxnSp>
        <p:nvCxnSpPr>
          <p:cNvPr id="16" name="Straight Arrow Connector 21">
            <a:extLst>
              <a:ext uri="{FF2B5EF4-FFF2-40B4-BE49-F238E27FC236}">
                <a16:creationId xmlns:a16="http://schemas.microsoft.com/office/drawing/2014/main" id="{AFB0C134-4F4F-D37B-1E22-4FBE40DF2949}"/>
              </a:ext>
            </a:extLst>
          </p:cNvPr>
          <p:cNvCxnSpPr>
            <a:cxnSpLocks/>
          </p:cNvCxnSpPr>
          <p:nvPr/>
        </p:nvCxnSpPr>
        <p:spPr>
          <a:xfrm>
            <a:off x="11016342" y="467350"/>
            <a:ext cx="331738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Straight Connector 54">
            <a:extLst>
              <a:ext uri="{FF2B5EF4-FFF2-40B4-BE49-F238E27FC236}">
                <a16:creationId xmlns:a16="http://schemas.microsoft.com/office/drawing/2014/main" id="{77080DF0-3A44-1333-75EB-2305FB5BDA11}"/>
              </a:ext>
            </a:extLst>
          </p:cNvPr>
          <p:cNvCxnSpPr>
            <a:cxnSpLocks/>
          </p:cNvCxnSpPr>
          <p:nvPr/>
        </p:nvCxnSpPr>
        <p:spPr>
          <a:xfrm flipH="1">
            <a:off x="10582877" y="462588"/>
            <a:ext cx="289550" cy="0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61887883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1D9A78"/>
      </a:accent1>
      <a:accent2>
        <a:srgbClr val="8BC145"/>
      </a:accent2>
      <a:accent3>
        <a:srgbClr val="36AFCE"/>
      </a:accent3>
      <a:accent4>
        <a:srgbClr val="1D6FA9"/>
      </a:accent4>
      <a:accent5>
        <a:srgbClr val="B74919"/>
      </a:accent5>
      <a:accent6>
        <a:srgbClr val="F19D19"/>
      </a:accent6>
      <a:hlink>
        <a:srgbClr val="0563C1"/>
      </a:hlink>
      <a:folHlink>
        <a:srgbClr val="954F72"/>
      </a:folHlink>
    </a:clrScheme>
    <a:fontScheme name="Office Them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AE6F2518-B084-4896-AF52-66CC2144AA26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1030</TotalTime>
  <Words>6064</Words>
  <Application>Microsoft Office PowerPoint</Application>
  <PresentationFormat>寬螢幕</PresentationFormat>
  <Paragraphs>656</Paragraphs>
  <Slides>11</Slides>
  <Notes>0</Notes>
  <HiddenSlides>0</HiddenSlides>
  <MMClips>0</MMClips>
  <ScaleCrop>false</ScaleCrop>
  <HeadingPairs>
    <vt:vector size="6" baseType="variant">
      <vt:variant>
        <vt:lpstr>使用字型</vt:lpstr>
      </vt:variant>
      <vt:variant>
        <vt:i4>4</vt:i4>
      </vt:variant>
      <vt:variant>
        <vt:lpstr>佈景主題</vt:lpstr>
      </vt:variant>
      <vt:variant>
        <vt:i4>1</vt:i4>
      </vt:variant>
      <vt:variant>
        <vt:lpstr>投影片標題</vt:lpstr>
      </vt:variant>
      <vt:variant>
        <vt:i4>11</vt:i4>
      </vt:variant>
    </vt:vector>
  </HeadingPairs>
  <TitlesOfParts>
    <vt:vector size="16" baseType="lpstr">
      <vt:lpstr>Arial</vt:lpstr>
      <vt:lpstr>Calibri</vt:lpstr>
      <vt:lpstr>Calibri Light</vt:lpstr>
      <vt:lpstr>Consolas</vt:lpstr>
      <vt:lpstr>Office Theme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</vt:vector>
  </TitlesOfParts>
  <Company>Clemson University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ChunChih Lin</dc:creator>
  <cp:lastModifiedBy>ChunChih Lin</cp:lastModifiedBy>
  <cp:revision>333</cp:revision>
  <dcterms:created xsi:type="dcterms:W3CDTF">2022-09-07T18:05:45Z</dcterms:created>
  <dcterms:modified xsi:type="dcterms:W3CDTF">2023-02-15T18:29:07Z</dcterms:modified>
</cp:coreProperties>
</file>